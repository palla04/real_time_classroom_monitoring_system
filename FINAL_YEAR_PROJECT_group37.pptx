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99C495-8BA6-4104-B39E-A2191E5E5005}" type="datetimeFigureOut">
              <a:rPr lang="en-IN" smtClean="0"/>
              <a:t>24-11-2025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2A92EF-AFBD-45A6-A6FD-1ECEAAC6A3C0}" type="slidenum">
              <a:rPr lang="en-IN" smtClean="0"/>
              <a:t>‹#›</a:t>
            </a:fld>
            <a:endParaRPr lang="en-IN"/>
          </a:p>
        </p:txBody>
      </p:sp>
    </p:spTree>
    <p:extLst>
      <p:ext uri="{BB962C8B-B14F-4D97-AF65-F5344CB8AC3E}">
        <p14:creationId xmlns:p14="http://schemas.microsoft.com/office/powerpoint/2010/main" val="1857366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52A92EF-AFBD-45A6-A6FD-1ECEAAC6A3C0}" type="slidenum">
              <a:rPr lang="en-IN" smtClean="0"/>
              <a:t>2</a:t>
            </a:fld>
            <a:endParaRPr lang="en-IN"/>
          </a:p>
        </p:txBody>
      </p:sp>
    </p:spTree>
    <p:extLst>
      <p:ext uri="{BB962C8B-B14F-4D97-AF65-F5344CB8AC3E}">
        <p14:creationId xmlns:p14="http://schemas.microsoft.com/office/powerpoint/2010/main" val="2160777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B52A92EF-AFBD-45A6-A6FD-1ECEAAC6A3C0}" type="slidenum">
              <a:rPr lang="en-IN" smtClean="0"/>
              <a:t>12</a:t>
            </a:fld>
            <a:endParaRPr lang="en-IN"/>
          </a:p>
        </p:txBody>
      </p:sp>
    </p:spTree>
    <p:extLst>
      <p:ext uri="{BB962C8B-B14F-4D97-AF65-F5344CB8AC3E}">
        <p14:creationId xmlns:p14="http://schemas.microsoft.com/office/powerpoint/2010/main" val="3727730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0E73756-57A9-4A97-9EB1-EC578467A3C8}" type="datetimeFigureOut">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0E73756-57A9-4A97-9EB1-EC578467A3C8}" type="datetimeFigureOut">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E73756-57A9-4A97-9EB1-EC578467A3C8}" type="datetimeFigureOut">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0E73756-57A9-4A97-9EB1-EC578467A3C8}" type="datetimeFigureOut">
              <a:rPr lang="en-IN" smtClean="0"/>
              <a:t>24-11-2025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0E73756-57A9-4A97-9EB1-EC578467A3C8}" type="datetimeFigureOut">
              <a:rPr lang="en-IN" smtClean="0"/>
              <a:t>24-11-2025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0E73756-57A9-4A97-9EB1-EC578467A3C8}" type="datetimeFigureOut">
              <a:rPr lang="en-IN" smtClean="0"/>
              <a:t>24-11-2025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E73756-57A9-4A97-9EB1-EC578467A3C8}" type="datetimeFigureOut">
              <a:rPr lang="en-IN" smtClean="0"/>
              <a:t>24-11-2025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E73756-57A9-4A97-9EB1-EC578467A3C8}" type="datetimeFigureOut">
              <a:rPr lang="en-IN" smtClean="0"/>
              <a:t>24-11-2025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E73756-57A9-4A97-9EB1-EC578467A3C8}" type="datetimeFigureOut">
              <a:rPr lang="en-IN" smtClean="0"/>
              <a:t>24-11-2025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0E73756-57A9-4A97-9EB1-EC578467A3C8}" type="datetimeFigureOut">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0E73756-57A9-4A97-9EB1-EC578467A3C8}" type="datetimeFigureOut">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E73756-57A9-4A97-9EB1-EC578467A3C8}" type="datetimeFigureOut">
              <a:rPr lang="en-IN" smtClean="0"/>
              <a:t>24-11-2025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79D6E2-D1DE-45C4-A931-2444BDBFDD4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kaggle.com/datasets/jonathanoheix/face-expression-recognition-dataset"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26666" y="902748"/>
            <a:ext cx="8943035" cy="1510460"/>
          </a:xfrm>
          <a:ln>
            <a:noFill/>
          </a:ln>
          <a:effectLst/>
        </p:spPr>
        <p:txBody>
          <a:bodyPr>
            <a:noAutofit/>
          </a:bodyPr>
          <a:lstStyle/>
          <a:p>
            <a:r>
              <a:rPr lang="en-US" sz="3500" b="1" dirty="0">
                <a:latin typeface="Arial"/>
                <a:ea typeface="Batang"/>
                <a:cs typeface="Arial"/>
              </a:rPr>
              <a:t>Real-Time Classroom Monitoring System</a:t>
            </a:r>
            <a:br>
              <a:rPr lang="en-US" sz="3500" b="1" dirty="0">
                <a:latin typeface="Arial"/>
                <a:ea typeface="Batang" panose="020B0503020000020004" pitchFamily="18" charset="-127"/>
              </a:rPr>
            </a:br>
            <a:r>
              <a:rPr lang="en-US" sz="3500" b="1" dirty="0">
                <a:latin typeface="Arial"/>
                <a:ea typeface="Batang"/>
                <a:cs typeface="Arial"/>
              </a:rPr>
              <a:t> For Student Performance Using Machine Learning</a:t>
            </a:r>
            <a:endParaRPr lang="en-IN" sz="3500" b="1" dirty="0">
              <a:latin typeface="Arial"/>
              <a:ea typeface="Batang"/>
              <a:cs typeface="Arial"/>
            </a:endParaRPr>
          </a:p>
        </p:txBody>
      </p:sp>
      <p:sp>
        <p:nvSpPr>
          <p:cNvPr id="3" name="Subtitle 2"/>
          <p:cNvSpPr>
            <a:spLocks noGrp="1"/>
          </p:cNvSpPr>
          <p:nvPr>
            <p:ph type="subTitle" idx="1"/>
          </p:nvPr>
        </p:nvSpPr>
        <p:spPr>
          <a:xfrm>
            <a:off x="594528" y="2733153"/>
            <a:ext cx="11002944" cy="3667648"/>
          </a:xfrm>
          <a:solidFill>
            <a:schemeClr val="bg1"/>
          </a:solidFill>
          <a:ln>
            <a:solidFill>
              <a:schemeClr val="bg1"/>
            </a:solidFill>
            <a:extLst>
              <a:ext uri="{C807C97D-BFC1-408E-A445-0C87EB9F89A2}">
                <ask:lineSketchStyleProps xmlns:ask="http://schemas.microsoft.com/office/drawing/2018/sketchyshapes" sd="118825804">
                  <a:custGeom>
                    <a:avLst/>
                    <a:gdLst>
                      <a:gd name="connsiteX0" fmla="*/ 0 w 11002944"/>
                      <a:gd name="connsiteY0" fmla="*/ 0 h 3667648"/>
                      <a:gd name="connsiteX1" fmla="*/ 799161 w 11002944"/>
                      <a:gd name="connsiteY1" fmla="*/ 0 h 3667648"/>
                      <a:gd name="connsiteX2" fmla="*/ 1158205 w 11002944"/>
                      <a:gd name="connsiteY2" fmla="*/ 0 h 3667648"/>
                      <a:gd name="connsiteX3" fmla="*/ 1737307 w 11002944"/>
                      <a:gd name="connsiteY3" fmla="*/ 0 h 3667648"/>
                      <a:gd name="connsiteX4" fmla="*/ 2536468 w 11002944"/>
                      <a:gd name="connsiteY4" fmla="*/ 0 h 3667648"/>
                      <a:gd name="connsiteX5" fmla="*/ 3115570 w 11002944"/>
                      <a:gd name="connsiteY5" fmla="*/ 0 h 3667648"/>
                      <a:gd name="connsiteX6" fmla="*/ 3804702 w 11002944"/>
                      <a:gd name="connsiteY6" fmla="*/ 0 h 3667648"/>
                      <a:gd name="connsiteX7" fmla="*/ 4053716 w 11002944"/>
                      <a:gd name="connsiteY7" fmla="*/ 0 h 3667648"/>
                      <a:gd name="connsiteX8" fmla="*/ 4412760 w 11002944"/>
                      <a:gd name="connsiteY8" fmla="*/ 0 h 3667648"/>
                      <a:gd name="connsiteX9" fmla="*/ 5101891 w 11002944"/>
                      <a:gd name="connsiteY9" fmla="*/ 0 h 3667648"/>
                      <a:gd name="connsiteX10" fmla="*/ 5460935 w 11002944"/>
                      <a:gd name="connsiteY10" fmla="*/ 0 h 3667648"/>
                      <a:gd name="connsiteX11" fmla="*/ 6260096 w 11002944"/>
                      <a:gd name="connsiteY11" fmla="*/ 0 h 3667648"/>
                      <a:gd name="connsiteX12" fmla="*/ 7059257 w 11002944"/>
                      <a:gd name="connsiteY12" fmla="*/ 0 h 3667648"/>
                      <a:gd name="connsiteX13" fmla="*/ 7308271 w 11002944"/>
                      <a:gd name="connsiteY13" fmla="*/ 0 h 3667648"/>
                      <a:gd name="connsiteX14" fmla="*/ 7997403 w 11002944"/>
                      <a:gd name="connsiteY14" fmla="*/ 0 h 3667648"/>
                      <a:gd name="connsiteX15" fmla="*/ 8466476 w 11002944"/>
                      <a:gd name="connsiteY15" fmla="*/ 0 h 3667648"/>
                      <a:gd name="connsiteX16" fmla="*/ 8935549 w 11002944"/>
                      <a:gd name="connsiteY16" fmla="*/ 0 h 3667648"/>
                      <a:gd name="connsiteX17" fmla="*/ 9404622 w 11002944"/>
                      <a:gd name="connsiteY17" fmla="*/ 0 h 3667648"/>
                      <a:gd name="connsiteX18" fmla="*/ 10093753 w 11002944"/>
                      <a:gd name="connsiteY18" fmla="*/ 0 h 3667648"/>
                      <a:gd name="connsiteX19" fmla="*/ 10342767 w 11002944"/>
                      <a:gd name="connsiteY19" fmla="*/ 0 h 3667648"/>
                      <a:gd name="connsiteX20" fmla="*/ 11002944 w 11002944"/>
                      <a:gd name="connsiteY20" fmla="*/ 0 h 3667648"/>
                      <a:gd name="connsiteX21" fmla="*/ 11002944 w 11002944"/>
                      <a:gd name="connsiteY21" fmla="*/ 450597 h 3667648"/>
                      <a:gd name="connsiteX22" fmla="*/ 11002944 w 11002944"/>
                      <a:gd name="connsiteY22" fmla="*/ 1011223 h 3667648"/>
                      <a:gd name="connsiteX23" fmla="*/ 11002944 w 11002944"/>
                      <a:gd name="connsiteY23" fmla="*/ 1535173 h 3667648"/>
                      <a:gd name="connsiteX24" fmla="*/ 11002944 w 11002944"/>
                      <a:gd name="connsiteY24" fmla="*/ 2059122 h 3667648"/>
                      <a:gd name="connsiteX25" fmla="*/ 11002944 w 11002944"/>
                      <a:gd name="connsiteY25" fmla="*/ 2509719 h 3667648"/>
                      <a:gd name="connsiteX26" fmla="*/ 11002944 w 11002944"/>
                      <a:gd name="connsiteY26" fmla="*/ 3070345 h 3667648"/>
                      <a:gd name="connsiteX27" fmla="*/ 11002944 w 11002944"/>
                      <a:gd name="connsiteY27" fmla="*/ 3667648 h 3667648"/>
                      <a:gd name="connsiteX28" fmla="*/ 10643901 w 11002944"/>
                      <a:gd name="connsiteY28" fmla="*/ 3667648 h 3667648"/>
                      <a:gd name="connsiteX29" fmla="*/ 10394887 w 11002944"/>
                      <a:gd name="connsiteY29" fmla="*/ 3667648 h 3667648"/>
                      <a:gd name="connsiteX30" fmla="*/ 9815784 w 11002944"/>
                      <a:gd name="connsiteY30" fmla="*/ 3667648 h 3667648"/>
                      <a:gd name="connsiteX31" fmla="*/ 9566770 w 11002944"/>
                      <a:gd name="connsiteY31" fmla="*/ 3667648 h 3667648"/>
                      <a:gd name="connsiteX32" fmla="*/ 8767609 w 11002944"/>
                      <a:gd name="connsiteY32" fmla="*/ 3667648 h 3667648"/>
                      <a:gd name="connsiteX33" fmla="*/ 8078477 w 11002944"/>
                      <a:gd name="connsiteY33" fmla="*/ 3667648 h 3667648"/>
                      <a:gd name="connsiteX34" fmla="*/ 7609404 w 11002944"/>
                      <a:gd name="connsiteY34" fmla="*/ 3667648 h 3667648"/>
                      <a:gd name="connsiteX35" fmla="*/ 7360390 w 11002944"/>
                      <a:gd name="connsiteY35" fmla="*/ 3667648 h 3667648"/>
                      <a:gd name="connsiteX36" fmla="*/ 6781288 w 11002944"/>
                      <a:gd name="connsiteY36" fmla="*/ 3667648 h 3667648"/>
                      <a:gd name="connsiteX37" fmla="*/ 6312215 w 11002944"/>
                      <a:gd name="connsiteY37" fmla="*/ 3667648 h 3667648"/>
                      <a:gd name="connsiteX38" fmla="*/ 5843142 w 11002944"/>
                      <a:gd name="connsiteY38" fmla="*/ 3667648 h 3667648"/>
                      <a:gd name="connsiteX39" fmla="*/ 5594128 w 11002944"/>
                      <a:gd name="connsiteY39" fmla="*/ 3667648 h 3667648"/>
                      <a:gd name="connsiteX40" fmla="*/ 5125055 w 11002944"/>
                      <a:gd name="connsiteY40" fmla="*/ 3667648 h 3667648"/>
                      <a:gd name="connsiteX41" fmla="*/ 4435924 w 11002944"/>
                      <a:gd name="connsiteY41" fmla="*/ 3667648 h 3667648"/>
                      <a:gd name="connsiteX42" fmla="*/ 4076880 w 11002944"/>
                      <a:gd name="connsiteY42" fmla="*/ 3667648 h 3667648"/>
                      <a:gd name="connsiteX43" fmla="*/ 3497778 w 11002944"/>
                      <a:gd name="connsiteY43" fmla="*/ 3667648 h 3667648"/>
                      <a:gd name="connsiteX44" fmla="*/ 3028705 w 11002944"/>
                      <a:gd name="connsiteY44" fmla="*/ 3667648 h 3667648"/>
                      <a:gd name="connsiteX45" fmla="*/ 2339573 w 11002944"/>
                      <a:gd name="connsiteY45" fmla="*/ 3667648 h 3667648"/>
                      <a:gd name="connsiteX46" fmla="*/ 1980530 w 11002944"/>
                      <a:gd name="connsiteY46" fmla="*/ 3667648 h 3667648"/>
                      <a:gd name="connsiteX47" fmla="*/ 1621486 w 11002944"/>
                      <a:gd name="connsiteY47" fmla="*/ 3667648 h 3667648"/>
                      <a:gd name="connsiteX48" fmla="*/ 822325 w 11002944"/>
                      <a:gd name="connsiteY48" fmla="*/ 3667648 h 3667648"/>
                      <a:gd name="connsiteX49" fmla="*/ 0 w 11002944"/>
                      <a:gd name="connsiteY49" fmla="*/ 3667648 h 3667648"/>
                      <a:gd name="connsiteX50" fmla="*/ 0 w 11002944"/>
                      <a:gd name="connsiteY50" fmla="*/ 3217051 h 3667648"/>
                      <a:gd name="connsiteX51" fmla="*/ 0 w 11002944"/>
                      <a:gd name="connsiteY51" fmla="*/ 2803131 h 3667648"/>
                      <a:gd name="connsiteX52" fmla="*/ 0 w 11002944"/>
                      <a:gd name="connsiteY52" fmla="*/ 2205828 h 3667648"/>
                      <a:gd name="connsiteX53" fmla="*/ 0 w 11002944"/>
                      <a:gd name="connsiteY53" fmla="*/ 1608526 h 3667648"/>
                      <a:gd name="connsiteX54" fmla="*/ 0 w 11002944"/>
                      <a:gd name="connsiteY54" fmla="*/ 1084576 h 3667648"/>
                      <a:gd name="connsiteX55" fmla="*/ 0 w 11002944"/>
                      <a:gd name="connsiteY55" fmla="*/ 487273 h 3667648"/>
                      <a:gd name="connsiteX56" fmla="*/ 0 w 11002944"/>
                      <a:gd name="connsiteY56" fmla="*/ 0 h 3667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1002944" h="3667648" fill="none" extrusionOk="0">
                        <a:moveTo>
                          <a:pt x="0" y="0"/>
                        </a:moveTo>
                        <a:cubicBezTo>
                          <a:pt x="187004" y="-57719"/>
                          <a:pt x="557337" y="94423"/>
                          <a:pt x="799161" y="0"/>
                        </a:cubicBezTo>
                        <a:cubicBezTo>
                          <a:pt x="1040985" y="-94423"/>
                          <a:pt x="1047568" y="13956"/>
                          <a:pt x="1158205" y="0"/>
                        </a:cubicBezTo>
                        <a:cubicBezTo>
                          <a:pt x="1268842" y="-13956"/>
                          <a:pt x="1608156" y="24673"/>
                          <a:pt x="1737307" y="0"/>
                        </a:cubicBezTo>
                        <a:cubicBezTo>
                          <a:pt x="1866458" y="-24673"/>
                          <a:pt x="2255429" y="26848"/>
                          <a:pt x="2536468" y="0"/>
                        </a:cubicBezTo>
                        <a:cubicBezTo>
                          <a:pt x="2817507" y="-26848"/>
                          <a:pt x="2937782" y="6943"/>
                          <a:pt x="3115570" y="0"/>
                        </a:cubicBezTo>
                        <a:cubicBezTo>
                          <a:pt x="3293358" y="-6943"/>
                          <a:pt x="3642829" y="41425"/>
                          <a:pt x="3804702" y="0"/>
                        </a:cubicBezTo>
                        <a:cubicBezTo>
                          <a:pt x="3966575" y="-41425"/>
                          <a:pt x="3975121" y="7445"/>
                          <a:pt x="4053716" y="0"/>
                        </a:cubicBezTo>
                        <a:cubicBezTo>
                          <a:pt x="4132311" y="-7445"/>
                          <a:pt x="4337037" y="22955"/>
                          <a:pt x="4412760" y="0"/>
                        </a:cubicBezTo>
                        <a:cubicBezTo>
                          <a:pt x="4488483" y="-22955"/>
                          <a:pt x="4780925" y="76439"/>
                          <a:pt x="5101891" y="0"/>
                        </a:cubicBezTo>
                        <a:cubicBezTo>
                          <a:pt x="5422857" y="-76439"/>
                          <a:pt x="5331444" y="29085"/>
                          <a:pt x="5460935" y="0"/>
                        </a:cubicBezTo>
                        <a:cubicBezTo>
                          <a:pt x="5590426" y="-29085"/>
                          <a:pt x="5967355" y="36789"/>
                          <a:pt x="6260096" y="0"/>
                        </a:cubicBezTo>
                        <a:cubicBezTo>
                          <a:pt x="6552837" y="-36789"/>
                          <a:pt x="6811566" y="25407"/>
                          <a:pt x="7059257" y="0"/>
                        </a:cubicBezTo>
                        <a:cubicBezTo>
                          <a:pt x="7306948" y="-25407"/>
                          <a:pt x="7230492" y="17906"/>
                          <a:pt x="7308271" y="0"/>
                        </a:cubicBezTo>
                        <a:cubicBezTo>
                          <a:pt x="7386050" y="-17906"/>
                          <a:pt x="7714023" y="2661"/>
                          <a:pt x="7997403" y="0"/>
                        </a:cubicBezTo>
                        <a:cubicBezTo>
                          <a:pt x="8280783" y="-2661"/>
                          <a:pt x="8322614" y="10382"/>
                          <a:pt x="8466476" y="0"/>
                        </a:cubicBezTo>
                        <a:cubicBezTo>
                          <a:pt x="8610338" y="-10382"/>
                          <a:pt x="8808104" y="50397"/>
                          <a:pt x="8935549" y="0"/>
                        </a:cubicBezTo>
                        <a:cubicBezTo>
                          <a:pt x="9062994" y="-50397"/>
                          <a:pt x="9272406" y="46398"/>
                          <a:pt x="9404622" y="0"/>
                        </a:cubicBezTo>
                        <a:cubicBezTo>
                          <a:pt x="9536838" y="-46398"/>
                          <a:pt x="9930689" y="14672"/>
                          <a:pt x="10093753" y="0"/>
                        </a:cubicBezTo>
                        <a:cubicBezTo>
                          <a:pt x="10256817" y="-14672"/>
                          <a:pt x="10226636" y="19088"/>
                          <a:pt x="10342767" y="0"/>
                        </a:cubicBezTo>
                        <a:cubicBezTo>
                          <a:pt x="10458898" y="-19088"/>
                          <a:pt x="10740067" y="75787"/>
                          <a:pt x="11002944" y="0"/>
                        </a:cubicBezTo>
                        <a:cubicBezTo>
                          <a:pt x="11024396" y="206352"/>
                          <a:pt x="10953373" y="318222"/>
                          <a:pt x="11002944" y="450597"/>
                        </a:cubicBezTo>
                        <a:cubicBezTo>
                          <a:pt x="11052515" y="582972"/>
                          <a:pt x="10938980" y="804828"/>
                          <a:pt x="11002944" y="1011223"/>
                        </a:cubicBezTo>
                        <a:cubicBezTo>
                          <a:pt x="11066908" y="1217618"/>
                          <a:pt x="10983680" y="1372538"/>
                          <a:pt x="11002944" y="1535173"/>
                        </a:cubicBezTo>
                        <a:cubicBezTo>
                          <a:pt x="11022208" y="1697808"/>
                          <a:pt x="10955616" y="1838018"/>
                          <a:pt x="11002944" y="2059122"/>
                        </a:cubicBezTo>
                        <a:cubicBezTo>
                          <a:pt x="11050272" y="2280226"/>
                          <a:pt x="10951157" y="2329690"/>
                          <a:pt x="11002944" y="2509719"/>
                        </a:cubicBezTo>
                        <a:cubicBezTo>
                          <a:pt x="11054731" y="2689748"/>
                          <a:pt x="10984960" y="2790594"/>
                          <a:pt x="11002944" y="3070345"/>
                        </a:cubicBezTo>
                        <a:cubicBezTo>
                          <a:pt x="11020928" y="3350096"/>
                          <a:pt x="10959580" y="3398170"/>
                          <a:pt x="11002944" y="3667648"/>
                        </a:cubicBezTo>
                        <a:cubicBezTo>
                          <a:pt x="10856431" y="3696380"/>
                          <a:pt x="10798000" y="3628392"/>
                          <a:pt x="10643901" y="3667648"/>
                        </a:cubicBezTo>
                        <a:cubicBezTo>
                          <a:pt x="10489802" y="3706904"/>
                          <a:pt x="10501296" y="3659871"/>
                          <a:pt x="10394887" y="3667648"/>
                        </a:cubicBezTo>
                        <a:cubicBezTo>
                          <a:pt x="10288478" y="3675425"/>
                          <a:pt x="10046625" y="3651881"/>
                          <a:pt x="9815784" y="3667648"/>
                        </a:cubicBezTo>
                        <a:cubicBezTo>
                          <a:pt x="9584943" y="3683415"/>
                          <a:pt x="9653387" y="3653656"/>
                          <a:pt x="9566770" y="3667648"/>
                        </a:cubicBezTo>
                        <a:cubicBezTo>
                          <a:pt x="9480153" y="3681640"/>
                          <a:pt x="9141598" y="3590094"/>
                          <a:pt x="8767609" y="3667648"/>
                        </a:cubicBezTo>
                        <a:cubicBezTo>
                          <a:pt x="8393620" y="3745202"/>
                          <a:pt x="8234929" y="3589991"/>
                          <a:pt x="8078477" y="3667648"/>
                        </a:cubicBezTo>
                        <a:cubicBezTo>
                          <a:pt x="7922025" y="3745305"/>
                          <a:pt x="7783569" y="3622213"/>
                          <a:pt x="7609404" y="3667648"/>
                        </a:cubicBezTo>
                        <a:cubicBezTo>
                          <a:pt x="7435239" y="3713083"/>
                          <a:pt x="7478403" y="3667053"/>
                          <a:pt x="7360390" y="3667648"/>
                        </a:cubicBezTo>
                        <a:cubicBezTo>
                          <a:pt x="7242377" y="3668243"/>
                          <a:pt x="6957406" y="3656688"/>
                          <a:pt x="6781288" y="3667648"/>
                        </a:cubicBezTo>
                        <a:cubicBezTo>
                          <a:pt x="6605170" y="3678608"/>
                          <a:pt x="6477373" y="3621971"/>
                          <a:pt x="6312215" y="3667648"/>
                        </a:cubicBezTo>
                        <a:cubicBezTo>
                          <a:pt x="6147057" y="3713325"/>
                          <a:pt x="5990527" y="3660962"/>
                          <a:pt x="5843142" y="3667648"/>
                        </a:cubicBezTo>
                        <a:cubicBezTo>
                          <a:pt x="5695757" y="3674334"/>
                          <a:pt x="5670858" y="3643831"/>
                          <a:pt x="5594128" y="3667648"/>
                        </a:cubicBezTo>
                        <a:cubicBezTo>
                          <a:pt x="5517398" y="3691465"/>
                          <a:pt x="5270898" y="3658915"/>
                          <a:pt x="5125055" y="3667648"/>
                        </a:cubicBezTo>
                        <a:cubicBezTo>
                          <a:pt x="4979212" y="3676381"/>
                          <a:pt x="4762396" y="3600791"/>
                          <a:pt x="4435924" y="3667648"/>
                        </a:cubicBezTo>
                        <a:cubicBezTo>
                          <a:pt x="4109452" y="3734505"/>
                          <a:pt x="4226153" y="3637933"/>
                          <a:pt x="4076880" y="3667648"/>
                        </a:cubicBezTo>
                        <a:cubicBezTo>
                          <a:pt x="3927607" y="3697363"/>
                          <a:pt x="3744342" y="3611874"/>
                          <a:pt x="3497778" y="3667648"/>
                        </a:cubicBezTo>
                        <a:cubicBezTo>
                          <a:pt x="3251214" y="3723422"/>
                          <a:pt x="3204314" y="3642311"/>
                          <a:pt x="3028705" y="3667648"/>
                        </a:cubicBezTo>
                        <a:cubicBezTo>
                          <a:pt x="2853096" y="3692985"/>
                          <a:pt x="2525907" y="3600907"/>
                          <a:pt x="2339573" y="3667648"/>
                        </a:cubicBezTo>
                        <a:cubicBezTo>
                          <a:pt x="2153239" y="3734389"/>
                          <a:pt x="2092642" y="3631134"/>
                          <a:pt x="1980530" y="3667648"/>
                        </a:cubicBezTo>
                        <a:cubicBezTo>
                          <a:pt x="1868418" y="3704162"/>
                          <a:pt x="1704921" y="3656446"/>
                          <a:pt x="1621486" y="3667648"/>
                        </a:cubicBezTo>
                        <a:cubicBezTo>
                          <a:pt x="1538051" y="3678850"/>
                          <a:pt x="1084460" y="3609832"/>
                          <a:pt x="822325" y="3667648"/>
                        </a:cubicBezTo>
                        <a:cubicBezTo>
                          <a:pt x="560190" y="3725464"/>
                          <a:pt x="265085" y="3585030"/>
                          <a:pt x="0" y="3667648"/>
                        </a:cubicBezTo>
                        <a:cubicBezTo>
                          <a:pt x="-38821" y="3518124"/>
                          <a:pt x="40155" y="3369888"/>
                          <a:pt x="0" y="3217051"/>
                        </a:cubicBezTo>
                        <a:cubicBezTo>
                          <a:pt x="-40155" y="3064214"/>
                          <a:pt x="1212" y="2969544"/>
                          <a:pt x="0" y="2803131"/>
                        </a:cubicBezTo>
                        <a:cubicBezTo>
                          <a:pt x="-1212" y="2636718"/>
                          <a:pt x="4159" y="2361368"/>
                          <a:pt x="0" y="2205828"/>
                        </a:cubicBezTo>
                        <a:cubicBezTo>
                          <a:pt x="-4159" y="2050288"/>
                          <a:pt x="70872" y="1765427"/>
                          <a:pt x="0" y="1608526"/>
                        </a:cubicBezTo>
                        <a:cubicBezTo>
                          <a:pt x="-70872" y="1451625"/>
                          <a:pt x="3481" y="1315804"/>
                          <a:pt x="0" y="1084576"/>
                        </a:cubicBezTo>
                        <a:cubicBezTo>
                          <a:pt x="-3481" y="853348"/>
                          <a:pt x="37418" y="686091"/>
                          <a:pt x="0" y="487273"/>
                        </a:cubicBezTo>
                        <a:cubicBezTo>
                          <a:pt x="-37418" y="288455"/>
                          <a:pt x="46648" y="203929"/>
                          <a:pt x="0" y="0"/>
                        </a:cubicBezTo>
                        <a:close/>
                      </a:path>
                      <a:path w="11002944" h="3667648" stroke="0" extrusionOk="0">
                        <a:moveTo>
                          <a:pt x="0" y="0"/>
                        </a:moveTo>
                        <a:cubicBezTo>
                          <a:pt x="137737" y="-39544"/>
                          <a:pt x="262600" y="39293"/>
                          <a:pt x="469073" y="0"/>
                        </a:cubicBezTo>
                        <a:cubicBezTo>
                          <a:pt x="675546" y="-39293"/>
                          <a:pt x="732894" y="28742"/>
                          <a:pt x="828116" y="0"/>
                        </a:cubicBezTo>
                        <a:cubicBezTo>
                          <a:pt x="923338" y="-28742"/>
                          <a:pt x="1263799" y="26034"/>
                          <a:pt x="1407219" y="0"/>
                        </a:cubicBezTo>
                        <a:cubicBezTo>
                          <a:pt x="1550639" y="-26034"/>
                          <a:pt x="1625109" y="32449"/>
                          <a:pt x="1766262" y="0"/>
                        </a:cubicBezTo>
                        <a:cubicBezTo>
                          <a:pt x="1907415" y="-32449"/>
                          <a:pt x="2100652" y="45280"/>
                          <a:pt x="2345364" y="0"/>
                        </a:cubicBezTo>
                        <a:cubicBezTo>
                          <a:pt x="2590076" y="-45280"/>
                          <a:pt x="2882732" y="2114"/>
                          <a:pt x="3144526" y="0"/>
                        </a:cubicBezTo>
                        <a:cubicBezTo>
                          <a:pt x="3406320" y="-2114"/>
                          <a:pt x="3344191" y="11519"/>
                          <a:pt x="3503569" y="0"/>
                        </a:cubicBezTo>
                        <a:cubicBezTo>
                          <a:pt x="3662947" y="-11519"/>
                          <a:pt x="3863510" y="11694"/>
                          <a:pt x="4192701" y="0"/>
                        </a:cubicBezTo>
                        <a:cubicBezTo>
                          <a:pt x="4521892" y="-11694"/>
                          <a:pt x="4608200" y="53366"/>
                          <a:pt x="4991862" y="0"/>
                        </a:cubicBezTo>
                        <a:cubicBezTo>
                          <a:pt x="5375524" y="-53366"/>
                          <a:pt x="5473355" y="1539"/>
                          <a:pt x="5791023" y="0"/>
                        </a:cubicBezTo>
                        <a:cubicBezTo>
                          <a:pt x="6108691" y="-1539"/>
                          <a:pt x="6339971" y="47824"/>
                          <a:pt x="6590184" y="0"/>
                        </a:cubicBezTo>
                        <a:cubicBezTo>
                          <a:pt x="6840397" y="-47824"/>
                          <a:pt x="7100352" y="62116"/>
                          <a:pt x="7389346" y="0"/>
                        </a:cubicBezTo>
                        <a:cubicBezTo>
                          <a:pt x="7678340" y="-62116"/>
                          <a:pt x="7604220" y="23463"/>
                          <a:pt x="7748389" y="0"/>
                        </a:cubicBezTo>
                        <a:cubicBezTo>
                          <a:pt x="7892558" y="-23463"/>
                          <a:pt x="7919532" y="661"/>
                          <a:pt x="7997403" y="0"/>
                        </a:cubicBezTo>
                        <a:cubicBezTo>
                          <a:pt x="8075274" y="-661"/>
                          <a:pt x="8326604" y="16529"/>
                          <a:pt x="8466476" y="0"/>
                        </a:cubicBezTo>
                        <a:cubicBezTo>
                          <a:pt x="8606348" y="-16529"/>
                          <a:pt x="8623965" y="6903"/>
                          <a:pt x="8715490" y="0"/>
                        </a:cubicBezTo>
                        <a:cubicBezTo>
                          <a:pt x="8807015" y="-6903"/>
                          <a:pt x="9151148" y="72590"/>
                          <a:pt x="9404622" y="0"/>
                        </a:cubicBezTo>
                        <a:cubicBezTo>
                          <a:pt x="9658096" y="-72590"/>
                          <a:pt x="9894941" y="80511"/>
                          <a:pt x="10203783" y="0"/>
                        </a:cubicBezTo>
                        <a:cubicBezTo>
                          <a:pt x="10512625" y="-80511"/>
                          <a:pt x="10818248" y="29219"/>
                          <a:pt x="11002944" y="0"/>
                        </a:cubicBezTo>
                        <a:cubicBezTo>
                          <a:pt x="11047886" y="175352"/>
                          <a:pt x="10944635" y="288714"/>
                          <a:pt x="11002944" y="487273"/>
                        </a:cubicBezTo>
                        <a:cubicBezTo>
                          <a:pt x="11061253" y="685832"/>
                          <a:pt x="10997437" y="724161"/>
                          <a:pt x="11002944" y="937870"/>
                        </a:cubicBezTo>
                        <a:cubicBezTo>
                          <a:pt x="11008451" y="1151579"/>
                          <a:pt x="10977114" y="1243674"/>
                          <a:pt x="11002944" y="1461820"/>
                        </a:cubicBezTo>
                        <a:cubicBezTo>
                          <a:pt x="11028774" y="1679966"/>
                          <a:pt x="10969495" y="1716267"/>
                          <a:pt x="11002944" y="1875740"/>
                        </a:cubicBezTo>
                        <a:cubicBezTo>
                          <a:pt x="11036393" y="2035213"/>
                          <a:pt x="10978040" y="2096991"/>
                          <a:pt x="11002944" y="2289660"/>
                        </a:cubicBezTo>
                        <a:cubicBezTo>
                          <a:pt x="11027848" y="2482329"/>
                          <a:pt x="10957353" y="2705014"/>
                          <a:pt x="11002944" y="2813610"/>
                        </a:cubicBezTo>
                        <a:cubicBezTo>
                          <a:pt x="11048535" y="2922206"/>
                          <a:pt x="10943662" y="3252613"/>
                          <a:pt x="11002944" y="3667648"/>
                        </a:cubicBezTo>
                        <a:cubicBezTo>
                          <a:pt x="10839282" y="3727757"/>
                          <a:pt x="10581721" y="3601896"/>
                          <a:pt x="10423842" y="3667648"/>
                        </a:cubicBezTo>
                        <a:cubicBezTo>
                          <a:pt x="10265963" y="3733400"/>
                          <a:pt x="10143664" y="3653817"/>
                          <a:pt x="9954769" y="3667648"/>
                        </a:cubicBezTo>
                        <a:cubicBezTo>
                          <a:pt x="9765874" y="3681479"/>
                          <a:pt x="9580478" y="3627677"/>
                          <a:pt x="9485696" y="3667648"/>
                        </a:cubicBezTo>
                        <a:cubicBezTo>
                          <a:pt x="9390914" y="3707619"/>
                          <a:pt x="9142102" y="3620813"/>
                          <a:pt x="9016623" y="3667648"/>
                        </a:cubicBezTo>
                        <a:cubicBezTo>
                          <a:pt x="8891144" y="3714483"/>
                          <a:pt x="8567295" y="3640223"/>
                          <a:pt x="8437521" y="3667648"/>
                        </a:cubicBezTo>
                        <a:cubicBezTo>
                          <a:pt x="8307747" y="3695073"/>
                          <a:pt x="8266321" y="3658662"/>
                          <a:pt x="8188507" y="3667648"/>
                        </a:cubicBezTo>
                        <a:cubicBezTo>
                          <a:pt x="8110693" y="3676634"/>
                          <a:pt x="7880241" y="3643552"/>
                          <a:pt x="7719434" y="3667648"/>
                        </a:cubicBezTo>
                        <a:cubicBezTo>
                          <a:pt x="7558627" y="3691744"/>
                          <a:pt x="7456152" y="3644538"/>
                          <a:pt x="7360390" y="3667648"/>
                        </a:cubicBezTo>
                        <a:cubicBezTo>
                          <a:pt x="7264628" y="3690758"/>
                          <a:pt x="7022817" y="3665896"/>
                          <a:pt x="6891318" y="3667648"/>
                        </a:cubicBezTo>
                        <a:cubicBezTo>
                          <a:pt x="6759819" y="3669400"/>
                          <a:pt x="6693223" y="3646646"/>
                          <a:pt x="6642304" y="3667648"/>
                        </a:cubicBezTo>
                        <a:cubicBezTo>
                          <a:pt x="6591385" y="3688650"/>
                          <a:pt x="6123158" y="3645350"/>
                          <a:pt x="5953172" y="3667648"/>
                        </a:cubicBezTo>
                        <a:cubicBezTo>
                          <a:pt x="5783186" y="3689946"/>
                          <a:pt x="5762271" y="3651645"/>
                          <a:pt x="5704158" y="3667648"/>
                        </a:cubicBezTo>
                        <a:cubicBezTo>
                          <a:pt x="5646045" y="3683651"/>
                          <a:pt x="5375922" y="3653756"/>
                          <a:pt x="5125055" y="3667648"/>
                        </a:cubicBezTo>
                        <a:cubicBezTo>
                          <a:pt x="4874188" y="3681540"/>
                          <a:pt x="4821576" y="3641752"/>
                          <a:pt x="4545953" y="3667648"/>
                        </a:cubicBezTo>
                        <a:cubicBezTo>
                          <a:pt x="4270330" y="3693544"/>
                          <a:pt x="4331672" y="3642283"/>
                          <a:pt x="4186910" y="3667648"/>
                        </a:cubicBezTo>
                        <a:cubicBezTo>
                          <a:pt x="4042148" y="3693013"/>
                          <a:pt x="3849537" y="3623620"/>
                          <a:pt x="3717837" y="3667648"/>
                        </a:cubicBezTo>
                        <a:cubicBezTo>
                          <a:pt x="3586137" y="3711676"/>
                          <a:pt x="3508923" y="3657784"/>
                          <a:pt x="3358793" y="3667648"/>
                        </a:cubicBezTo>
                        <a:cubicBezTo>
                          <a:pt x="3208663" y="3677512"/>
                          <a:pt x="2929685" y="3636063"/>
                          <a:pt x="2559632" y="3667648"/>
                        </a:cubicBezTo>
                        <a:cubicBezTo>
                          <a:pt x="2189579" y="3699233"/>
                          <a:pt x="2401911" y="3647591"/>
                          <a:pt x="2310618" y="3667648"/>
                        </a:cubicBezTo>
                        <a:cubicBezTo>
                          <a:pt x="2219325" y="3687705"/>
                          <a:pt x="2125286" y="3661283"/>
                          <a:pt x="2061604" y="3667648"/>
                        </a:cubicBezTo>
                        <a:cubicBezTo>
                          <a:pt x="1997922" y="3674013"/>
                          <a:pt x="1533620" y="3661726"/>
                          <a:pt x="1262443" y="3667648"/>
                        </a:cubicBezTo>
                        <a:cubicBezTo>
                          <a:pt x="991266" y="3673570"/>
                          <a:pt x="399274" y="3521279"/>
                          <a:pt x="0" y="3667648"/>
                        </a:cubicBezTo>
                        <a:cubicBezTo>
                          <a:pt x="-49571" y="3471707"/>
                          <a:pt x="20216" y="3245799"/>
                          <a:pt x="0" y="3107022"/>
                        </a:cubicBezTo>
                        <a:cubicBezTo>
                          <a:pt x="-20216" y="2968245"/>
                          <a:pt x="12540" y="2856984"/>
                          <a:pt x="0" y="2619749"/>
                        </a:cubicBezTo>
                        <a:cubicBezTo>
                          <a:pt x="-12540" y="2382514"/>
                          <a:pt x="45472" y="2369590"/>
                          <a:pt x="0" y="2205828"/>
                        </a:cubicBezTo>
                        <a:cubicBezTo>
                          <a:pt x="-45472" y="2042066"/>
                          <a:pt x="53082" y="1919145"/>
                          <a:pt x="0" y="1681879"/>
                        </a:cubicBezTo>
                        <a:cubicBezTo>
                          <a:pt x="-53082" y="1444613"/>
                          <a:pt x="61302" y="1279939"/>
                          <a:pt x="0" y="1157929"/>
                        </a:cubicBezTo>
                        <a:cubicBezTo>
                          <a:pt x="-61302" y="1035919"/>
                          <a:pt x="42815" y="880499"/>
                          <a:pt x="0" y="633979"/>
                        </a:cubicBezTo>
                        <a:cubicBezTo>
                          <a:pt x="-42815" y="387459"/>
                          <a:pt x="18077" y="136120"/>
                          <a:pt x="0" y="0"/>
                        </a:cubicBezTo>
                        <a:close/>
                      </a:path>
                    </a:pathLst>
                  </a:custGeom>
                  <ask:type>
                    <ask:lineSketchNone/>
                  </ask:type>
                </ask:lineSketchStyleProps>
              </a:ext>
            </a:extLst>
          </a:ln>
          <a:effectLst>
            <a:outerShdw blurRad="63500" sx="102000" sy="102000" algn="ctr" rotWithShape="0">
              <a:prstClr val="black">
                <a:alpha val="40000"/>
              </a:prstClr>
            </a:outerShdw>
          </a:effectLst>
        </p:spPr>
        <p:txBody>
          <a:bodyPr vert="horz" lIns="91440" tIns="45720" rIns="91440" bIns="45720" rtlCol="0" anchor="t">
            <a:normAutofit fontScale="70000" lnSpcReduction="20000"/>
          </a:bodyPr>
          <a:lstStyle/>
          <a:p>
            <a:r>
              <a:rPr lang="en-US" sz="4000" b="1" u="sng" dirty="0">
                <a:highlight>
                  <a:srgbClr val="FFFFFF"/>
                </a:highlight>
                <a:cs typeface="Times New Roman"/>
              </a:rPr>
              <a:t>GROUP NUMBER </a:t>
            </a:r>
            <a:r>
              <a:rPr lang="en-US" sz="4000" b="1" dirty="0">
                <a:highlight>
                  <a:srgbClr val="FFFFFF"/>
                </a:highlight>
                <a:cs typeface="Times New Roman"/>
              </a:rPr>
              <a:t>: </a:t>
            </a:r>
            <a:r>
              <a:rPr lang="en-US" sz="4000" dirty="0">
                <a:solidFill>
                  <a:srgbClr val="0070C0"/>
                </a:solidFill>
                <a:highlight>
                  <a:srgbClr val="FFFFFF"/>
                </a:highlight>
                <a:cs typeface="Times New Roman"/>
              </a:rPr>
              <a:t>37</a:t>
            </a:r>
          </a:p>
          <a:p>
            <a:pPr marL="342900" indent="-342900" algn="just">
              <a:buFont typeface="Wingdings" panose="05000000000000000000" pitchFamily="2" charset="2"/>
              <a:buChar char="Ø"/>
            </a:pPr>
            <a:r>
              <a:rPr lang="en-US" sz="2900" b="1" u="sng" dirty="0">
                <a:solidFill>
                  <a:srgbClr val="081012"/>
                </a:solidFill>
                <a:highlight>
                  <a:srgbClr val="FFFFFF"/>
                </a:highlight>
                <a:latin typeface="Arial"/>
                <a:cs typeface="Times New Roman"/>
              </a:rPr>
              <a:t>NAME, STREAM, ENROLLMENT and REGISTRATION numbers of GROUP MEMBERS :</a:t>
            </a:r>
          </a:p>
          <a:p>
            <a:pPr marL="342900" indent="-342900" algn="l">
              <a:buFont typeface="Arial" panose="020B0604020202020204" pitchFamily="34" charset="0"/>
              <a:buChar char="•"/>
            </a:pPr>
            <a:r>
              <a:rPr lang="en-US" sz="2900" b="1" dirty="0">
                <a:solidFill>
                  <a:srgbClr val="002060"/>
                </a:solidFill>
                <a:latin typeface="Arial"/>
                <a:cs typeface="Times New Roman"/>
              </a:rPr>
              <a:t>Asmita Ghorai </a:t>
            </a:r>
            <a:r>
              <a:rPr lang="en-US" sz="2900" dirty="0">
                <a:solidFill>
                  <a:srgbClr val="0070C0"/>
                </a:solidFill>
                <a:latin typeface="Arial"/>
                <a:cs typeface="Times New Roman"/>
              </a:rPr>
              <a:t>– BTech CSE (2212200001142), (220010317574)</a:t>
            </a:r>
          </a:p>
          <a:p>
            <a:pPr marL="342900" indent="-342900" algn="l">
              <a:buFont typeface="Arial" panose="020B0604020202020204" pitchFamily="34" charset="0"/>
              <a:buChar char="•"/>
            </a:pPr>
            <a:r>
              <a:rPr lang="en-US" sz="2900" b="1" dirty="0">
                <a:solidFill>
                  <a:srgbClr val="002060"/>
                </a:solidFill>
                <a:latin typeface="Arial"/>
                <a:cs typeface="Times New Roman"/>
              </a:rPr>
              <a:t>Pallabi Biswas </a:t>
            </a:r>
            <a:r>
              <a:rPr lang="en-US" sz="2900" dirty="0">
                <a:solidFill>
                  <a:srgbClr val="0070C0"/>
                </a:solidFill>
                <a:latin typeface="Arial"/>
                <a:cs typeface="Times New Roman"/>
              </a:rPr>
              <a:t>– BTech CSE (2212200001084), (220010788506)</a:t>
            </a:r>
          </a:p>
          <a:p>
            <a:pPr marL="342900" indent="-342900" algn="l">
              <a:buFont typeface="Arial" panose="020B0604020202020204" pitchFamily="34" charset="0"/>
              <a:buChar char="•"/>
            </a:pPr>
            <a:r>
              <a:rPr lang="en-US" sz="2900" b="1" dirty="0">
                <a:solidFill>
                  <a:srgbClr val="002060"/>
                </a:solidFill>
                <a:latin typeface="Arial"/>
                <a:cs typeface="Times New Roman"/>
              </a:rPr>
              <a:t>Ratri Dey </a:t>
            </a:r>
            <a:r>
              <a:rPr lang="en-US" sz="2900" dirty="0">
                <a:solidFill>
                  <a:srgbClr val="0070C0"/>
                </a:solidFill>
                <a:latin typeface="Arial"/>
                <a:cs typeface="Times New Roman"/>
              </a:rPr>
              <a:t>– BTech CSE (2212200001070),(220010988119)</a:t>
            </a:r>
            <a:endParaRPr lang="en-US" sz="2900" dirty="0">
              <a:solidFill>
                <a:srgbClr val="0070C0"/>
              </a:solidFill>
              <a:latin typeface="Arial"/>
              <a:cs typeface="Times New Roman" panose="02020603050405020304" pitchFamily="18" charset="0"/>
            </a:endParaRPr>
          </a:p>
          <a:p>
            <a:pPr marL="342900" indent="-342900" algn="l">
              <a:buFont typeface="Arial" panose="020B0604020202020204" pitchFamily="34" charset="0"/>
              <a:buChar char="•"/>
            </a:pPr>
            <a:r>
              <a:rPr lang="en-US" sz="2900" b="1" dirty="0">
                <a:solidFill>
                  <a:srgbClr val="002060"/>
                </a:solidFill>
                <a:latin typeface="Arial"/>
                <a:cs typeface="Times New Roman"/>
              </a:rPr>
              <a:t>Riddhi Basu </a:t>
            </a:r>
            <a:r>
              <a:rPr lang="en-US" sz="2900" dirty="0">
                <a:solidFill>
                  <a:srgbClr val="0070C0"/>
                </a:solidFill>
                <a:latin typeface="Arial"/>
                <a:cs typeface="Times New Roman"/>
              </a:rPr>
              <a:t>– BTech CSE (2212200001146),(</a:t>
            </a:r>
            <a:r>
              <a:rPr lang="en-US" sz="2900" dirty="0">
                <a:solidFill>
                  <a:srgbClr val="0070C0"/>
                </a:solidFill>
                <a:latin typeface="Arial"/>
                <a:ea typeface="+mn-lt"/>
                <a:cs typeface="+mn-lt"/>
              </a:rPr>
              <a:t>220011009400)</a:t>
            </a:r>
            <a:endParaRPr lang="en-US" sz="2900" dirty="0">
              <a:solidFill>
                <a:srgbClr val="0070C0"/>
              </a:solidFill>
              <a:highlight>
                <a:srgbClr val="FFFFFF"/>
              </a:highlight>
              <a:latin typeface="Arial"/>
              <a:cs typeface="Times New Roman" panose="02020603050405020304" pitchFamily="18" charset="0"/>
            </a:endParaRPr>
          </a:p>
          <a:p>
            <a:pPr marL="342900" indent="-342900" algn="just">
              <a:buFont typeface="Wingdings" panose="05000000000000000000" pitchFamily="2" charset="2"/>
              <a:buChar char="Ø"/>
            </a:pPr>
            <a:r>
              <a:rPr lang="en-US" sz="2900" b="1" u="sng" dirty="0">
                <a:solidFill>
                  <a:srgbClr val="081012"/>
                </a:solidFill>
                <a:highlight>
                  <a:srgbClr val="FFFFFF"/>
                </a:highlight>
                <a:latin typeface="Arial"/>
                <a:cs typeface="Times New Roman"/>
              </a:rPr>
              <a:t>DEPARTMENT</a:t>
            </a:r>
            <a:r>
              <a:rPr lang="en-US" sz="2900" dirty="0">
                <a:solidFill>
                  <a:srgbClr val="081012"/>
                </a:solidFill>
                <a:highlight>
                  <a:srgbClr val="FFFFFF"/>
                </a:highlight>
                <a:latin typeface="Arial"/>
                <a:cs typeface="Times New Roman"/>
              </a:rPr>
              <a:t> :</a:t>
            </a:r>
            <a:r>
              <a:rPr lang="en-US" sz="2900" dirty="0">
                <a:solidFill>
                  <a:srgbClr val="081012"/>
                </a:solidFill>
                <a:latin typeface="Arial"/>
                <a:cs typeface="Times New Roman"/>
              </a:rPr>
              <a:t>  “</a:t>
            </a:r>
            <a:r>
              <a:rPr lang="en-US" sz="2900" dirty="0">
                <a:solidFill>
                  <a:srgbClr val="0070C0"/>
                </a:solidFill>
                <a:latin typeface="Arial"/>
                <a:cs typeface="Times New Roman"/>
              </a:rPr>
              <a:t>Computer Science and Engineering”</a:t>
            </a:r>
            <a:endParaRPr lang="en-US" sz="2900" dirty="0">
              <a:solidFill>
                <a:srgbClr val="0070C0"/>
              </a:solidFill>
              <a:highlight>
                <a:srgbClr val="FFFFFF"/>
              </a:highlight>
              <a:latin typeface="Arial"/>
              <a:cs typeface="Times New Roman"/>
            </a:endParaRPr>
          </a:p>
          <a:p>
            <a:pPr marL="342900" indent="-342900" algn="just">
              <a:buFont typeface="Wingdings" panose="05000000000000000000" pitchFamily="2" charset="2"/>
              <a:buChar char="Ø"/>
            </a:pPr>
            <a:r>
              <a:rPr lang="en-US" sz="2900" b="1" u="sng" dirty="0">
                <a:solidFill>
                  <a:srgbClr val="081012"/>
                </a:solidFill>
                <a:highlight>
                  <a:srgbClr val="FFFFFF"/>
                </a:highlight>
                <a:latin typeface="Arial"/>
                <a:cs typeface="Times New Roman"/>
              </a:rPr>
              <a:t>INSTITUTION</a:t>
            </a:r>
            <a:r>
              <a:rPr lang="en-US" sz="2900" dirty="0">
                <a:solidFill>
                  <a:srgbClr val="081012"/>
                </a:solidFill>
                <a:highlight>
                  <a:srgbClr val="FFFFFF"/>
                </a:highlight>
                <a:latin typeface="Arial"/>
                <a:cs typeface="Times New Roman"/>
              </a:rPr>
              <a:t> : “</a:t>
            </a:r>
            <a:r>
              <a:rPr lang="en-US" sz="2900" dirty="0">
                <a:solidFill>
                  <a:srgbClr val="0070C0"/>
                </a:solidFill>
                <a:latin typeface="Arial"/>
                <a:cs typeface="Times New Roman"/>
              </a:rPr>
              <a:t>Sister Nivedita University”</a:t>
            </a:r>
            <a:endParaRPr lang="en-US" sz="2900" dirty="0">
              <a:solidFill>
                <a:srgbClr val="0070C0"/>
              </a:solidFill>
              <a:highlight>
                <a:srgbClr val="FFFFFF"/>
              </a:highlight>
              <a:latin typeface="Arial"/>
              <a:cs typeface="Times New Roman"/>
            </a:endParaRPr>
          </a:p>
          <a:p>
            <a:pPr marL="342900" indent="-342900" algn="just">
              <a:buFont typeface="Wingdings" panose="05000000000000000000" pitchFamily="2" charset="2"/>
              <a:buChar char="Ø"/>
            </a:pPr>
            <a:r>
              <a:rPr lang="en-US" sz="2900" b="1" u="sng" dirty="0">
                <a:solidFill>
                  <a:srgbClr val="081012"/>
                </a:solidFill>
                <a:highlight>
                  <a:srgbClr val="FFFFFF"/>
                </a:highlight>
                <a:latin typeface="Arial"/>
                <a:cs typeface="Times New Roman"/>
              </a:rPr>
              <a:t>NAME OF SUPERVISOR with AFFILIATION </a:t>
            </a:r>
            <a:r>
              <a:rPr lang="en-US" sz="2900" dirty="0">
                <a:solidFill>
                  <a:srgbClr val="081012"/>
                </a:solidFill>
                <a:highlight>
                  <a:srgbClr val="FFFFFF"/>
                </a:highlight>
                <a:latin typeface="Arial"/>
                <a:cs typeface="Times New Roman"/>
              </a:rPr>
              <a:t>: </a:t>
            </a:r>
          </a:p>
          <a:p>
            <a:pPr marL="342900" indent="-342900" algn="just">
              <a:buFont typeface="Arial" panose="020B0604020202020204" pitchFamily="34" charset="0"/>
              <a:buChar char="•"/>
            </a:pPr>
            <a:r>
              <a:rPr lang="en-US" sz="2500" b="1" dirty="0">
                <a:solidFill>
                  <a:srgbClr val="002060"/>
                </a:solidFill>
                <a:latin typeface="Arial"/>
                <a:cs typeface="Times New Roman"/>
              </a:rPr>
              <a:t>Dr. BIDYUT SAHA</a:t>
            </a:r>
            <a:r>
              <a:rPr lang="en-US" sz="2500" b="1" dirty="0">
                <a:solidFill>
                  <a:schemeClr val="accent2">
                    <a:lumMod val="75000"/>
                  </a:schemeClr>
                </a:solidFill>
                <a:latin typeface="Arial"/>
                <a:cs typeface="Times New Roman"/>
              </a:rPr>
              <a:t> </a:t>
            </a:r>
            <a:r>
              <a:rPr lang="en-US" sz="2500" b="1" dirty="0">
                <a:solidFill>
                  <a:srgbClr val="002060"/>
                </a:solidFill>
                <a:latin typeface="Arial"/>
                <a:cs typeface="Times New Roman"/>
              </a:rPr>
              <a:t>,</a:t>
            </a:r>
            <a:r>
              <a:rPr lang="en-US" sz="2500" dirty="0">
                <a:solidFill>
                  <a:schemeClr val="accent2">
                    <a:lumMod val="75000"/>
                  </a:schemeClr>
                </a:solidFill>
                <a:latin typeface="Arial"/>
                <a:cs typeface="Times New Roman"/>
              </a:rPr>
              <a:t> </a:t>
            </a:r>
            <a:r>
              <a:rPr lang="en-US" sz="2500" dirty="0">
                <a:solidFill>
                  <a:srgbClr val="0070C0"/>
                </a:solidFill>
                <a:latin typeface="Arial"/>
                <a:ea typeface="+mn-lt"/>
                <a:cs typeface="+mn-lt"/>
              </a:rPr>
              <a:t>Department of Computer Science and Engineering</a:t>
            </a:r>
            <a:r>
              <a:rPr lang="en-US" sz="2500" dirty="0">
                <a:solidFill>
                  <a:srgbClr val="0070C0"/>
                </a:solidFill>
                <a:latin typeface="Arial"/>
                <a:cs typeface="Times New Roman"/>
              </a:rPr>
              <a:t>, Sister Nivedita University</a:t>
            </a:r>
            <a:endParaRPr lang="en-US" sz="2500" dirty="0">
              <a:solidFill>
                <a:srgbClr val="0070C0"/>
              </a:solidFill>
              <a:highlight>
                <a:srgbClr val="FFFFFF"/>
              </a:highlight>
              <a:latin typeface="Arial"/>
              <a:cs typeface="Times New Roman"/>
            </a:endParaRPr>
          </a:p>
          <a:p>
            <a:pPr algn="just"/>
            <a:endParaRPr lang="en-US" b="0" i="0" dirty="0">
              <a:solidFill>
                <a:srgbClr val="0D0D0D"/>
              </a:solidFill>
              <a:effectLst/>
              <a:highlight>
                <a:srgbClr val="FFFFFF"/>
              </a:highlight>
              <a:latin typeface="Arial"/>
              <a:cs typeface="Arial"/>
            </a:endParaRPr>
          </a:p>
          <a:p>
            <a:endParaRPr lang="en-IN" dirty="0"/>
          </a:p>
        </p:txBody>
      </p:sp>
      <p:pic>
        <p:nvPicPr>
          <p:cNvPr id="1026" name="Picture 2" descr="Sister Nivedita University | Best Private College in India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82629" y="111044"/>
            <a:ext cx="2574145" cy="7917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776" y="532001"/>
            <a:ext cx="4118418" cy="734089"/>
          </a:xfrm>
          <a:ln>
            <a:noFill/>
          </a:ln>
          <a:effectLst/>
          <a:scene3d>
            <a:camera prst="orthographicFront">
              <a:rot lat="0" lon="0" rev="0"/>
            </a:camera>
            <a:lightRig rig="chilly" dir="t">
              <a:rot lat="0" lon="0" rev="18480000"/>
            </a:lightRig>
          </a:scene3d>
          <a:sp3d prstMaterial="clear"/>
        </p:spPr>
        <p:txBody>
          <a:bodyPr>
            <a:noAutofit/>
          </a:bodyPr>
          <a:lstStyle/>
          <a:p>
            <a:r>
              <a:rPr lang="en-IN" sz="3600" spc="-150" dirty="0">
                <a:latin typeface="Arial"/>
                <a:cs typeface="Arial"/>
              </a:rPr>
              <a:t>INTRODUCTION</a:t>
            </a:r>
          </a:p>
        </p:txBody>
      </p:sp>
      <p:sp>
        <p:nvSpPr>
          <p:cNvPr id="5" name="Rectangle 4">
            <a:extLst>
              <a:ext uri="{FF2B5EF4-FFF2-40B4-BE49-F238E27FC236}">
                <a16:creationId xmlns:a16="http://schemas.microsoft.com/office/drawing/2014/main" id="{C0304B0C-BBE8-B238-6F86-CF929D9DC228}"/>
              </a:ext>
            </a:extLst>
          </p:cNvPr>
          <p:cNvSpPr/>
          <p:nvPr/>
        </p:nvSpPr>
        <p:spPr>
          <a:xfrm>
            <a:off x="847830" y="1989572"/>
            <a:ext cx="10496339" cy="4481565"/>
          </a:xfrm>
          <a:custGeom>
            <a:avLst/>
            <a:gdLst>
              <a:gd name="connsiteX0" fmla="*/ 0 w 10496339"/>
              <a:gd name="connsiteY0" fmla="*/ 0 h 4481565"/>
              <a:gd name="connsiteX1" fmla="*/ 478167 w 10496339"/>
              <a:gd name="connsiteY1" fmla="*/ 0 h 4481565"/>
              <a:gd name="connsiteX2" fmla="*/ 746406 w 10496339"/>
              <a:gd name="connsiteY2" fmla="*/ 0 h 4481565"/>
              <a:gd name="connsiteX3" fmla="*/ 1329536 w 10496339"/>
              <a:gd name="connsiteY3" fmla="*/ 0 h 4481565"/>
              <a:gd name="connsiteX4" fmla="*/ 2122593 w 10496339"/>
              <a:gd name="connsiteY4" fmla="*/ 0 h 4481565"/>
              <a:gd name="connsiteX5" fmla="*/ 2915650 w 10496339"/>
              <a:gd name="connsiteY5" fmla="*/ 0 h 4481565"/>
              <a:gd name="connsiteX6" fmla="*/ 3288853 w 10496339"/>
              <a:gd name="connsiteY6" fmla="*/ 0 h 4481565"/>
              <a:gd name="connsiteX7" fmla="*/ 3976946 w 10496339"/>
              <a:gd name="connsiteY7" fmla="*/ 0 h 4481565"/>
              <a:gd name="connsiteX8" fmla="*/ 4770003 w 10496339"/>
              <a:gd name="connsiteY8" fmla="*/ 0 h 4481565"/>
              <a:gd name="connsiteX9" fmla="*/ 5038243 w 10496339"/>
              <a:gd name="connsiteY9" fmla="*/ 0 h 4481565"/>
              <a:gd name="connsiteX10" fmla="*/ 5726336 w 10496339"/>
              <a:gd name="connsiteY10" fmla="*/ 0 h 4481565"/>
              <a:gd name="connsiteX11" fmla="*/ 6519393 w 10496339"/>
              <a:gd name="connsiteY11" fmla="*/ 0 h 4481565"/>
              <a:gd name="connsiteX12" fmla="*/ 7312450 w 10496339"/>
              <a:gd name="connsiteY12" fmla="*/ 0 h 4481565"/>
              <a:gd name="connsiteX13" fmla="*/ 7895579 w 10496339"/>
              <a:gd name="connsiteY13" fmla="*/ 0 h 4481565"/>
              <a:gd name="connsiteX14" fmla="*/ 8163819 w 10496339"/>
              <a:gd name="connsiteY14" fmla="*/ 0 h 4481565"/>
              <a:gd name="connsiteX15" fmla="*/ 8956876 w 10496339"/>
              <a:gd name="connsiteY15" fmla="*/ 0 h 4481565"/>
              <a:gd name="connsiteX16" fmla="*/ 9435043 w 10496339"/>
              <a:gd name="connsiteY16" fmla="*/ 0 h 4481565"/>
              <a:gd name="connsiteX17" fmla="*/ 9808246 w 10496339"/>
              <a:gd name="connsiteY17" fmla="*/ 0 h 4481565"/>
              <a:gd name="connsiteX18" fmla="*/ 10496339 w 10496339"/>
              <a:gd name="connsiteY18" fmla="*/ 0 h 4481565"/>
              <a:gd name="connsiteX19" fmla="*/ 10496339 w 10496339"/>
              <a:gd name="connsiteY19" fmla="*/ 470564 h 4481565"/>
              <a:gd name="connsiteX20" fmla="*/ 10496339 w 10496339"/>
              <a:gd name="connsiteY20" fmla="*/ 1120391 h 4481565"/>
              <a:gd name="connsiteX21" fmla="*/ 10496339 w 10496339"/>
              <a:gd name="connsiteY21" fmla="*/ 1635771 h 4481565"/>
              <a:gd name="connsiteX22" fmla="*/ 10496339 w 10496339"/>
              <a:gd name="connsiteY22" fmla="*/ 2240783 h 4481565"/>
              <a:gd name="connsiteX23" fmla="*/ 10496339 w 10496339"/>
              <a:gd name="connsiteY23" fmla="*/ 2890609 h 4481565"/>
              <a:gd name="connsiteX24" fmla="*/ 10496339 w 10496339"/>
              <a:gd name="connsiteY24" fmla="*/ 3316358 h 4481565"/>
              <a:gd name="connsiteX25" fmla="*/ 10496339 w 10496339"/>
              <a:gd name="connsiteY25" fmla="*/ 3786922 h 4481565"/>
              <a:gd name="connsiteX26" fmla="*/ 10496339 w 10496339"/>
              <a:gd name="connsiteY26" fmla="*/ 4481565 h 4481565"/>
              <a:gd name="connsiteX27" fmla="*/ 9913209 w 10496339"/>
              <a:gd name="connsiteY27" fmla="*/ 4481565 h 4481565"/>
              <a:gd name="connsiteX28" fmla="*/ 9435043 w 10496339"/>
              <a:gd name="connsiteY28" fmla="*/ 4481565 h 4481565"/>
              <a:gd name="connsiteX29" fmla="*/ 8641986 w 10496339"/>
              <a:gd name="connsiteY29" fmla="*/ 4481565 h 4481565"/>
              <a:gd name="connsiteX30" fmla="*/ 8373746 w 10496339"/>
              <a:gd name="connsiteY30" fmla="*/ 4481565 h 4481565"/>
              <a:gd name="connsiteX31" fmla="*/ 7685653 w 10496339"/>
              <a:gd name="connsiteY31" fmla="*/ 4481565 h 4481565"/>
              <a:gd name="connsiteX32" fmla="*/ 6892596 w 10496339"/>
              <a:gd name="connsiteY32" fmla="*/ 4481565 h 4481565"/>
              <a:gd name="connsiteX33" fmla="*/ 6099539 w 10496339"/>
              <a:gd name="connsiteY33" fmla="*/ 4481565 h 4481565"/>
              <a:gd name="connsiteX34" fmla="*/ 5411446 w 10496339"/>
              <a:gd name="connsiteY34" fmla="*/ 4481565 h 4481565"/>
              <a:gd name="connsiteX35" fmla="*/ 4828316 w 10496339"/>
              <a:gd name="connsiteY35" fmla="*/ 4481565 h 4481565"/>
              <a:gd name="connsiteX36" fmla="*/ 4035259 w 10496339"/>
              <a:gd name="connsiteY36" fmla="*/ 4481565 h 4481565"/>
              <a:gd name="connsiteX37" fmla="*/ 3767019 w 10496339"/>
              <a:gd name="connsiteY37" fmla="*/ 4481565 h 4481565"/>
              <a:gd name="connsiteX38" fmla="*/ 3288853 w 10496339"/>
              <a:gd name="connsiteY38" fmla="*/ 4481565 h 4481565"/>
              <a:gd name="connsiteX39" fmla="*/ 2495796 w 10496339"/>
              <a:gd name="connsiteY39" fmla="*/ 4481565 h 4481565"/>
              <a:gd name="connsiteX40" fmla="*/ 2227556 w 10496339"/>
              <a:gd name="connsiteY40" fmla="*/ 4481565 h 4481565"/>
              <a:gd name="connsiteX41" fmla="*/ 1854353 w 10496339"/>
              <a:gd name="connsiteY41" fmla="*/ 4481565 h 4481565"/>
              <a:gd name="connsiteX42" fmla="*/ 1271223 w 10496339"/>
              <a:gd name="connsiteY42" fmla="*/ 4481565 h 4481565"/>
              <a:gd name="connsiteX43" fmla="*/ 688093 w 10496339"/>
              <a:gd name="connsiteY43" fmla="*/ 4481565 h 4481565"/>
              <a:gd name="connsiteX44" fmla="*/ 0 w 10496339"/>
              <a:gd name="connsiteY44" fmla="*/ 4481565 h 4481565"/>
              <a:gd name="connsiteX45" fmla="*/ 0 w 10496339"/>
              <a:gd name="connsiteY45" fmla="*/ 4011001 h 4481565"/>
              <a:gd name="connsiteX46" fmla="*/ 0 w 10496339"/>
              <a:gd name="connsiteY46" fmla="*/ 3361174 h 4481565"/>
              <a:gd name="connsiteX47" fmla="*/ 0 w 10496339"/>
              <a:gd name="connsiteY47" fmla="*/ 2935425 h 4481565"/>
              <a:gd name="connsiteX48" fmla="*/ 0 w 10496339"/>
              <a:gd name="connsiteY48" fmla="*/ 2375229 h 4481565"/>
              <a:gd name="connsiteX49" fmla="*/ 0 w 10496339"/>
              <a:gd name="connsiteY49" fmla="*/ 1904665 h 4481565"/>
              <a:gd name="connsiteX50" fmla="*/ 0 w 10496339"/>
              <a:gd name="connsiteY50" fmla="*/ 1299654 h 4481565"/>
              <a:gd name="connsiteX51" fmla="*/ 0 w 10496339"/>
              <a:gd name="connsiteY51" fmla="*/ 694643 h 4481565"/>
              <a:gd name="connsiteX52" fmla="*/ 0 w 10496339"/>
              <a:gd name="connsiteY52" fmla="*/ 0 h 4481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496339" h="4481565" fill="none" extrusionOk="0">
                <a:moveTo>
                  <a:pt x="0" y="0"/>
                </a:moveTo>
                <a:cubicBezTo>
                  <a:pt x="132179" y="-25202"/>
                  <a:pt x="352259" y="38496"/>
                  <a:pt x="478167" y="0"/>
                </a:cubicBezTo>
                <a:cubicBezTo>
                  <a:pt x="604075" y="-38496"/>
                  <a:pt x="620762" y="12212"/>
                  <a:pt x="746406" y="0"/>
                </a:cubicBezTo>
                <a:cubicBezTo>
                  <a:pt x="872050" y="-12212"/>
                  <a:pt x="1057744" y="46811"/>
                  <a:pt x="1329536" y="0"/>
                </a:cubicBezTo>
                <a:cubicBezTo>
                  <a:pt x="1601328" y="-46811"/>
                  <a:pt x="1761015" y="9189"/>
                  <a:pt x="2122593" y="0"/>
                </a:cubicBezTo>
                <a:cubicBezTo>
                  <a:pt x="2484171" y="-9189"/>
                  <a:pt x="2601389" y="52214"/>
                  <a:pt x="2915650" y="0"/>
                </a:cubicBezTo>
                <a:cubicBezTo>
                  <a:pt x="3229911" y="-52214"/>
                  <a:pt x="3158221" y="11365"/>
                  <a:pt x="3288853" y="0"/>
                </a:cubicBezTo>
                <a:cubicBezTo>
                  <a:pt x="3419485" y="-11365"/>
                  <a:pt x="3710678" y="33473"/>
                  <a:pt x="3976946" y="0"/>
                </a:cubicBezTo>
                <a:cubicBezTo>
                  <a:pt x="4243214" y="-33473"/>
                  <a:pt x="4512234" y="29396"/>
                  <a:pt x="4770003" y="0"/>
                </a:cubicBezTo>
                <a:cubicBezTo>
                  <a:pt x="5027772" y="-29396"/>
                  <a:pt x="4982204" y="14199"/>
                  <a:pt x="5038243" y="0"/>
                </a:cubicBezTo>
                <a:cubicBezTo>
                  <a:pt x="5094282" y="-14199"/>
                  <a:pt x="5563077" y="40463"/>
                  <a:pt x="5726336" y="0"/>
                </a:cubicBezTo>
                <a:cubicBezTo>
                  <a:pt x="5889595" y="-40463"/>
                  <a:pt x="6206083" y="42866"/>
                  <a:pt x="6519393" y="0"/>
                </a:cubicBezTo>
                <a:cubicBezTo>
                  <a:pt x="6832703" y="-42866"/>
                  <a:pt x="7006309" y="70138"/>
                  <a:pt x="7312450" y="0"/>
                </a:cubicBezTo>
                <a:cubicBezTo>
                  <a:pt x="7618591" y="-70138"/>
                  <a:pt x="7628909" y="33165"/>
                  <a:pt x="7895579" y="0"/>
                </a:cubicBezTo>
                <a:cubicBezTo>
                  <a:pt x="8162249" y="-33165"/>
                  <a:pt x="8085681" y="18070"/>
                  <a:pt x="8163819" y="0"/>
                </a:cubicBezTo>
                <a:cubicBezTo>
                  <a:pt x="8241957" y="-18070"/>
                  <a:pt x="8630920" y="76262"/>
                  <a:pt x="8956876" y="0"/>
                </a:cubicBezTo>
                <a:cubicBezTo>
                  <a:pt x="9282832" y="-76262"/>
                  <a:pt x="9327979" y="38901"/>
                  <a:pt x="9435043" y="0"/>
                </a:cubicBezTo>
                <a:cubicBezTo>
                  <a:pt x="9542107" y="-38901"/>
                  <a:pt x="9639093" y="21758"/>
                  <a:pt x="9808246" y="0"/>
                </a:cubicBezTo>
                <a:cubicBezTo>
                  <a:pt x="9977399" y="-21758"/>
                  <a:pt x="10222408" y="76058"/>
                  <a:pt x="10496339" y="0"/>
                </a:cubicBezTo>
                <a:cubicBezTo>
                  <a:pt x="10535323" y="199636"/>
                  <a:pt x="10441704" y="359538"/>
                  <a:pt x="10496339" y="470564"/>
                </a:cubicBezTo>
                <a:cubicBezTo>
                  <a:pt x="10550974" y="581590"/>
                  <a:pt x="10424395" y="941434"/>
                  <a:pt x="10496339" y="1120391"/>
                </a:cubicBezTo>
                <a:cubicBezTo>
                  <a:pt x="10568283" y="1299348"/>
                  <a:pt x="10465401" y="1472531"/>
                  <a:pt x="10496339" y="1635771"/>
                </a:cubicBezTo>
                <a:cubicBezTo>
                  <a:pt x="10527277" y="1799011"/>
                  <a:pt x="10495328" y="1984544"/>
                  <a:pt x="10496339" y="2240783"/>
                </a:cubicBezTo>
                <a:cubicBezTo>
                  <a:pt x="10497350" y="2497022"/>
                  <a:pt x="10490193" y="2664239"/>
                  <a:pt x="10496339" y="2890609"/>
                </a:cubicBezTo>
                <a:cubicBezTo>
                  <a:pt x="10502485" y="3116979"/>
                  <a:pt x="10448245" y="3168190"/>
                  <a:pt x="10496339" y="3316358"/>
                </a:cubicBezTo>
                <a:cubicBezTo>
                  <a:pt x="10544433" y="3464526"/>
                  <a:pt x="10461707" y="3600783"/>
                  <a:pt x="10496339" y="3786922"/>
                </a:cubicBezTo>
                <a:cubicBezTo>
                  <a:pt x="10530971" y="3973061"/>
                  <a:pt x="10485366" y="4325485"/>
                  <a:pt x="10496339" y="4481565"/>
                </a:cubicBezTo>
                <a:cubicBezTo>
                  <a:pt x="10336193" y="4502576"/>
                  <a:pt x="10035719" y="4421449"/>
                  <a:pt x="9913209" y="4481565"/>
                </a:cubicBezTo>
                <a:cubicBezTo>
                  <a:pt x="9790699" y="4541681"/>
                  <a:pt x="9583866" y="4446741"/>
                  <a:pt x="9435043" y="4481565"/>
                </a:cubicBezTo>
                <a:cubicBezTo>
                  <a:pt x="9286220" y="4516389"/>
                  <a:pt x="8856790" y="4444209"/>
                  <a:pt x="8641986" y="4481565"/>
                </a:cubicBezTo>
                <a:cubicBezTo>
                  <a:pt x="8427182" y="4518921"/>
                  <a:pt x="8494631" y="4454096"/>
                  <a:pt x="8373746" y="4481565"/>
                </a:cubicBezTo>
                <a:cubicBezTo>
                  <a:pt x="8252861" y="4509034"/>
                  <a:pt x="7885558" y="4401987"/>
                  <a:pt x="7685653" y="4481565"/>
                </a:cubicBezTo>
                <a:cubicBezTo>
                  <a:pt x="7485748" y="4561143"/>
                  <a:pt x="7282826" y="4456712"/>
                  <a:pt x="6892596" y="4481565"/>
                </a:cubicBezTo>
                <a:cubicBezTo>
                  <a:pt x="6502366" y="4506418"/>
                  <a:pt x="6288170" y="4480396"/>
                  <a:pt x="6099539" y="4481565"/>
                </a:cubicBezTo>
                <a:cubicBezTo>
                  <a:pt x="5910908" y="4482734"/>
                  <a:pt x="5736550" y="4460810"/>
                  <a:pt x="5411446" y="4481565"/>
                </a:cubicBezTo>
                <a:cubicBezTo>
                  <a:pt x="5086342" y="4502320"/>
                  <a:pt x="4999320" y="4443514"/>
                  <a:pt x="4828316" y="4481565"/>
                </a:cubicBezTo>
                <a:cubicBezTo>
                  <a:pt x="4657312" y="4519616"/>
                  <a:pt x="4248272" y="4464261"/>
                  <a:pt x="4035259" y="4481565"/>
                </a:cubicBezTo>
                <a:cubicBezTo>
                  <a:pt x="3822246" y="4498869"/>
                  <a:pt x="3873881" y="4475294"/>
                  <a:pt x="3767019" y="4481565"/>
                </a:cubicBezTo>
                <a:cubicBezTo>
                  <a:pt x="3660157" y="4487836"/>
                  <a:pt x="3438752" y="4461245"/>
                  <a:pt x="3288853" y="4481565"/>
                </a:cubicBezTo>
                <a:cubicBezTo>
                  <a:pt x="3138954" y="4501885"/>
                  <a:pt x="2788868" y="4407706"/>
                  <a:pt x="2495796" y="4481565"/>
                </a:cubicBezTo>
                <a:cubicBezTo>
                  <a:pt x="2202724" y="4555424"/>
                  <a:pt x="2314377" y="4450138"/>
                  <a:pt x="2227556" y="4481565"/>
                </a:cubicBezTo>
                <a:cubicBezTo>
                  <a:pt x="2140735" y="4512992"/>
                  <a:pt x="1976427" y="4464742"/>
                  <a:pt x="1854353" y="4481565"/>
                </a:cubicBezTo>
                <a:cubicBezTo>
                  <a:pt x="1732279" y="4498388"/>
                  <a:pt x="1536561" y="4420937"/>
                  <a:pt x="1271223" y="4481565"/>
                </a:cubicBezTo>
                <a:cubicBezTo>
                  <a:pt x="1005885" y="4542193"/>
                  <a:pt x="826606" y="4420390"/>
                  <a:pt x="688093" y="4481565"/>
                </a:cubicBezTo>
                <a:cubicBezTo>
                  <a:pt x="549580" y="4542740"/>
                  <a:pt x="259619" y="4444465"/>
                  <a:pt x="0" y="4481565"/>
                </a:cubicBezTo>
                <a:cubicBezTo>
                  <a:pt x="-47691" y="4371317"/>
                  <a:pt x="56240" y="4140182"/>
                  <a:pt x="0" y="4011001"/>
                </a:cubicBezTo>
                <a:cubicBezTo>
                  <a:pt x="-56240" y="3881820"/>
                  <a:pt x="65791" y="3548080"/>
                  <a:pt x="0" y="3361174"/>
                </a:cubicBezTo>
                <a:cubicBezTo>
                  <a:pt x="-65791" y="3174268"/>
                  <a:pt x="47549" y="3095295"/>
                  <a:pt x="0" y="2935425"/>
                </a:cubicBezTo>
                <a:cubicBezTo>
                  <a:pt x="-47549" y="2775555"/>
                  <a:pt x="22639" y="2565984"/>
                  <a:pt x="0" y="2375229"/>
                </a:cubicBezTo>
                <a:cubicBezTo>
                  <a:pt x="-22639" y="2184474"/>
                  <a:pt x="43619" y="2006612"/>
                  <a:pt x="0" y="1904665"/>
                </a:cubicBezTo>
                <a:cubicBezTo>
                  <a:pt x="-43619" y="1802718"/>
                  <a:pt x="61272" y="1464831"/>
                  <a:pt x="0" y="1299654"/>
                </a:cubicBezTo>
                <a:cubicBezTo>
                  <a:pt x="-61272" y="1134477"/>
                  <a:pt x="48065" y="968286"/>
                  <a:pt x="0" y="694643"/>
                </a:cubicBezTo>
                <a:cubicBezTo>
                  <a:pt x="-48065" y="421000"/>
                  <a:pt x="55723" y="246066"/>
                  <a:pt x="0" y="0"/>
                </a:cubicBezTo>
                <a:close/>
              </a:path>
              <a:path w="10496339" h="4481565" stroke="0" extrusionOk="0">
                <a:moveTo>
                  <a:pt x="0" y="0"/>
                </a:moveTo>
                <a:cubicBezTo>
                  <a:pt x="116548" y="-5746"/>
                  <a:pt x="186760" y="29795"/>
                  <a:pt x="268240" y="0"/>
                </a:cubicBezTo>
                <a:cubicBezTo>
                  <a:pt x="349720" y="-29795"/>
                  <a:pt x="614750" y="12828"/>
                  <a:pt x="746406" y="0"/>
                </a:cubicBezTo>
                <a:cubicBezTo>
                  <a:pt x="878062" y="-12828"/>
                  <a:pt x="940145" y="18528"/>
                  <a:pt x="1014646" y="0"/>
                </a:cubicBezTo>
                <a:cubicBezTo>
                  <a:pt x="1089147" y="-18528"/>
                  <a:pt x="1508323" y="82845"/>
                  <a:pt x="1807703" y="0"/>
                </a:cubicBezTo>
                <a:cubicBezTo>
                  <a:pt x="2107083" y="-82845"/>
                  <a:pt x="2159019" y="47264"/>
                  <a:pt x="2285869" y="0"/>
                </a:cubicBezTo>
                <a:cubicBezTo>
                  <a:pt x="2412719" y="-47264"/>
                  <a:pt x="2494110" y="7453"/>
                  <a:pt x="2554109" y="0"/>
                </a:cubicBezTo>
                <a:cubicBezTo>
                  <a:pt x="2614108" y="-7453"/>
                  <a:pt x="2695996" y="324"/>
                  <a:pt x="2822349" y="0"/>
                </a:cubicBezTo>
                <a:cubicBezTo>
                  <a:pt x="2948702" y="-324"/>
                  <a:pt x="3361115" y="44223"/>
                  <a:pt x="3615406" y="0"/>
                </a:cubicBezTo>
                <a:cubicBezTo>
                  <a:pt x="3869697" y="-44223"/>
                  <a:pt x="3982151" y="36123"/>
                  <a:pt x="4198536" y="0"/>
                </a:cubicBezTo>
                <a:cubicBezTo>
                  <a:pt x="4414921" y="-36123"/>
                  <a:pt x="4476351" y="6357"/>
                  <a:pt x="4571739" y="0"/>
                </a:cubicBezTo>
                <a:cubicBezTo>
                  <a:pt x="4667127" y="-6357"/>
                  <a:pt x="5136350" y="35868"/>
                  <a:pt x="5364795" y="0"/>
                </a:cubicBezTo>
                <a:cubicBezTo>
                  <a:pt x="5593240" y="-35868"/>
                  <a:pt x="5783218" y="12866"/>
                  <a:pt x="5947925" y="0"/>
                </a:cubicBezTo>
                <a:cubicBezTo>
                  <a:pt x="6112632" y="-12866"/>
                  <a:pt x="6291459" y="27175"/>
                  <a:pt x="6531055" y="0"/>
                </a:cubicBezTo>
                <a:cubicBezTo>
                  <a:pt x="6770651" y="-27175"/>
                  <a:pt x="6977216" y="56563"/>
                  <a:pt x="7324112" y="0"/>
                </a:cubicBezTo>
                <a:cubicBezTo>
                  <a:pt x="7671008" y="-56563"/>
                  <a:pt x="7498194" y="11840"/>
                  <a:pt x="7592352" y="0"/>
                </a:cubicBezTo>
                <a:cubicBezTo>
                  <a:pt x="7686510" y="-11840"/>
                  <a:pt x="8035412" y="16984"/>
                  <a:pt x="8175482" y="0"/>
                </a:cubicBezTo>
                <a:cubicBezTo>
                  <a:pt x="8315552" y="-16984"/>
                  <a:pt x="8472022" y="23558"/>
                  <a:pt x="8548685" y="0"/>
                </a:cubicBezTo>
                <a:cubicBezTo>
                  <a:pt x="8625348" y="-23558"/>
                  <a:pt x="8907894" y="30991"/>
                  <a:pt x="9026852" y="0"/>
                </a:cubicBezTo>
                <a:cubicBezTo>
                  <a:pt x="9145810" y="-30991"/>
                  <a:pt x="9375450" y="4315"/>
                  <a:pt x="9505018" y="0"/>
                </a:cubicBezTo>
                <a:cubicBezTo>
                  <a:pt x="9634586" y="-4315"/>
                  <a:pt x="9758327" y="12689"/>
                  <a:pt x="9878221" y="0"/>
                </a:cubicBezTo>
                <a:cubicBezTo>
                  <a:pt x="9998115" y="-12689"/>
                  <a:pt x="10275102" y="7310"/>
                  <a:pt x="10496339" y="0"/>
                </a:cubicBezTo>
                <a:cubicBezTo>
                  <a:pt x="10500770" y="203087"/>
                  <a:pt x="10472537" y="278822"/>
                  <a:pt x="10496339" y="425749"/>
                </a:cubicBezTo>
                <a:cubicBezTo>
                  <a:pt x="10520141" y="572676"/>
                  <a:pt x="10455406" y="762832"/>
                  <a:pt x="10496339" y="1075576"/>
                </a:cubicBezTo>
                <a:cubicBezTo>
                  <a:pt x="10537272" y="1388320"/>
                  <a:pt x="10472645" y="1306247"/>
                  <a:pt x="10496339" y="1501324"/>
                </a:cubicBezTo>
                <a:cubicBezTo>
                  <a:pt x="10520033" y="1696401"/>
                  <a:pt x="10493685" y="1863888"/>
                  <a:pt x="10496339" y="2151151"/>
                </a:cubicBezTo>
                <a:cubicBezTo>
                  <a:pt x="10498993" y="2438414"/>
                  <a:pt x="10493222" y="2575282"/>
                  <a:pt x="10496339" y="2756162"/>
                </a:cubicBezTo>
                <a:cubicBezTo>
                  <a:pt x="10499456" y="2937042"/>
                  <a:pt x="10476192" y="3112630"/>
                  <a:pt x="10496339" y="3405989"/>
                </a:cubicBezTo>
                <a:cubicBezTo>
                  <a:pt x="10516486" y="3699348"/>
                  <a:pt x="10462918" y="3793229"/>
                  <a:pt x="10496339" y="3966185"/>
                </a:cubicBezTo>
                <a:cubicBezTo>
                  <a:pt x="10529760" y="4139141"/>
                  <a:pt x="10466070" y="4275765"/>
                  <a:pt x="10496339" y="4481565"/>
                </a:cubicBezTo>
                <a:cubicBezTo>
                  <a:pt x="10305806" y="4561531"/>
                  <a:pt x="10126625" y="4449431"/>
                  <a:pt x="9808246" y="4481565"/>
                </a:cubicBezTo>
                <a:cubicBezTo>
                  <a:pt x="9489867" y="4513699"/>
                  <a:pt x="9432544" y="4467492"/>
                  <a:pt x="9330079" y="4481565"/>
                </a:cubicBezTo>
                <a:cubicBezTo>
                  <a:pt x="9227614" y="4495638"/>
                  <a:pt x="9126993" y="4453216"/>
                  <a:pt x="9061839" y="4481565"/>
                </a:cubicBezTo>
                <a:cubicBezTo>
                  <a:pt x="8996685" y="4509914"/>
                  <a:pt x="8864345" y="4460403"/>
                  <a:pt x="8793600" y="4481565"/>
                </a:cubicBezTo>
                <a:cubicBezTo>
                  <a:pt x="8722855" y="4502727"/>
                  <a:pt x="8322480" y="4417797"/>
                  <a:pt x="8105506" y="4481565"/>
                </a:cubicBezTo>
                <a:cubicBezTo>
                  <a:pt x="7888532" y="4545333"/>
                  <a:pt x="7568719" y="4445080"/>
                  <a:pt x="7417413" y="4481565"/>
                </a:cubicBezTo>
                <a:cubicBezTo>
                  <a:pt x="7266107" y="4518050"/>
                  <a:pt x="7101988" y="4443138"/>
                  <a:pt x="6834283" y="4481565"/>
                </a:cubicBezTo>
                <a:cubicBezTo>
                  <a:pt x="6566578" y="4519992"/>
                  <a:pt x="6622442" y="4458282"/>
                  <a:pt x="6566043" y="4481565"/>
                </a:cubicBezTo>
                <a:cubicBezTo>
                  <a:pt x="6509644" y="4504848"/>
                  <a:pt x="6294014" y="4452274"/>
                  <a:pt x="6192840" y="4481565"/>
                </a:cubicBezTo>
                <a:cubicBezTo>
                  <a:pt x="6091666" y="4510856"/>
                  <a:pt x="5780980" y="4408574"/>
                  <a:pt x="5399783" y="4481565"/>
                </a:cubicBezTo>
                <a:cubicBezTo>
                  <a:pt x="5018586" y="4554556"/>
                  <a:pt x="5131427" y="4462097"/>
                  <a:pt x="5026580" y="4481565"/>
                </a:cubicBezTo>
                <a:cubicBezTo>
                  <a:pt x="4921733" y="4501033"/>
                  <a:pt x="4460229" y="4430085"/>
                  <a:pt x="4233523" y="4481565"/>
                </a:cubicBezTo>
                <a:cubicBezTo>
                  <a:pt x="4006817" y="4533045"/>
                  <a:pt x="4055137" y="4465178"/>
                  <a:pt x="3965284" y="4481565"/>
                </a:cubicBezTo>
                <a:cubicBezTo>
                  <a:pt x="3875431" y="4497952"/>
                  <a:pt x="3448414" y="4452428"/>
                  <a:pt x="3277190" y="4481565"/>
                </a:cubicBezTo>
                <a:cubicBezTo>
                  <a:pt x="3105966" y="4510702"/>
                  <a:pt x="2823258" y="4394620"/>
                  <a:pt x="2484134" y="4481565"/>
                </a:cubicBezTo>
                <a:cubicBezTo>
                  <a:pt x="2145010" y="4568510"/>
                  <a:pt x="2290502" y="4468217"/>
                  <a:pt x="2215894" y="4481565"/>
                </a:cubicBezTo>
                <a:cubicBezTo>
                  <a:pt x="2141286" y="4494913"/>
                  <a:pt x="1918885" y="4440564"/>
                  <a:pt x="1632764" y="4481565"/>
                </a:cubicBezTo>
                <a:cubicBezTo>
                  <a:pt x="1346643" y="4522566"/>
                  <a:pt x="1263249" y="4465318"/>
                  <a:pt x="1049634" y="4481565"/>
                </a:cubicBezTo>
                <a:cubicBezTo>
                  <a:pt x="836019" y="4497812"/>
                  <a:pt x="888773" y="4455413"/>
                  <a:pt x="781394" y="4481565"/>
                </a:cubicBezTo>
                <a:cubicBezTo>
                  <a:pt x="674015" y="4507717"/>
                  <a:pt x="297178" y="4398749"/>
                  <a:pt x="0" y="4481565"/>
                </a:cubicBezTo>
                <a:cubicBezTo>
                  <a:pt x="-47823" y="4374298"/>
                  <a:pt x="50680" y="4154270"/>
                  <a:pt x="0" y="4011001"/>
                </a:cubicBezTo>
                <a:cubicBezTo>
                  <a:pt x="-50680" y="3867732"/>
                  <a:pt x="24210" y="3675637"/>
                  <a:pt x="0" y="3540436"/>
                </a:cubicBezTo>
                <a:cubicBezTo>
                  <a:pt x="-24210" y="3405235"/>
                  <a:pt x="1148" y="3177968"/>
                  <a:pt x="0" y="2980241"/>
                </a:cubicBezTo>
                <a:cubicBezTo>
                  <a:pt x="-1148" y="2782515"/>
                  <a:pt x="59206" y="2674523"/>
                  <a:pt x="0" y="2375229"/>
                </a:cubicBezTo>
                <a:cubicBezTo>
                  <a:pt x="-59206" y="2075935"/>
                  <a:pt x="13763" y="2148271"/>
                  <a:pt x="0" y="1949481"/>
                </a:cubicBezTo>
                <a:cubicBezTo>
                  <a:pt x="-13763" y="1750691"/>
                  <a:pt x="60221" y="1650552"/>
                  <a:pt x="0" y="1434101"/>
                </a:cubicBezTo>
                <a:cubicBezTo>
                  <a:pt x="-60221" y="1217650"/>
                  <a:pt x="1267" y="1200152"/>
                  <a:pt x="0" y="1008352"/>
                </a:cubicBezTo>
                <a:cubicBezTo>
                  <a:pt x="-1267" y="816552"/>
                  <a:pt x="45221" y="730812"/>
                  <a:pt x="0" y="537788"/>
                </a:cubicBezTo>
                <a:cubicBezTo>
                  <a:pt x="-45221" y="344764"/>
                  <a:pt x="13607" y="192928"/>
                  <a:pt x="0" y="0"/>
                </a:cubicBezTo>
                <a:close/>
              </a:path>
            </a:pathLst>
          </a:custGeom>
          <a:solidFill>
            <a:schemeClr val="bg1"/>
          </a:solidFill>
          <a:ln>
            <a:noFill/>
            <a:extLst>
              <a:ext uri="{C807C97D-BFC1-408E-A445-0C87EB9F89A2}">
                <ask:lineSketchStyleProps xmlns:ask="http://schemas.microsoft.com/office/drawing/2018/sketchyshapes" sd="2606297529">
                  <a:prstGeom prst="rect">
                    <a:avLst/>
                  </a:prstGeom>
                  <ask:type>
                    <ask:lineSketchScribble/>
                  </ask:type>
                </ask:lineSketchStyleProps>
              </a:ext>
            </a:extLs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lgn="r"/>
            <a:endParaRPr lang="en-IN">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a:xfrm>
            <a:off x="128016" y="1517297"/>
            <a:ext cx="11711230" cy="4808702"/>
          </a:xfrm>
          <a:ln>
            <a:solidFill>
              <a:schemeClr val="bg1"/>
            </a:solidFill>
          </a:ln>
          <a:effectLst>
            <a:outerShdw blurRad="152400" dist="317500" dir="5400000" sx="90000" sy="-19000" rotWithShape="0">
              <a:prstClr val="black">
                <a:alpha val="15000"/>
              </a:prstClr>
            </a:outerShdw>
          </a:effectLst>
        </p:spPr>
        <p:txBody>
          <a:bodyPr vert="horz" lIns="91440" tIns="45720" rIns="91440" bIns="45720" rtlCol="0" anchor="t">
            <a:normAutofit/>
          </a:bodyPr>
          <a:lstStyle/>
          <a:p>
            <a:pPr marL="0" indent="0" algn="just">
              <a:lnSpc>
                <a:spcPct val="100000"/>
              </a:lnSpc>
              <a:buNone/>
            </a:pPr>
            <a:r>
              <a:rPr lang="en-IN" sz="2000" b="1" dirty="0"/>
              <a:t>💡</a:t>
            </a:r>
            <a:r>
              <a:rPr lang="en-IN" sz="2400" b="1" dirty="0">
                <a:latin typeface="Arial"/>
                <a:cs typeface="Arial"/>
              </a:rPr>
              <a:t>OVERVIEW OF PROJECT / BACKGROUND AND CONTEXT </a:t>
            </a:r>
          </a:p>
          <a:p>
            <a:pPr marL="457200" lvl="1" indent="0" algn="just">
              <a:lnSpc>
                <a:spcPct val="110000"/>
              </a:lnSpc>
              <a:buNone/>
            </a:pPr>
            <a:r>
              <a:rPr lang="en-US" sz="2000" dirty="0"/>
              <a:t>Traditional classroom assessments often fail to capture students’ real-time engagement, emotions, and understanding during the lesson. With machine learning and computer vision, it is now possible to analyze facial expressions, eye movement, and behaviour from live video feeds to understand how students are reacting during class. This project focuses on creating a system that monitors these behavioural cues continuously to provide a clearer picture of students’ learning states.</a:t>
            </a:r>
          </a:p>
          <a:p>
            <a:pPr marL="457200" lvl="1" indent="0" algn="just">
              <a:lnSpc>
                <a:spcPct val="110000"/>
              </a:lnSpc>
              <a:buNone/>
            </a:pPr>
            <a:endParaRPr lang="en-IN" sz="2000" b="1" dirty="0"/>
          </a:p>
          <a:p>
            <a:pPr marL="0" indent="0" algn="just">
              <a:lnSpc>
                <a:spcPct val="100000"/>
              </a:lnSpc>
              <a:buNone/>
            </a:pPr>
            <a:r>
              <a:rPr lang="en-US" sz="2400" dirty="0"/>
              <a:t> </a:t>
            </a:r>
            <a:r>
              <a:rPr lang="en-IN" dirty="0"/>
              <a:t>🔒</a:t>
            </a:r>
            <a:r>
              <a:rPr lang="en-IN" sz="2400" b="1" dirty="0">
                <a:latin typeface="Arial"/>
                <a:cs typeface="Arial"/>
              </a:rPr>
              <a:t>IMPORTANCE</a:t>
            </a:r>
            <a:r>
              <a:rPr lang="en-US" sz="2400" b="1" dirty="0">
                <a:latin typeface="Arial"/>
                <a:cs typeface="Arial"/>
              </a:rPr>
              <a:t> </a:t>
            </a:r>
          </a:p>
          <a:p>
            <a:pPr marL="457200" lvl="1" indent="0" algn="just">
              <a:lnSpc>
                <a:spcPct val="100000"/>
              </a:lnSpc>
              <a:buNone/>
            </a:pPr>
            <a:r>
              <a:rPr lang="en-US" sz="2000" dirty="0"/>
              <a:t>The system offers valuable insights that help teachers identify early signs of distraction, confusion, boredom, or academic struggle. By providing automated, real-time analytics, it reduces the limitations of manual monitoring and enables more adaptive teaching strategies. It also supports personalized learning, improves classroom management, and creates a data-driven approach to enhancing student performance and participation.</a:t>
            </a:r>
            <a:endParaRPr lang="en-IN" sz="2000" dirty="0"/>
          </a:p>
        </p:txBody>
      </p:sp>
      <p:pic>
        <p:nvPicPr>
          <p:cNvPr id="4" name="Picture 2" descr="Sister Nivedita University | Best Private College in India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3374" y="173038"/>
            <a:ext cx="2965872" cy="9121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2224" y="132134"/>
            <a:ext cx="5355772" cy="1103813"/>
          </a:xfrm>
        </p:spPr>
        <p:txBody>
          <a:bodyPr>
            <a:noAutofit/>
          </a:bodyPr>
          <a:lstStyle/>
          <a:p>
            <a:r>
              <a:rPr lang="en-US" sz="3600">
                <a:latin typeface="Arial" panose="020B0604020202020204" pitchFamily="34" charset="0"/>
                <a:cs typeface="Arial" panose="020B0604020202020204" pitchFamily="34" charset="0"/>
              </a:rPr>
              <a:t>LITERATURE </a:t>
            </a:r>
            <a:r>
              <a:rPr lang="en-IN" altLang="en-US" sz="3600">
                <a:latin typeface="Arial" panose="020B0604020202020204" pitchFamily="34" charset="0"/>
                <a:cs typeface="Arial" panose="020B0604020202020204" pitchFamily="34" charset="0"/>
              </a:rPr>
              <a:t>SURVEY</a:t>
            </a:r>
          </a:p>
        </p:txBody>
      </p:sp>
      <p:sp>
        <p:nvSpPr>
          <p:cNvPr id="3" name="Content Placeholder 2"/>
          <p:cNvSpPr>
            <a:spLocks noGrp="1"/>
          </p:cNvSpPr>
          <p:nvPr>
            <p:ph idx="1"/>
          </p:nvPr>
        </p:nvSpPr>
        <p:spPr>
          <a:xfrm>
            <a:off x="-110532" y="1160585"/>
            <a:ext cx="11949777" cy="5348531"/>
          </a:xfrm>
        </p:spPr>
        <p:txBody>
          <a:bodyPr>
            <a:normAutofit fontScale="77500" lnSpcReduction="20000"/>
          </a:bodyPr>
          <a:lstStyle/>
          <a:p>
            <a:pPr marL="457200" lvl="1" indent="0">
              <a:lnSpc>
                <a:spcPct val="120000"/>
              </a:lnSpc>
              <a:buNone/>
            </a:pPr>
            <a:r>
              <a:rPr lang="en-IN" b="1" dirty="0">
                <a:solidFill>
                  <a:srgbClr val="0D0D0D"/>
                </a:solidFill>
                <a:highlight>
                  <a:srgbClr val="FFFFFF"/>
                </a:highlight>
                <a:latin typeface="Arial" panose="020B0604020202020204" pitchFamily="34" charset="0"/>
                <a:cs typeface="Arial" panose="020B0604020202020204" pitchFamily="34" charset="0"/>
              </a:rPr>
              <a:t>🔎</a:t>
            </a:r>
            <a:r>
              <a:rPr lang="en-US" sz="2800" b="1" dirty="0">
                <a:solidFill>
                  <a:srgbClr val="0D0D0D"/>
                </a:solidFill>
                <a:highlight>
                  <a:srgbClr val="FFFFFF"/>
                </a:highlight>
                <a:latin typeface="Arial" panose="020B0604020202020204" pitchFamily="34" charset="0"/>
                <a:cs typeface="Arial" panose="020B0604020202020204" pitchFamily="34" charset="0"/>
              </a:rPr>
              <a:t>Summary of Relevant Research</a:t>
            </a:r>
          </a:p>
          <a:p>
            <a:pPr marL="457200" lvl="1" indent="0" algn="just">
              <a:lnSpc>
                <a:spcPct val="120000"/>
              </a:lnSpc>
              <a:buNone/>
            </a:pPr>
            <a:r>
              <a:rPr lang="en-US" sz="2000" dirty="0">
                <a:solidFill>
                  <a:srgbClr val="0D0D0D"/>
                </a:solidFill>
                <a:cs typeface="Arial" panose="020B0604020202020204" pitchFamily="34" charset="0"/>
              </a:rPr>
              <a:t>        We reviewed several papers related to real-time classroom monitoring, emotion detection, and student engagement analysis using machine learning. Most studies focused on facial expression recognition, eye tracking, and head-pose estimation to understand students’ emotional and attentiveness levels. Deep learning models such as CNNs, Haar Cascades, and VGGNet were frequently used to classify emotions like happy, confused, bored, or sad. Some research also used body movement patterns to measure attention. However, many of these systems were tested only in controlled lab settings, did not work in real time, or focused on just one behaviour instead of combining both emotional and physical cues.</a:t>
            </a:r>
          </a:p>
          <a:p>
            <a:pPr marL="457200" lvl="1" indent="0" algn="just">
              <a:lnSpc>
                <a:spcPct val="120000"/>
              </a:lnSpc>
              <a:buNone/>
            </a:pPr>
            <a:endParaRPr lang="en-US" sz="2000" dirty="0">
              <a:solidFill>
                <a:srgbClr val="0D0D0D"/>
              </a:solidFill>
              <a:highlight>
                <a:srgbClr val="FFFFFF"/>
              </a:highlight>
              <a:cs typeface="Arial" panose="020B0604020202020204" pitchFamily="34" charset="0"/>
            </a:endParaRPr>
          </a:p>
          <a:p>
            <a:pPr marL="457200" lvl="1" indent="0">
              <a:lnSpc>
                <a:spcPct val="120000"/>
              </a:lnSpc>
              <a:buNone/>
            </a:pPr>
            <a:r>
              <a:rPr lang="en-IN" b="1" dirty="0">
                <a:solidFill>
                  <a:srgbClr val="0D0D0D"/>
                </a:solidFill>
                <a:highlight>
                  <a:srgbClr val="FFFFFF"/>
                </a:highlight>
                <a:latin typeface="Arial" panose="020B0604020202020204" pitchFamily="34" charset="0"/>
                <a:cs typeface="Arial" panose="020B0604020202020204" pitchFamily="34" charset="0"/>
              </a:rPr>
              <a:t>🔰</a:t>
            </a:r>
            <a:r>
              <a:rPr lang="en-US" sz="2800" b="1" dirty="0">
                <a:solidFill>
                  <a:srgbClr val="0D0D0D"/>
                </a:solidFill>
                <a:highlight>
                  <a:srgbClr val="FFFFFF"/>
                </a:highlight>
                <a:latin typeface="Arial" panose="020B0604020202020204" pitchFamily="34" charset="0"/>
                <a:cs typeface="Arial" panose="020B0604020202020204" pitchFamily="34" charset="0"/>
              </a:rPr>
              <a:t>Gaps in Existing Knowledge or Applications</a:t>
            </a:r>
            <a:endParaRPr lang="en-US" b="1" dirty="0">
              <a:solidFill>
                <a:srgbClr val="0D0D0D"/>
              </a:solidFill>
              <a:highlight>
                <a:srgbClr val="FFFFFF"/>
              </a:highlight>
              <a:latin typeface="Arial" panose="020B0604020202020204" pitchFamily="34" charset="0"/>
              <a:cs typeface="Arial" panose="020B0604020202020204" pitchFamily="34" charset="0"/>
            </a:endParaRPr>
          </a:p>
          <a:p>
            <a:pPr marL="457200" lvl="1" indent="0" algn="just">
              <a:lnSpc>
                <a:spcPct val="120000"/>
              </a:lnSpc>
              <a:buNone/>
            </a:pPr>
            <a:r>
              <a:rPr lang="en-US" sz="1800" i="1" dirty="0"/>
              <a:t>     </a:t>
            </a:r>
            <a:r>
              <a:rPr lang="en-US" sz="2200" u="sng" dirty="0"/>
              <a:t>While the reviewed research showed promising results, several important gaps still remain:</a:t>
            </a:r>
          </a:p>
          <a:p>
            <a:pPr lvl="1" algn="just">
              <a:lnSpc>
                <a:spcPct val="120000"/>
              </a:lnSpc>
              <a:buFont typeface="Wingdings" panose="05000000000000000000" pitchFamily="2" charset="2"/>
              <a:buChar char="§"/>
            </a:pPr>
            <a:r>
              <a:rPr lang="en-US" sz="2000" dirty="0"/>
              <a:t>Most systems are tested in controlled environments, not in real classrooms where lighting, movement, and camera angles vary.</a:t>
            </a:r>
          </a:p>
          <a:p>
            <a:pPr lvl="1" algn="just">
              <a:lnSpc>
                <a:spcPct val="120000"/>
              </a:lnSpc>
              <a:buFont typeface="Wingdings" panose="05000000000000000000" pitchFamily="2" charset="2"/>
              <a:buChar char="§"/>
            </a:pPr>
            <a:r>
              <a:rPr lang="en-US" sz="2000" dirty="0"/>
              <a:t>Many studies lack true real-time performance, making them difficult to use during live teaching sessions.</a:t>
            </a:r>
          </a:p>
          <a:p>
            <a:pPr lvl="1" algn="just">
              <a:lnSpc>
                <a:spcPct val="120000"/>
              </a:lnSpc>
              <a:buFont typeface="Wingdings" panose="05000000000000000000" pitchFamily="2" charset="2"/>
              <a:buChar char="§"/>
            </a:pPr>
            <a:r>
              <a:rPr lang="en-US" sz="2000" dirty="0"/>
              <a:t>Existing models often analyze only one factor, such as facial emotion or eye movement, instead of combining multiple cues like facial expressions, head pose, and engagement.</a:t>
            </a:r>
          </a:p>
          <a:p>
            <a:pPr lvl="1" algn="just">
              <a:lnSpc>
                <a:spcPct val="120000"/>
              </a:lnSpc>
              <a:buFont typeface="Wingdings" panose="05000000000000000000" pitchFamily="2" charset="2"/>
              <a:buChar char="§"/>
            </a:pPr>
            <a:r>
              <a:rPr lang="en-US" sz="2000" dirty="0"/>
              <a:t>Few systems are optimized for low-cost or portable setups, making deployment difficult in schools with limited resources.</a:t>
            </a:r>
          </a:p>
          <a:p>
            <a:pPr lvl="1" algn="just">
              <a:lnSpc>
                <a:spcPct val="120000"/>
              </a:lnSpc>
              <a:buFont typeface="Wingdings" panose="05000000000000000000" pitchFamily="2" charset="2"/>
              <a:buChar char="§"/>
            </a:pPr>
            <a:r>
              <a:rPr lang="en-US" sz="2000" dirty="0"/>
              <a:t>Few solutions are designed for practical use in everyday teaching.</a:t>
            </a:r>
          </a:p>
          <a:p>
            <a:pPr marL="457200" lvl="1" indent="0" algn="just">
              <a:lnSpc>
                <a:spcPct val="120000"/>
              </a:lnSpc>
              <a:buNone/>
            </a:pPr>
            <a:r>
              <a:rPr lang="en-US" sz="2000" b="1" i="1" dirty="0"/>
              <a:t>    These are the key limitations that highlight the need for more robust, real-time, and classroom-friendly solutions</a:t>
            </a:r>
            <a:r>
              <a:rPr lang="en-US" sz="1800" i="1" dirty="0"/>
              <a:t>.</a:t>
            </a:r>
            <a:endParaRPr lang="en-US" sz="1800" i="1" dirty="0">
              <a:solidFill>
                <a:srgbClr val="0D0D0D"/>
              </a:solidFill>
              <a:highlight>
                <a:srgbClr val="FFFFFF"/>
              </a:highlight>
            </a:endParaRPr>
          </a:p>
        </p:txBody>
      </p:sp>
      <p:pic>
        <p:nvPicPr>
          <p:cNvPr id="4" name="Picture 2" descr="Sister Nivedita University | Best Private College in India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00085" y="348885"/>
            <a:ext cx="2639160" cy="811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3A44C26-A72D-247C-25C9-ABF6018CB574}"/>
              </a:ext>
            </a:extLst>
          </p:cNvPr>
          <p:cNvSpPr/>
          <p:nvPr/>
        </p:nvSpPr>
        <p:spPr>
          <a:xfrm>
            <a:off x="5544853" y="859536"/>
            <a:ext cx="6320413" cy="5581457"/>
          </a:xfrm>
          <a:prstGeom prst="rect">
            <a:avLst/>
          </a:prstGeom>
          <a:ln>
            <a:solidFill>
              <a:schemeClr val="bg2"/>
            </a:solidFill>
          </a:ln>
          <a:effectLst>
            <a:glow rad="228600">
              <a:schemeClr val="accent3">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 name="Title 1"/>
          <p:cNvSpPr>
            <a:spLocks noGrp="1"/>
          </p:cNvSpPr>
          <p:nvPr>
            <p:ph type="title"/>
          </p:nvPr>
        </p:nvSpPr>
        <p:spPr>
          <a:xfrm>
            <a:off x="755450" y="771317"/>
            <a:ext cx="4259558" cy="1197308"/>
          </a:xfrm>
          <a:ln>
            <a:noFill/>
          </a:ln>
        </p:spPr>
        <p:txBody>
          <a:bodyPr>
            <a:normAutofit/>
          </a:bodyPr>
          <a:lstStyle/>
          <a:p>
            <a:pPr algn="ctr"/>
            <a:r>
              <a:rPr sz="3200" dirty="0">
                <a:latin typeface="Arial"/>
                <a:cs typeface="Arial"/>
                <a:sym typeface="+mn-ea"/>
              </a:rPr>
              <a:t>P</a:t>
            </a:r>
            <a:r>
              <a:rPr lang="en-IN" sz="3200" dirty="0">
                <a:latin typeface="Arial"/>
                <a:cs typeface="Arial"/>
                <a:sym typeface="+mn-ea"/>
              </a:rPr>
              <a:t>ROBLEM IDENTIFICATION</a:t>
            </a:r>
            <a:endParaRPr lang="en-IN" sz="3200" dirty="0">
              <a:latin typeface="Arial"/>
              <a:cs typeface="Arial"/>
            </a:endParaRPr>
          </a:p>
        </p:txBody>
      </p:sp>
      <p:sp>
        <p:nvSpPr>
          <p:cNvPr id="3" name="Content Placeholder 2"/>
          <p:cNvSpPr>
            <a:spLocks noGrp="1"/>
          </p:cNvSpPr>
          <p:nvPr>
            <p:ph type="body" sz="half" idx="2"/>
          </p:nvPr>
        </p:nvSpPr>
        <p:spPr>
          <a:xfrm>
            <a:off x="256032" y="2119743"/>
            <a:ext cx="4965383" cy="4228263"/>
          </a:xfrm>
          <a:ln>
            <a:noFill/>
            <a:extLst>
              <a:ext uri="{C807C97D-BFC1-408E-A445-0C87EB9F89A2}">
                <ask:lineSketchStyleProps xmlns:ask="http://schemas.microsoft.com/office/drawing/2018/sketchyshapes">
                  <ask:type>
                    <ask:lineSketchNone/>
                  </ask:type>
                </ask:lineSketchStyleProps>
              </a:ext>
            </a:extLst>
          </a:ln>
          <a:effectLst/>
        </p:spPr>
        <p:txBody>
          <a:bodyPr vert="horz" lIns="91440" tIns="45720" rIns="91440" bIns="45720" rtlCol="0" anchor="t">
            <a:normAutofit/>
          </a:bodyPr>
          <a:lstStyle/>
          <a:p>
            <a:pPr algn="ctr"/>
            <a:r>
              <a:rPr lang="en-US" sz="2400" b="0" i="1" dirty="0">
                <a:solidFill>
                  <a:srgbClr val="0D0D0D"/>
                </a:solidFill>
                <a:effectLst>
                  <a:outerShdw blurRad="38100" dist="38100" dir="2700000" algn="tl">
                    <a:srgbClr val="000000">
                      <a:alpha val="43137"/>
                    </a:srgbClr>
                  </a:outerShdw>
                </a:effectLst>
                <a:highlight>
                  <a:srgbClr val="FFFFFF"/>
                </a:highlight>
                <a:latin typeface="Cambria"/>
                <a:ea typeface="Cambria"/>
              </a:rPr>
              <a:t>Description of the Problem</a:t>
            </a:r>
          </a:p>
          <a:p>
            <a:pPr algn="just"/>
            <a:r>
              <a:rPr lang="en-US" sz="1800" dirty="0">
                <a:highlight>
                  <a:srgbClr val="FFFFFF"/>
                </a:highlight>
              </a:rPr>
              <a:t>Traditional classroom monitoring methods—such as teacher observations, attendance, or exam performance—do not capture students’ real-time engagement, attention levels, or emotional states during lessons. Teachers often fail to notice when students are distracted, confused, bored, or struggling, especially in large classrooms. Manual monitoring is time-consuming, subjective, and often inaccurate. </a:t>
            </a:r>
          </a:p>
          <a:p>
            <a:pPr algn="ctr"/>
            <a:r>
              <a:rPr lang="en-US" sz="1800" b="1" i="1" dirty="0">
                <a:highlight>
                  <a:srgbClr val="FFFFFF"/>
                </a:highlight>
              </a:rPr>
              <a:t>There is a need for an automated, intelligent system that can continuously analyze student behaviour using machine learning to provide immediate insights into classroom performance.</a:t>
            </a:r>
            <a:endParaRPr lang="en-IN" sz="1800" b="1" i="1" dirty="0"/>
          </a:p>
          <a:p>
            <a:endParaRPr lang="en-US" sz="1800" dirty="0">
              <a:highlight>
                <a:srgbClr val="FFFFFF"/>
              </a:highlight>
            </a:endParaRPr>
          </a:p>
        </p:txBody>
      </p:sp>
      <p:pic>
        <p:nvPicPr>
          <p:cNvPr id="4" name="Picture 2" descr="Sister Nivedita University | Best Private College in India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3183" y="54393"/>
            <a:ext cx="2474243" cy="694079"/>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Rounded Corners 15">
            <a:extLst>
              <a:ext uri="{FF2B5EF4-FFF2-40B4-BE49-F238E27FC236}">
                <a16:creationId xmlns:a16="http://schemas.microsoft.com/office/drawing/2014/main" id="{82C69D91-E9FD-5EB5-2A49-BA44F861BE27}"/>
              </a:ext>
            </a:extLst>
          </p:cNvPr>
          <p:cNvSpPr/>
          <p:nvPr/>
        </p:nvSpPr>
        <p:spPr>
          <a:xfrm>
            <a:off x="8006492" y="954593"/>
            <a:ext cx="1447800" cy="1004510"/>
          </a:xfrm>
          <a:prstGeom prst="roundRect">
            <a:avLst/>
          </a:prstGeom>
          <a:solidFill>
            <a:schemeClr val="accent4"/>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lumMod val="95000"/>
                    <a:lumOff val="5000"/>
                  </a:schemeClr>
                </a:solidFill>
              </a:rPr>
              <a:t>Detect and analyze students’ facial expressions to identify emotional states.</a:t>
            </a:r>
            <a:endParaRPr lang="en-IN" sz="1100" b="1" dirty="0">
              <a:solidFill>
                <a:schemeClr val="tx1">
                  <a:lumMod val="95000"/>
                  <a:lumOff val="5000"/>
                </a:schemeClr>
              </a:solidFill>
            </a:endParaRPr>
          </a:p>
        </p:txBody>
      </p:sp>
      <p:sp>
        <p:nvSpPr>
          <p:cNvPr id="17" name="Rectangle: Rounded Corners 16">
            <a:extLst>
              <a:ext uri="{FF2B5EF4-FFF2-40B4-BE49-F238E27FC236}">
                <a16:creationId xmlns:a16="http://schemas.microsoft.com/office/drawing/2014/main" id="{A37084CA-5AF4-FCC5-45B9-3699E6D4509A}"/>
              </a:ext>
            </a:extLst>
          </p:cNvPr>
          <p:cNvSpPr/>
          <p:nvPr/>
        </p:nvSpPr>
        <p:spPr>
          <a:xfrm>
            <a:off x="9596115" y="1481265"/>
            <a:ext cx="1457070" cy="1150810"/>
          </a:xfrm>
          <a:prstGeom prst="roundRect">
            <a:avLst/>
          </a:prstGeom>
          <a:solidFill>
            <a:schemeClr val="accent2">
              <a:lumMod val="40000"/>
              <a:lumOff val="60000"/>
            </a:schemeClr>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lumMod val="95000"/>
                    <a:lumOff val="5000"/>
                  </a:schemeClr>
                </a:solidFill>
              </a:rPr>
              <a:t>Monitor eye movement, lip movement, and head direction to measure attentiveness.</a:t>
            </a:r>
            <a:endParaRPr lang="en-IN" sz="1100" b="1" dirty="0">
              <a:solidFill>
                <a:schemeClr val="tx1">
                  <a:lumMod val="95000"/>
                  <a:lumOff val="5000"/>
                </a:schemeClr>
              </a:solidFill>
            </a:endParaRPr>
          </a:p>
        </p:txBody>
      </p:sp>
      <p:sp>
        <p:nvSpPr>
          <p:cNvPr id="18" name="Rectangle: Rounded Corners 17">
            <a:extLst>
              <a:ext uri="{FF2B5EF4-FFF2-40B4-BE49-F238E27FC236}">
                <a16:creationId xmlns:a16="http://schemas.microsoft.com/office/drawing/2014/main" id="{BE9B036E-E7EC-C20C-C26F-667F0461F4CF}"/>
              </a:ext>
            </a:extLst>
          </p:cNvPr>
          <p:cNvSpPr/>
          <p:nvPr/>
        </p:nvSpPr>
        <p:spPr>
          <a:xfrm>
            <a:off x="6127721" y="1456848"/>
            <a:ext cx="1554566" cy="1161294"/>
          </a:xfrm>
          <a:prstGeom prst="roundRect">
            <a:avLst/>
          </a:prstGeom>
          <a:solidFill>
            <a:schemeClr val="accent2">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lumMod val="95000"/>
                    <a:lumOff val="5000"/>
                  </a:schemeClr>
                </a:solidFill>
              </a:rPr>
              <a:t>Support personalized learning with detailed behavioural insights.</a:t>
            </a:r>
            <a:endParaRPr lang="en-IN" sz="1200" b="1" dirty="0">
              <a:solidFill>
                <a:schemeClr val="tx1">
                  <a:lumMod val="95000"/>
                  <a:lumOff val="5000"/>
                </a:schemeClr>
              </a:solidFill>
            </a:endParaRPr>
          </a:p>
        </p:txBody>
      </p:sp>
      <p:pic>
        <p:nvPicPr>
          <p:cNvPr id="19" name="Picture 18">
            <a:extLst>
              <a:ext uri="{FF2B5EF4-FFF2-40B4-BE49-F238E27FC236}">
                <a16:creationId xmlns:a16="http://schemas.microsoft.com/office/drawing/2014/main" id="{B5979367-1592-AEA6-3858-C26D7B01DDEB}"/>
              </a:ext>
            </a:extLst>
          </p:cNvPr>
          <p:cNvPicPr>
            <a:picLocks noChangeAspect="1"/>
          </p:cNvPicPr>
          <p:nvPr/>
        </p:nvPicPr>
        <p:blipFill>
          <a:blip r:embed="rId3"/>
          <a:stretch>
            <a:fillRect/>
          </a:stretch>
        </p:blipFill>
        <p:spPr>
          <a:xfrm>
            <a:off x="5639866" y="3017627"/>
            <a:ext cx="1481389" cy="1139270"/>
          </a:xfrm>
          <a:prstGeom prst="rect">
            <a:avLst/>
          </a:prstGeom>
          <a:effectLst>
            <a:outerShdw blurRad="50800" dist="38100" algn="l" rotWithShape="0">
              <a:prstClr val="black">
                <a:alpha val="40000"/>
              </a:prstClr>
            </a:outerShdw>
          </a:effectLst>
        </p:spPr>
      </p:pic>
      <p:pic>
        <p:nvPicPr>
          <p:cNvPr id="20" name="Picture 19">
            <a:extLst>
              <a:ext uri="{FF2B5EF4-FFF2-40B4-BE49-F238E27FC236}">
                <a16:creationId xmlns:a16="http://schemas.microsoft.com/office/drawing/2014/main" id="{6956A4C8-E495-299C-3FD3-2F2CBD5E1A7E}"/>
              </a:ext>
            </a:extLst>
          </p:cNvPr>
          <p:cNvPicPr>
            <a:picLocks noChangeAspect="1"/>
          </p:cNvPicPr>
          <p:nvPr/>
        </p:nvPicPr>
        <p:blipFill>
          <a:blip r:embed="rId3">
            <a:duotone>
              <a:schemeClr val="accent2">
                <a:shade val="45000"/>
                <a:satMod val="135000"/>
              </a:schemeClr>
              <a:prstClr val="white"/>
            </a:duotone>
          </a:blip>
          <a:stretch>
            <a:fillRect/>
          </a:stretch>
        </p:blipFill>
        <p:spPr>
          <a:xfrm>
            <a:off x="6419043" y="4513873"/>
            <a:ext cx="1457070" cy="1108562"/>
          </a:xfrm>
          <a:prstGeom prst="rect">
            <a:avLst/>
          </a:prstGeom>
          <a:effectLst>
            <a:outerShdw blurRad="50800" dist="38100" algn="l" rotWithShape="0">
              <a:prstClr val="black">
                <a:alpha val="40000"/>
              </a:prstClr>
            </a:outerShdw>
          </a:effectLst>
        </p:spPr>
      </p:pic>
      <p:pic>
        <p:nvPicPr>
          <p:cNvPr id="21" name="Picture 20">
            <a:extLst>
              <a:ext uri="{FF2B5EF4-FFF2-40B4-BE49-F238E27FC236}">
                <a16:creationId xmlns:a16="http://schemas.microsoft.com/office/drawing/2014/main" id="{AAEA76E7-DABA-FF25-801E-1CFF1090D5BB}"/>
              </a:ext>
            </a:extLst>
          </p:cNvPr>
          <p:cNvPicPr>
            <a:picLocks noChangeAspect="1"/>
          </p:cNvPicPr>
          <p:nvPr/>
        </p:nvPicPr>
        <p:blipFill>
          <a:blip r:embed="rId3"/>
          <a:stretch>
            <a:fillRect/>
          </a:stretch>
        </p:blipFill>
        <p:spPr>
          <a:xfrm>
            <a:off x="8006492" y="5207000"/>
            <a:ext cx="1457070" cy="1108562"/>
          </a:xfrm>
          <a:prstGeom prst="rect">
            <a:avLst/>
          </a:prstGeom>
          <a:effectLst>
            <a:outerShdw blurRad="50800" dist="38100" algn="l" rotWithShape="0">
              <a:prstClr val="black">
                <a:alpha val="40000"/>
              </a:prstClr>
            </a:outerShdw>
          </a:effectLst>
        </p:spPr>
      </p:pic>
      <p:sp>
        <p:nvSpPr>
          <p:cNvPr id="22" name="Rectangle: Rounded Corners 21">
            <a:extLst>
              <a:ext uri="{FF2B5EF4-FFF2-40B4-BE49-F238E27FC236}">
                <a16:creationId xmlns:a16="http://schemas.microsoft.com/office/drawing/2014/main" id="{0BA661F2-B347-79C2-D879-53028F18DF35}"/>
              </a:ext>
            </a:extLst>
          </p:cNvPr>
          <p:cNvSpPr/>
          <p:nvPr/>
        </p:nvSpPr>
        <p:spPr>
          <a:xfrm>
            <a:off x="9586785" y="4513874"/>
            <a:ext cx="1447800" cy="1066312"/>
          </a:xfrm>
          <a:prstGeom prst="roundRect">
            <a:avLst/>
          </a:prstGeom>
          <a:solidFill>
            <a:schemeClr val="accent2">
              <a:lumMod val="40000"/>
              <a:lumOff val="60000"/>
            </a:schemeClr>
          </a:solidFill>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1100" b="1" dirty="0">
                <a:solidFill>
                  <a:schemeClr val="tx1">
                    <a:lumMod val="95000"/>
                    <a:lumOff val="5000"/>
                  </a:schemeClr>
                </a:solidFill>
              </a:rPr>
              <a:t>Generate daily, weekly, and monthly engagement reports for each student.</a:t>
            </a:r>
            <a:endParaRPr lang="en-IN" sz="1100" b="1" dirty="0">
              <a:solidFill>
                <a:schemeClr val="tx1">
                  <a:lumMod val="95000"/>
                  <a:lumOff val="5000"/>
                </a:schemeClr>
              </a:solidFill>
            </a:endParaRPr>
          </a:p>
        </p:txBody>
      </p:sp>
      <p:pic>
        <p:nvPicPr>
          <p:cNvPr id="23" name="Picture 22">
            <a:extLst>
              <a:ext uri="{FF2B5EF4-FFF2-40B4-BE49-F238E27FC236}">
                <a16:creationId xmlns:a16="http://schemas.microsoft.com/office/drawing/2014/main" id="{3FA3BCE2-A240-273A-51FB-F021D09101B5}"/>
              </a:ext>
            </a:extLst>
          </p:cNvPr>
          <p:cNvPicPr>
            <a:picLocks noChangeAspect="1"/>
          </p:cNvPicPr>
          <p:nvPr/>
        </p:nvPicPr>
        <p:blipFill>
          <a:blip r:embed="rId3"/>
          <a:stretch>
            <a:fillRect/>
          </a:stretch>
        </p:blipFill>
        <p:spPr>
          <a:xfrm>
            <a:off x="10306050" y="3039818"/>
            <a:ext cx="1457070" cy="1066313"/>
          </a:xfrm>
          <a:prstGeom prst="rect">
            <a:avLst/>
          </a:prstGeom>
          <a:effectLst>
            <a:outerShdw blurRad="50800" dist="38100" algn="l" rotWithShape="0">
              <a:prstClr val="black">
                <a:alpha val="40000"/>
              </a:prstClr>
            </a:outerShdw>
          </a:effectLst>
        </p:spPr>
      </p:pic>
      <p:sp>
        <p:nvSpPr>
          <p:cNvPr id="24" name="Rectangle: Rounded Corners 23">
            <a:extLst>
              <a:ext uri="{FF2B5EF4-FFF2-40B4-BE49-F238E27FC236}">
                <a16:creationId xmlns:a16="http://schemas.microsoft.com/office/drawing/2014/main" id="{BD4C130A-80BE-F1D1-7CB4-D2C3260510C3}"/>
              </a:ext>
            </a:extLst>
          </p:cNvPr>
          <p:cNvSpPr/>
          <p:nvPr/>
        </p:nvSpPr>
        <p:spPr>
          <a:xfrm>
            <a:off x="7547888" y="3014641"/>
            <a:ext cx="2265746" cy="1108562"/>
          </a:xfrm>
          <a:prstGeom prst="roundRect">
            <a:avLst/>
          </a:prstGeom>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t>OBJECTIVES/</a:t>
            </a:r>
          </a:p>
          <a:p>
            <a:pPr algn="ctr"/>
            <a:r>
              <a:rPr lang="en-IN" sz="2800" dirty="0"/>
              <a:t>GOALS</a:t>
            </a:r>
          </a:p>
        </p:txBody>
      </p:sp>
      <p:sp>
        <p:nvSpPr>
          <p:cNvPr id="25" name="TextBox 24">
            <a:extLst>
              <a:ext uri="{FF2B5EF4-FFF2-40B4-BE49-F238E27FC236}">
                <a16:creationId xmlns:a16="http://schemas.microsoft.com/office/drawing/2014/main" id="{4F657321-9541-44A3-23A5-791CEF3C3815}"/>
              </a:ext>
            </a:extLst>
          </p:cNvPr>
          <p:cNvSpPr txBox="1"/>
          <p:nvPr/>
        </p:nvSpPr>
        <p:spPr>
          <a:xfrm>
            <a:off x="10306050" y="3193753"/>
            <a:ext cx="1487360" cy="769441"/>
          </a:xfrm>
          <a:prstGeom prst="rect">
            <a:avLst/>
          </a:prstGeom>
          <a:noFill/>
        </p:spPr>
        <p:txBody>
          <a:bodyPr wrap="square" rtlCol="0">
            <a:spAutoFit/>
          </a:bodyPr>
          <a:lstStyle/>
          <a:p>
            <a:pPr algn="ctr"/>
            <a:r>
              <a:rPr lang="en-US" sz="1100" b="1" dirty="0">
                <a:solidFill>
                  <a:schemeClr val="tx1">
                    <a:lumMod val="95000"/>
                    <a:lumOff val="5000"/>
                  </a:schemeClr>
                </a:solidFill>
              </a:rPr>
              <a:t>Classify each student as attentive or inattentive based on behaviour.</a:t>
            </a:r>
            <a:endParaRPr lang="en-IN" sz="1100" b="1" dirty="0">
              <a:solidFill>
                <a:schemeClr val="tx1">
                  <a:lumMod val="95000"/>
                  <a:lumOff val="5000"/>
                </a:schemeClr>
              </a:solidFill>
            </a:endParaRPr>
          </a:p>
        </p:txBody>
      </p:sp>
      <p:sp>
        <p:nvSpPr>
          <p:cNvPr id="27" name="TextBox 26">
            <a:extLst>
              <a:ext uri="{FF2B5EF4-FFF2-40B4-BE49-F238E27FC236}">
                <a16:creationId xmlns:a16="http://schemas.microsoft.com/office/drawing/2014/main" id="{8C26AC3F-7E96-E2BD-4070-CA20AEBD9619}"/>
              </a:ext>
            </a:extLst>
          </p:cNvPr>
          <p:cNvSpPr txBox="1"/>
          <p:nvPr/>
        </p:nvSpPr>
        <p:spPr>
          <a:xfrm>
            <a:off x="8109269" y="5211777"/>
            <a:ext cx="1223914" cy="1107996"/>
          </a:xfrm>
          <a:prstGeom prst="rect">
            <a:avLst/>
          </a:prstGeom>
          <a:noFill/>
        </p:spPr>
        <p:txBody>
          <a:bodyPr wrap="square" rtlCol="0">
            <a:spAutoFit/>
          </a:bodyPr>
          <a:lstStyle/>
          <a:p>
            <a:pPr algn="ctr"/>
            <a:r>
              <a:rPr lang="en-US" sz="1100" b="1" dirty="0"/>
              <a:t>Identify students who may be struggling academically or emotionally early</a:t>
            </a:r>
            <a:r>
              <a:rPr lang="en-US" sz="1100" dirty="0"/>
              <a:t>.</a:t>
            </a:r>
            <a:endParaRPr lang="en-IN" sz="1100" dirty="0"/>
          </a:p>
        </p:txBody>
      </p:sp>
      <p:sp>
        <p:nvSpPr>
          <p:cNvPr id="28" name="TextBox 27">
            <a:extLst>
              <a:ext uri="{FF2B5EF4-FFF2-40B4-BE49-F238E27FC236}">
                <a16:creationId xmlns:a16="http://schemas.microsoft.com/office/drawing/2014/main" id="{15725EB9-7688-06C7-D749-275D5A4AF3CE}"/>
              </a:ext>
            </a:extLst>
          </p:cNvPr>
          <p:cNvSpPr txBox="1"/>
          <p:nvPr/>
        </p:nvSpPr>
        <p:spPr>
          <a:xfrm>
            <a:off x="5667491" y="3035466"/>
            <a:ext cx="1390268" cy="1046440"/>
          </a:xfrm>
          <a:prstGeom prst="rect">
            <a:avLst/>
          </a:prstGeom>
          <a:noFill/>
        </p:spPr>
        <p:txBody>
          <a:bodyPr wrap="square" rtlCol="0">
            <a:spAutoFit/>
          </a:bodyPr>
          <a:lstStyle/>
          <a:p>
            <a:pPr algn="ctr"/>
            <a:r>
              <a:rPr lang="en-US" dirty="0"/>
              <a:t> </a:t>
            </a:r>
            <a:r>
              <a:rPr lang="en-US" sz="1100" b="1" dirty="0">
                <a:solidFill>
                  <a:schemeClr val="tx1">
                    <a:lumMod val="95000"/>
                    <a:lumOff val="5000"/>
                  </a:schemeClr>
                </a:solidFill>
              </a:rPr>
              <a:t>Help teachers recognize students who need more attention or support.</a:t>
            </a:r>
            <a:endParaRPr lang="en-IN" sz="1100" b="1" dirty="0">
              <a:solidFill>
                <a:schemeClr val="tx1">
                  <a:lumMod val="95000"/>
                  <a:lumOff val="5000"/>
                </a:schemeClr>
              </a:solidFill>
            </a:endParaRPr>
          </a:p>
        </p:txBody>
      </p:sp>
      <p:sp>
        <p:nvSpPr>
          <p:cNvPr id="29" name="TextBox 28">
            <a:extLst>
              <a:ext uri="{FF2B5EF4-FFF2-40B4-BE49-F238E27FC236}">
                <a16:creationId xmlns:a16="http://schemas.microsoft.com/office/drawing/2014/main" id="{80F51989-90DC-8E2E-5CD6-CECAB5A421B0}"/>
              </a:ext>
            </a:extLst>
          </p:cNvPr>
          <p:cNvSpPr txBox="1"/>
          <p:nvPr/>
        </p:nvSpPr>
        <p:spPr>
          <a:xfrm>
            <a:off x="6457402" y="4622589"/>
            <a:ext cx="1380352" cy="938719"/>
          </a:xfrm>
          <a:prstGeom prst="rect">
            <a:avLst/>
          </a:prstGeom>
          <a:noFill/>
        </p:spPr>
        <p:txBody>
          <a:bodyPr wrap="square" rtlCol="0">
            <a:spAutoFit/>
          </a:bodyPr>
          <a:lstStyle/>
          <a:p>
            <a:pPr algn="ctr"/>
            <a:r>
              <a:rPr lang="en-US" sz="1100" b="1" dirty="0"/>
              <a:t>Build a scalable, low-maintenance solution for physical and digital classrooms.</a:t>
            </a:r>
            <a:endParaRPr lang="en-IN" sz="1100" b="1" dirty="0"/>
          </a:p>
        </p:txBody>
      </p:sp>
      <p:cxnSp>
        <p:nvCxnSpPr>
          <p:cNvPr id="33" name="Straight Arrow Connector 32">
            <a:extLst>
              <a:ext uri="{FF2B5EF4-FFF2-40B4-BE49-F238E27FC236}">
                <a16:creationId xmlns:a16="http://schemas.microsoft.com/office/drawing/2014/main" id="{37E04BFF-82E4-F401-8326-F2F455E6E781}"/>
              </a:ext>
            </a:extLst>
          </p:cNvPr>
          <p:cNvCxnSpPr>
            <a:cxnSpLocks/>
          </p:cNvCxnSpPr>
          <p:nvPr/>
        </p:nvCxnSpPr>
        <p:spPr>
          <a:xfrm>
            <a:off x="7604241" y="2618142"/>
            <a:ext cx="402251" cy="3964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E463167-65C3-6914-1200-FAE586C137E8}"/>
              </a:ext>
            </a:extLst>
          </p:cNvPr>
          <p:cNvCxnSpPr>
            <a:cxnSpLocks/>
          </p:cNvCxnSpPr>
          <p:nvPr/>
        </p:nvCxnSpPr>
        <p:spPr>
          <a:xfrm>
            <a:off x="8705060" y="2020646"/>
            <a:ext cx="0" cy="9939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9EC303D-F0F8-091F-31E9-E132D4B2AA0C}"/>
              </a:ext>
            </a:extLst>
          </p:cNvPr>
          <p:cNvCxnSpPr>
            <a:cxnSpLocks/>
          </p:cNvCxnSpPr>
          <p:nvPr/>
        </p:nvCxnSpPr>
        <p:spPr>
          <a:xfrm flipH="1">
            <a:off x="9454292" y="2632075"/>
            <a:ext cx="359342" cy="382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6C669D8F-CB17-86D8-1A8E-49A125D749BE}"/>
              </a:ext>
            </a:extLst>
          </p:cNvPr>
          <p:cNvCxnSpPr>
            <a:cxnSpLocks/>
            <a:stCxn id="19" idx="3"/>
          </p:cNvCxnSpPr>
          <p:nvPr/>
        </p:nvCxnSpPr>
        <p:spPr>
          <a:xfrm>
            <a:off x="7121255" y="3587262"/>
            <a:ext cx="4266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1A723235-26F8-9305-13E7-04236695C827}"/>
              </a:ext>
            </a:extLst>
          </p:cNvPr>
          <p:cNvCxnSpPr>
            <a:cxnSpLocks/>
          </p:cNvCxnSpPr>
          <p:nvPr/>
        </p:nvCxnSpPr>
        <p:spPr>
          <a:xfrm flipV="1">
            <a:off x="7604241" y="4123203"/>
            <a:ext cx="330412" cy="3906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BE336DD-7EFC-EAFA-6B96-D5F281542D47}"/>
              </a:ext>
            </a:extLst>
          </p:cNvPr>
          <p:cNvCxnSpPr/>
          <p:nvPr/>
        </p:nvCxnSpPr>
        <p:spPr>
          <a:xfrm flipV="1">
            <a:off x="8705060" y="4123203"/>
            <a:ext cx="0" cy="10837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4F75E581-12C2-608B-41CA-31C40FBFF4DB}"/>
              </a:ext>
            </a:extLst>
          </p:cNvPr>
          <p:cNvCxnSpPr>
            <a:cxnSpLocks/>
          </p:cNvCxnSpPr>
          <p:nvPr/>
        </p:nvCxnSpPr>
        <p:spPr>
          <a:xfrm flipH="1" flipV="1">
            <a:off x="9403629" y="4120962"/>
            <a:ext cx="333224" cy="392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1AFBF27-C120-25C2-306A-64E5A4C2154C}"/>
              </a:ext>
            </a:extLst>
          </p:cNvPr>
          <p:cNvCxnSpPr/>
          <p:nvPr/>
        </p:nvCxnSpPr>
        <p:spPr>
          <a:xfrm flipH="1">
            <a:off x="9813634" y="3587262"/>
            <a:ext cx="4924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095" y="0"/>
            <a:ext cx="5986318" cy="1396720"/>
          </a:xfrm>
        </p:spPr>
        <p:txBody>
          <a:bodyPr>
            <a:normAutofit/>
          </a:bodyPr>
          <a:lstStyle/>
          <a:p>
            <a:r>
              <a:rPr lang="en-IN" sz="3200" dirty="0">
                <a:latin typeface="Arial" panose="020B0604020202020204" pitchFamily="34" charset="0"/>
                <a:cs typeface="Arial" panose="020B0604020202020204" pitchFamily="34" charset="0"/>
              </a:rPr>
              <a:t>PROPOSED METHODOLOGY</a:t>
            </a:r>
          </a:p>
        </p:txBody>
      </p:sp>
      <p:sp>
        <p:nvSpPr>
          <p:cNvPr id="3" name="Content Placeholder 2"/>
          <p:cNvSpPr>
            <a:spLocks noGrp="1"/>
          </p:cNvSpPr>
          <p:nvPr>
            <p:ph idx="1"/>
          </p:nvPr>
        </p:nvSpPr>
        <p:spPr>
          <a:xfrm>
            <a:off x="258644" y="1155559"/>
            <a:ext cx="11528803" cy="6089301"/>
          </a:xfrm>
        </p:spPr>
        <p:txBody>
          <a:bodyPr>
            <a:normAutofit/>
          </a:bodyPr>
          <a:lstStyle/>
          <a:p>
            <a:pPr marL="0" indent="0" algn="just">
              <a:buNone/>
            </a:pPr>
            <a:r>
              <a:rPr lang="en-IN" dirty="0"/>
              <a:t>📌</a:t>
            </a:r>
            <a:r>
              <a:rPr lang="en-IN" sz="2400" b="1" dirty="0">
                <a:latin typeface="Arial" panose="020B0604020202020204" pitchFamily="34" charset="0"/>
                <a:cs typeface="Arial" panose="020B0604020202020204" pitchFamily="34" charset="0"/>
              </a:rPr>
              <a:t>Research Design </a:t>
            </a:r>
          </a:p>
          <a:p>
            <a:pPr marL="0" indent="0" algn="just">
              <a:buNone/>
            </a:pPr>
            <a:r>
              <a:rPr lang="en-US" sz="1800" dirty="0"/>
              <a:t>The project follows a supervised machine learning research design. The main objective is to classify human facial expressions into Positive, Neutral, and Negative sentiment categories using a CNN-based deep learning model.</a:t>
            </a:r>
          </a:p>
          <a:p>
            <a:pPr algn="just">
              <a:buFont typeface="Wingdings" panose="05000000000000000000" pitchFamily="2" charset="2"/>
              <a:buChar char="Ø"/>
            </a:pPr>
            <a:r>
              <a:rPr lang="en-US" sz="2300" dirty="0">
                <a:effectLst>
                  <a:outerShdw blurRad="38100" dist="38100" dir="2700000" algn="tl">
                    <a:srgbClr val="000000">
                      <a:alpha val="43137"/>
                    </a:srgbClr>
                  </a:outerShdw>
                </a:effectLst>
              </a:rPr>
              <a:t>The design includes:</a:t>
            </a:r>
          </a:p>
          <a:p>
            <a:pPr marL="0" indent="0" algn="just">
              <a:buNone/>
            </a:pPr>
            <a:endParaRPr lang="en-US" sz="2300" b="1" dirty="0"/>
          </a:p>
          <a:p>
            <a:pPr marL="0" indent="0" algn="just">
              <a:buNone/>
            </a:pPr>
            <a:endParaRPr lang="en-US" sz="3100" dirty="0"/>
          </a:p>
          <a:p>
            <a:pPr marL="0" indent="0" algn="just">
              <a:buNone/>
            </a:pPr>
            <a:endParaRPr lang="en-US" sz="3100" dirty="0"/>
          </a:p>
          <a:p>
            <a:pPr marL="0" indent="0" algn="just">
              <a:buNone/>
            </a:pPr>
            <a:r>
              <a:rPr lang="en-IN" sz="2400" b="1" dirty="0">
                <a:latin typeface="Arial" panose="020B0604020202020204" pitchFamily="34" charset="0"/>
                <a:cs typeface="Arial" panose="020B0604020202020204" pitchFamily="34" charset="0"/>
              </a:rPr>
              <a:t>📌Data Collection Method </a:t>
            </a:r>
          </a:p>
          <a:p>
            <a:pPr marL="0" indent="0" algn="just">
              <a:buNone/>
            </a:pPr>
            <a:r>
              <a:rPr lang="en-US" sz="1800" dirty="0"/>
              <a:t>The data was collected from a publicly available dataset:</a:t>
            </a:r>
          </a:p>
          <a:p>
            <a:pPr marL="0" indent="0" algn="just">
              <a:buNone/>
            </a:pPr>
            <a:r>
              <a:rPr lang="en-US" sz="1800" b="1" u="sng" dirty="0"/>
              <a:t>Dataset</a:t>
            </a:r>
            <a:r>
              <a:rPr lang="en-US" sz="1800" dirty="0"/>
              <a:t>: Face Expression Recognition Dataset</a:t>
            </a:r>
          </a:p>
          <a:p>
            <a:pPr marL="0" indent="0" algn="just">
              <a:buNone/>
            </a:pPr>
            <a:r>
              <a:rPr lang="en-US" sz="1800" b="1" u="sng" dirty="0"/>
              <a:t>Source</a:t>
            </a:r>
            <a:r>
              <a:rPr lang="en-US" sz="1800" dirty="0"/>
              <a:t>: Kaggle</a:t>
            </a:r>
          </a:p>
          <a:p>
            <a:pPr marL="0" indent="0" algn="just">
              <a:buNone/>
            </a:pPr>
            <a:r>
              <a:rPr lang="en-US" sz="1800" b="1" u="sng" dirty="0"/>
              <a:t>URL</a:t>
            </a:r>
            <a:r>
              <a:rPr lang="en-US" sz="1800" dirty="0"/>
              <a:t>: </a:t>
            </a:r>
            <a:r>
              <a:rPr lang="en-US" sz="1600" dirty="0">
                <a:hlinkClick r:id="rId2"/>
              </a:rPr>
              <a:t>https://www.kaggle.com/datasets/jonathanoheix/face-expression-recognition-dataset</a:t>
            </a:r>
            <a:endParaRPr lang="en-US" sz="1600" dirty="0"/>
          </a:p>
          <a:p>
            <a:pPr marL="0" indent="0" algn="just">
              <a:buNone/>
            </a:pPr>
            <a:endParaRPr lang="en-US" sz="1800" dirty="0"/>
          </a:p>
          <a:p>
            <a:pPr marL="0" indent="0">
              <a:buNone/>
            </a:pPr>
            <a:r>
              <a:rPr lang="en-IN" dirty="0"/>
              <a:t>       </a:t>
            </a:r>
          </a:p>
        </p:txBody>
      </p:sp>
      <p:pic>
        <p:nvPicPr>
          <p:cNvPr id="4" name="Picture 2" descr="Sister Nivedita University | Best Private College in India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32997" y="257808"/>
            <a:ext cx="2624908" cy="80731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7C6B2CF-34EA-FA82-11B4-BB2D5F4875EE}"/>
              </a:ext>
            </a:extLst>
          </p:cNvPr>
          <p:cNvSpPr/>
          <p:nvPr/>
        </p:nvSpPr>
        <p:spPr>
          <a:xfrm>
            <a:off x="258644" y="2851252"/>
            <a:ext cx="1467059" cy="1045008"/>
          </a:xfrm>
          <a:prstGeom prst="rect">
            <a:avLst/>
          </a:prstGeom>
          <a:solidFill>
            <a:schemeClr val="bg2"/>
          </a:solidFill>
          <a:ln>
            <a:solidFill>
              <a:srgbClr val="00B05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i="1" dirty="0">
                <a:solidFill>
                  <a:srgbClr val="081012"/>
                </a:solidFill>
              </a:rPr>
              <a:t>Dataset Acquisition </a:t>
            </a:r>
          </a:p>
        </p:txBody>
      </p:sp>
      <p:sp>
        <p:nvSpPr>
          <p:cNvPr id="6" name="Rectangle 5">
            <a:extLst>
              <a:ext uri="{FF2B5EF4-FFF2-40B4-BE49-F238E27FC236}">
                <a16:creationId xmlns:a16="http://schemas.microsoft.com/office/drawing/2014/main" id="{FD1AC73D-6185-B1EC-486F-14939FBC4F5E}"/>
              </a:ext>
            </a:extLst>
          </p:cNvPr>
          <p:cNvSpPr/>
          <p:nvPr/>
        </p:nvSpPr>
        <p:spPr>
          <a:xfrm>
            <a:off x="1922652" y="2851252"/>
            <a:ext cx="1521992" cy="1045010"/>
          </a:xfrm>
          <a:prstGeom prst="rect">
            <a:avLst/>
          </a:prstGeom>
          <a:solidFill>
            <a:schemeClr val="bg2"/>
          </a:solidFill>
          <a:ln>
            <a:solidFill>
              <a:srgbClr val="FFC00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i="1" dirty="0">
                <a:solidFill>
                  <a:srgbClr val="081012"/>
                </a:solidFill>
              </a:rPr>
              <a:t>Preprocessing &amp; Cleaning</a:t>
            </a:r>
          </a:p>
        </p:txBody>
      </p:sp>
      <p:sp>
        <p:nvSpPr>
          <p:cNvPr id="7" name="Rectangle 6">
            <a:extLst>
              <a:ext uri="{FF2B5EF4-FFF2-40B4-BE49-F238E27FC236}">
                <a16:creationId xmlns:a16="http://schemas.microsoft.com/office/drawing/2014/main" id="{A34360CC-4164-16E6-2139-7C23887CA212}"/>
              </a:ext>
            </a:extLst>
          </p:cNvPr>
          <p:cNvSpPr/>
          <p:nvPr/>
        </p:nvSpPr>
        <p:spPr>
          <a:xfrm>
            <a:off x="3627132" y="2851250"/>
            <a:ext cx="1421841" cy="1045010"/>
          </a:xfrm>
          <a:prstGeom prst="rect">
            <a:avLst/>
          </a:prstGeom>
          <a:solidFill>
            <a:schemeClr val="bg2"/>
          </a:solidFill>
          <a:ln>
            <a:solidFill>
              <a:srgbClr val="FF000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i="1" dirty="0">
                <a:solidFill>
                  <a:srgbClr val="081012"/>
                </a:solidFill>
              </a:rPr>
              <a:t>Balancing the Dataset</a:t>
            </a:r>
          </a:p>
        </p:txBody>
      </p:sp>
      <p:sp>
        <p:nvSpPr>
          <p:cNvPr id="8" name="Rectangle 7">
            <a:extLst>
              <a:ext uri="{FF2B5EF4-FFF2-40B4-BE49-F238E27FC236}">
                <a16:creationId xmlns:a16="http://schemas.microsoft.com/office/drawing/2014/main" id="{F8E20BAD-9AC4-F2E6-0781-BAAA86A73DA1}"/>
              </a:ext>
            </a:extLst>
          </p:cNvPr>
          <p:cNvSpPr/>
          <p:nvPr/>
        </p:nvSpPr>
        <p:spPr>
          <a:xfrm>
            <a:off x="5222844" y="2848104"/>
            <a:ext cx="1467059" cy="1045010"/>
          </a:xfrm>
          <a:prstGeom prst="rect">
            <a:avLst/>
          </a:prstGeom>
          <a:solidFill>
            <a:schemeClr val="bg2"/>
          </a:solidFill>
          <a:ln>
            <a:solidFill>
              <a:schemeClr val="accent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i="1" dirty="0">
                <a:solidFill>
                  <a:srgbClr val="081012"/>
                </a:solidFill>
              </a:rPr>
              <a:t>Model Building(CNN architecture)</a:t>
            </a:r>
          </a:p>
        </p:txBody>
      </p:sp>
      <p:sp>
        <p:nvSpPr>
          <p:cNvPr id="9" name="Rectangle 8">
            <a:extLst>
              <a:ext uri="{FF2B5EF4-FFF2-40B4-BE49-F238E27FC236}">
                <a16:creationId xmlns:a16="http://schemas.microsoft.com/office/drawing/2014/main" id="{090F1AD3-133A-ED23-8E29-64989BA89821}"/>
              </a:ext>
            </a:extLst>
          </p:cNvPr>
          <p:cNvSpPr/>
          <p:nvPr/>
        </p:nvSpPr>
        <p:spPr>
          <a:xfrm>
            <a:off x="6882179" y="2848103"/>
            <a:ext cx="1467060" cy="1045011"/>
          </a:xfrm>
          <a:prstGeom prst="rect">
            <a:avLst/>
          </a:prstGeom>
          <a:solidFill>
            <a:schemeClr val="bg2"/>
          </a:solidFill>
          <a:ln>
            <a:solidFill>
              <a:srgbClr val="FF000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i="1" dirty="0">
                <a:solidFill>
                  <a:srgbClr val="081012"/>
                </a:solidFill>
              </a:rPr>
              <a:t>Training &amp; Validation</a:t>
            </a:r>
          </a:p>
        </p:txBody>
      </p:sp>
      <p:sp>
        <p:nvSpPr>
          <p:cNvPr id="10" name="Rectangle 9">
            <a:extLst>
              <a:ext uri="{FF2B5EF4-FFF2-40B4-BE49-F238E27FC236}">
                <a16:creationId xmlns:a16="http://schemas.microsoft.com/office/drawing/2014/main" id="{31B279DA-206A-226E-222C-1947B4F2BD12}"/>
              </a:ext>
            </a:extLst>
          </p:cNvPr>
          <p:cNvSpPr/>
          <p:nvPr/>
        </p:nvSpPr>
        <p:spPr>
          <a:xfrm>
            <a:off x="8541515" y="2848102"/>
            <a:ext cx="1467060" cy="1045011"/>
          </a:xfrm>
          <a:prstGeom prst="rect">
            <a:avLst/>
          </a:prstGeom>
          <a:solidFill>
            <a:schemeClr val="bg2"/>
          </a:solidFill>
          <a:ln>
            <a:solidFill>
              <a:srgbClr val="FFC00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i="1" dirty="0">
                <a:solidFill>
                  <a:srgbClr val="081012"/>
                </a:solidFill>
              </a:rPr>
              <a:t>Evaluation (Accuracy, Loss, Confusion Matrix)</a:t>
            </a:r>
          </a:p>
        </p:txBody>
      </p:sp>
      <p:sp>
        <p:nvSpPr>
          <p:cNvPr id="11" name="Rectangle 10">
            <a:extLst>
              <a:ext uri="{FF2B5EF4-FFF2-40B4-BE49-F238E27FC236}">
                <a16:creationId xmlns:a16="http://schemas.microsoft.com/office/drawing/2014/main" id="{90A9E531-2788-30EF-A35E-3A203B41F308}"/>
              </a:ext>
            </a:extLst>
          </p:cNvPr>
          <p:cNvSpPr/>
          <p:nvPr/>
        </p:nvSpPr>
        <p:spPr>
          <a:xfrm>
            <a:off x="10200851" y="2842474"/>
            <a:ext cx="1534479" cy="1045013"/>
          </a:xfrm>
          <a:prstGeom prst="rect">
            <a:avLst/>
          </a:prstGeom>
          <a:solidFill>
            <a:schemeClr val="bg2"/>
          </a:solidFill>
          <a:ln>
            <a:solidFill>
              <a:srgbClr val="00B05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i="1" dirty="0">
                <a:solidFill>
                  <a:srgbClr val="081012"/>
                </a:solidFill>
              </a:rPr>
              <a:t>Result</a:t>
            </a:r>
          </a:p>
          <a:p>
            <a:pPr algn="ctr"/>
            <a:r>
              <a:rPr lang="en-IN" i="1" dirty="0">
                <a:solidFill>
                  <a:srgbClr val="081012"/>
                </a:solidFill>
              </a:rPr>
              <a:t> Interpretation</a:t>
            </a:r>
          </a:p>
        </p:txBody>
      </p:sp>
      <p:cxnSp>
        <p:nvCxnSpPr>
          <p:cNvPr id="15" name="Straight Arrow Connector 14">
            <a:extLst>
              <a:ext uri="{FF2B5EF4-FFF2-40B4-BE49-F238E27FC236}">
                <a16:creationId xmlns:a16="http://schemas.microsoft.com/office/drawing/2014/main" id="{C8B657E8-D88D-C5F0-2AE1-3B8943441153}"/>
              </a:ext>
            </a:extLst>
          </p:cNvPr>
          <p:cNvCxnSpPr>
            <a:cxnSpLocks/>
            <a:stCxn id="5" idx="3"/>
            <a:endCxn id="6" idx="1"/>
          </p:cNvCxnSpPr>
          <p:nvPr/>
        </p:nvCxnSpPr>
        <p:spPr>
          <a:xfrm>
            <a:off x="1725703" y="3373756"/>
            <a:ext cx="19694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ED6B620-A612-D45B-7A5F-A0215BBF08C7}"/>
              </a:ext>
            </a:extLst>
          </p:cNvPr>
          <p:cNvCxnSpPr>
            <a:cxnSpLocks/>
            <a:stCxn id="6" idx="3"/>
            <a:endCxn id="7" idx="1"/>
          </p:cNvCxnSpPr>
          <p:nvPr/>
        </p:nvCxnSpPr>
        <p:spPr>
          <a:xfrm flipV="1">
            <a:off x="3444644" y="3373755"/>
            <a:ext cx="182488"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FF3B023-C813-B955-D347-F1059B026773}"/>
              </a:ext>
            </a:extLst>
          </p:cNvPr>
          <p:cNvCxnSpPr>
            <a:cxnSpLocks/>
            <a:stCxn id="7" idx="3"/>
            <a:endCxn id="8" idx="1"/>
          </p:cNvCxnSpPr>
          <p:nvPr/>
        </p:nvCxnSpPr>
        <p:spPr>
          <a:xfrm flipV="1">
            <a:off x="5048973" y="3370609"/>
            <a:ext cx="173871" cy="31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BFF639A-582B-D6F4-2F2F-2D5825B28E5F}"/>
              </a:ext>
            </a:extLst>
          </p:cNvPr>
          <p:cNvCxnSpPr>
            <a:cxnSpLocks/>
            <a:stCxn id="8" idx="3"/>
            <a:endCxn id="9" idx="1"/>
          </p:cNvCxnSpPr>
          <p:nvPr/>
        </p:nvCxnSpPr>
        <p:spPr>
          <a:xfrm>
            <a:off x="6689903" y="3370609"/>
            <a:ext cx="1922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F3B35B7-DC49-D585-8251-7388B9AACB50}"/>
              </a:ext>
            </a:extLst>
          </p:cNvPr>
          <p:cNvCxnSpPr>
            <a:cxnSpLocks/>
            <a:stCxn id="9" idx="3"/>
            <a:endCxn id="10" idx="1"/>
          </p:cNvCxnSpPr>
          <p:nvPr/>
        </p:nvCxnSpPr>
        <p:spPr>
          <a:xfrm flipV="1">
            <a:off x="8349239" y="3370608"/>
            <a:ext cx="19227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F004C5E-280D-D943-3923-79D521FF5D5E}"/>
              </a:ext>
            </a:extLst>
          </p:cNvPr>
          <p:cNvCxnSpPr>
            <a:cxnSpLocks/>
            <a:stCxn id="10" idx="3"/>
            <a:endCxn id="11" idx="1"/>
          </p:cNvCxnSpPr>
          <p:nvPr/>
        </p:nvCxnSpPr>
        <p:spPr>
          <a:xfrm flipV="1">
            <a:off x="10008575" y="3364981"/>
            <a:ext cx="192276" cy="56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9C1A1A8A-B7B3-A16A-810F-1B2E4A6C5389}"/>
              </a:ext>
            </a:extLst>
          </p:cNvPr>
          <p:cNvSpPr/>
          <p:nvPr/>
        </p:nvSpPr>
        <p:spPr>
          <a:xfrm>
            <a:off x="8065604" y="4121816"/>
            <a:ext cx="3792302" cy="2618941"/>
          </a:xfrm>
          <a:prstGeom prst="rect">
            <a:avLst/>
          </a:prstGeom>
          <a:solidFill>
            <a:schemeClr val="bg1"/>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dataset</a:t>
            </a:r>
          </a:p>
        </p:txBody>
      </p:sp>
      <p:pic>
        <p:nvPicPr>
          <p:cNvPr id="13" name="Picture 12" descr="A collage of different faces&#10;&#10;AI-generated content may be incorrect.">
            <a:extLst>
              <a:ext uri="{FF2B5EF4-FFF2-40B4-BE49-F238E27FC236}">
                <a16:creationId xmlns:a16="http://schemas.microsoft.com/office/drawing/2014/main" id="{D46B42CC-669F-7C02-35E4-B500796E96A5}"/>
              </a:ext>
            </a:extLst>
          </p:cNvPr>
          <p:cNvPicPr>
            <a:picLocks noChangeAspect="1"/>
          </p:cNvPicPr>
          <p:nvPr/>
        </p:nvPicPr>
        <p:blipFill>
          <a:blip r:embed="rId4">
            <a:extLst>
              <a:ext uri="{28A0092B-C50C-407E-A947-70E740481C1C}">
                <a14:useLocalDpi xmlns:a14="http://schemas.microsoft.com/office/drawing/2010/main" val="0"/>
              </a:ext>
            </a:extLst>
          </a:blip>
          <a:srcRect l="4815" t="1518" r="2122" b="3088"/>
          <a:stretch>
            <a:fillRect/>
          </a:stretch>
        </p:blipFill>
        <p:spPr>
          <a:xfrm>
            <a:off x="8100832" y="4161011"/>
            <a:ext cx="3757073" cy="2579746"/>
          </a:xfrm>
          <a:prstGeom prst="rect">
            <a:avLst/>
          </a:prstGeom>
          <a:ln>
            <a:solidFill>
              <a:schemeClr val="bg1"/>
            </a:solidFill>
          </a:ln>
          <a:effectLst>
            <a:outerShdw blurRad="63500" sx="102000" sy="102000" algn="ctr" rotWithShape="0">
              <a:prstClr val="black">
                <a:alpha val="40000"/>
              </a:prst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1BC20-6BFD-1099-461A-7557BEF0186A}"/>
              </a:ext>
            </a:extLst>
          </p:cNvPr>
          <p:cNvSpPr>
            <a:spLocks noGrp="1"/>
          </p:cNvSpPr>
          <p:nvPr>
            <p:ph type="title"/>
          </p:nvPr>
        </p:nvSpPr>
        <p:spPr>
          <a:xfrm>
            <a:off x="385187" y="134282"/>
            <a:ext cx="10885060" cy="1210827"/>
          </a:xfrm>
        </p:spPr>
        <p:txBody>
          <a:bodyPr>
            <a:normAutofit/>
          </a:bodyPr>
          <a:lstStyle/>
          <a:p>
            <a:r>
              <a:rPr lang="en-IN" sz="2800" dirty="0">
                <a:latin typeface="Arial" panose="020B0604020202020204" pitchFamily="34" charset="0"/>
                <a:cs typeface="Arial" panose="020B0604020202020204" pitchFamily="34" charset="0"/>
              </a:rPr>
              <a:t>📌</a:t>
            </a:r>
            <a:r>
              <a:rPr lang="en-IN" sz="2400" b="1" dirty="0">
                <a:latin typeface="Arial" panose="020B0604020202020204" pitchFamily="34" charset="0"/>
                <a:cs typeface="Arial" panose="020B0604020202020204" pitchFamily="34" charset="0"/>
              </a:rPr>
              <a:t>Data Preprocessing </a:t>
            </a:r>
            <a:r>
              <a:rPr lang="en-US" sz="1800" i="1" dirty="0">
                <a:latin typeface="+mn-lt"/>
              </a:rPr>
              <a:t>The following preprocessing steps were applied:</a:t>
            </a:r>
            <a:br>
              <a:rPr lang="en-IN" sz="1800" b="1" dirty="0">
                <a:latin typeface="+mn-lt"/>
              </a:rPr>
            </a:br>
            <a:endParaRPr lang="en-IN" sz="1800" b="1" i="1" dirty="0">
              <a:latin typeface="+mn-lt"/>
            </a:endParaRPr>
          </a:p>
        </p:txBody>
      </p:sp>
      <p:sp>
        <p:nvSpPr>
          <p:cNvPr id="3" name="Content Placeholder 2">
            <a:extLst>
              <a:ext uri="{FF2B5EF4-FFF2-40B4-BE49-F238E27FC236}">
                <a16:creationId xmlns:a16="http://schemas.microsoft.com/office/drawing/2014/main" id="{B7F2555C-BDB2-860E-AFA0-C8F55153B9BB}"/>
              </a:ext>
            </a:extLst>
          </p:cNvPr>
          <p:cNvSpPr>
            <a:spLocks noGrp="1"/>
          </p:cNvSpPr>
          <p:nvPr>
            <p:ph idx="1"/>
          </p:nvPr>
        </p:nvSpPr>
        <p:spPr>
          <a:xfrm>
            <a:off x="385187" y="3155182"/>
            <a:ext cx="11413009" cy="1425037"/>
          </a:xfrm>
        </p:spPr>
        <p:txBody>
          <a:bodyPr>
            <a:normAutofit fontScale="85000" lnSpcReduction="20000"/>
          </a:bodyPr>
          <a:lstStyle/>
          <a:p>
            <a:pPr marL="0" indent="0" algn="just">
              <a:buNone/>
            </a:pPr>
            <a:r>
              <a:rPr lang="en-IN" sz="3300" b="1" dirty="0"/>
              <a:t>📌</a:t>
            </a:r>
            <a:r>
              <a:rPr lang="en-IN" b="1" dirty="0">
                <a:latin typeface="Arial" panose="020B0604020202020204" pitchFamily="34" charset="0"/>
                <a:cs typeface="Arial" panose="020B0604020202020204" pitchFamily="34" charset="0"/>
              </a:rPr>
              <a:t>Data Analysis Steps</a:t>
            </a:r>
          </a:p>
          <a:p>
            <a:pPr marL="457200" indent="-457200" algn="just">
              <a:buFont typeface="+mj-lt"/>
              <a:buAutoNum type="arabicPeriod"/>
            </a:pPr>
            <a:r>
              <a:rPr lang="en-US" sz="2100" b="1" dirty="0"/>
              <a:t>Class Distribution Visualization </a:t>
            </a:r>
            <a:r>
              <a:rPr lang="en-US" sz="2100" dirty="0"/>
              <a:t>: A bar chart shows that all classes now have equal numbers after balancing.</a:t>
            </a:r>
          </a:p>
          <a:p>
            <a:pPr marL="457200" indent="-457200" algn="just">
              <a:buFont typeface="+mj-lt"/>
              <a:buAutoNum type="arabicPeriod"/>
            </a:pPr>
            <a:r>
              <a:rPr lang="en-US" sz="2100" b="1" dirty="0"/>
              <a:t>Training Curve Analysis </a:t>
            </a:r>
            <a:r>
              <a:rPr lang="en-US" sz="2100" dirty="0"/>
              <a:t>: Accuracy and loss plots show steady improvement, confirming stable learning.</a:t>
            </a:r>
          </a:p>
          <a:p>
            <a:pPr marL="457200" indent="-457200" algn="just">
              <a:buFont typeface="+mj-lt"/>
              <a:buAutoNum type="arabicPeriod"/>
            </a:pPr>
            <a:r>
              <a:rPr lang="en-US" sz="2100" b="1" dirty="0"/>
              <a:t>Confusion Matrix Analysis </a:t>
            </a:r>
            <a:r>
              <a:rPr lang="en-US" sz="2100" dirty="0"/>
              <a:t>: Shows model performance across sentiment categories with normalization</a:t>
            </a:r>
          </a:p>
          <a:p>
            <a:pPr marL="0" indent="0" algn="just">
              <a:buNone/>
            </a:pPr>
            <a:endParaRPr lang="en-US" sz="2000" dirty="0"/>
          </a:p>
          <a:p>
            <a:pPr marL="0" indent="0" algn="just">
              <a:buNone/>
            </a:pPr>
            <a:endParaRPr lang="en-US" sz="2000" dirty="0"/>
          </a:p>
          <a:p>
            <a:pPr marL="0" indent="0" algn="just">
              <a:buNone/>
            </a:pPr>
            <a:endParaRPr lang="en-IN" sz="3200" b="1" dirty="0"/>
          </a:p>
        </p:txBody>
      </p:sp>
      <p:pic>
        <p:nvPicPr>
          <p:cNvPr id="4" name="Picture 2" descr="Sister Nivedita University | Best Private College in India ...">
            <a:extLst>
              <a:ext uri="{FF2B5EF4-FFF2-40B4-BE49-F238E27FC236}">
                <a16:creationId xmlns:a16="http://schemas.microsoft.com/office/drawing/2014/main" id="{F5BE8FFB-94A9-531E-9705-D35354846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52244" y="96741"/>
            <a:ext cx="2554569" cy="785683"/>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566DCB53-6FE1-67CA-3B7A-860E8044A383}"/>
              </a:ext>
            </a:extLst>
          </p:cNvPr>
          <p:cNvSpPr/>
          <p:nvPr/>
        </p:nvSpPr>
        <p:spPr>
          <a:xfrm>
            <a:off x="588481" y="4666192"/>
            <a:ext cx="3890758" cy="2036059"/>
          </a:xfrm>
          <a:prstGeom prst="rect">
            <a:avLst/>
          </a:prstGeom>
          <a:ln>
            <a:solidFill>
              <a:schemeClr val="tx1"/>
            </a:solidFill>
          </a:ln>
          <a:effectLst>
            <a:outerShdw blurRad="63500" sx="102000" sy="102000" algn="ctr" rotWithShape="0">
              <a:prstClr val="black">
                <a:alpha val="40000"/>
              </a:prstClr>
            </a:outerShdw>
          </a:effectLst>
          <a:scene3d>
            <a:camera prst="orthographicFront">
              <a:rot lat="0" lon="0" rev="0"/>
            </a:camera>
            <a:lightRig rig="glow" dir="t">
              <a:rot lat="0" lon="0" rev="4800000"/>
            </a:lightRig>
          </a:scene3d>
          <a:sp3d prstMaterial="matte">
            <a:bevelT w="127000" h="63500"/>
          </a:sp3d>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Bar chart</a:t>
            </a:r>
          </a:p>
        </p:txBody>
      </p:sp>
      <p:sp>
        <p:nvSpPr>
          <p:cNvPr id="9" name="Rectangle 8">
            <a:extLst>
              <a:ext uri="{FF2B5EF4-FFF2-40B4-BE49-F238E27FC236}">
                <a16:creationId xmlns:a16="http://schemas.microsoft.com/office/drawing/2014/main" id="{EEB41FB6-E282-55DB-9853-373DF3814A22}"/>
              </a:ext>
            </a:extLst>
          </p:cNvPr>
          <p:cNvSpPr/>
          <p:nvPr/>
        </p:nvSpPr>
        <p:spPr>
          <a:xfrm>
            <a:off x="4682533" y="4647864"/>
            <a:ext cx="7124280" cy="2054387"/>
          </a:xfrm>
          <a:prstGeom prst="rect">
            <a:avLst/>
          </a:prstGeom>
          <a:solidFill>
            <a:schemeClr val="bg1"/>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descr="A comparison of graphs with numbers&#10;&#10;AI-generated content may be incorrect.">
            <a:extLst>
              <a:ext uri="{FF2B5EF4-FFF2-40B4-BE49-F238E27FC236}">
                <a16:creationId xmlns:a16="http://schemas.microsoft.com/office/drawing/2014/main" id="{49ED7CC6-9354-962D-03F1-098C47019C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4409" y="4705445"/>
            <a:ext cx="6759110" cy="1943006"/>
          </a:xfrm>
          <a:prstGeom prst="rect">
            <a:avLst/>
          </a:prstGeom>
        </p:spPr>
      </p:pic>
      <p:sp>
        <p:nvSpPr>
          <p:cNvPr id="5" name="Rectangle 4">
            <a:extLst>
              <a:ext uri="{FF2B5EF4-FFF2-40B4-BE49-F238E27FC236}">
                <a16:creationId xmlns:a16="http://schemas.microsoft.com/office/drawing/2014/main" id="{847B9E48-C1AF-A899-C4F5-D257C087FBCE}"/>
              </a:ext>
            </a:extLst>
          </p:cNvPr>
          <p:cNvSpPr/>
          <p:nvPr/>
        </p:nvSpPr>
        <p:spPr>
          <a:xfrm>
            <a:off x="292833" y="941432"/>
            <a:ext cx="5878102" cy="205438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en-US" b="1" dirty="0"/>
              <a:t>Sentiment-based folder restructuring </a:t>
            </a:r>
            <a:r>
              <a:rPr lang="en-US" dirty="0"/>
              <a:t>: Images were grouped into 3 folders based on sentiment mapping.</a:t>
            </a:r>
          </a:p>
          <a:p>
            <a:pPr marL="285750" indent="-285750">
              <a:buFont typeface="Arial" panose="020B0604020202020204" pitchFamily="34" charset="0"/>
              <a:buChar char="•"/>
            </a:pPr>
            <a:r>
              <a:rPr lang="en-US" b="1" dirty="0"/>
              <a:t>Train–Validation Split Provided by the Dataset </a:t>
            </a:r>
            <a:r>
              <a:rPr lang="en-US" dirty="0"/>
              <a:t>: The original dataset’s split structure was used.</a:t>
            </a:r>
          </a:p>
          <a:p>
            <a:pPr marL="285750" indent="-285750">
              <a:buFont typeface="Arial" panose="020B0604020202020204" pitchFamily="34" charset="0"/>
              <a:buChar char="•"/>
            </a:pPr>
            <a:r>
              <a:rPr lang="en-US" b="1" dirty="0"/>
              <a:t>Dataset Balancing (Undersampling) </a:t>
            </a:r>
            <a:r>
              <a:rPr lang="en-US" dirty="0"/>
              <a:t>: Each class within each split was balanced by selecting an equal number of samples from the minority class.</a:t>
            </a:r>
            <a:endParaRPr lang="en-IN" dirty="0"/>
          </a:p>
        </p:txBody>
      </p:sp>
      <p:sp>
        <p:nvSpPr>
          <p:cNvPr id="6" name="Rectangle 5">
            <a:extLst>
              <a:ext uri="{FF2B5EF4-FFF2-40B4-BE49-F238E27FC236}">
                <a16:creationId xmlns:a16="http://schemas.microsoft.com/office/drawing/2014/main" id="{DF0EFEFE-65D0-AC73-AB4E-FA2125BF4AF2}"/>
              </a:ext>
            </a:extLst>
          </p:cNvPr>
          <p:cNvSpPr/>
          <p:nvPr/>
        </p:nvSpPr>
        <p:spPr>
          <a:xfrm>
            <a:off x="6243376" y="882424"/>
            <a:ext cx="5479885" cy="205438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en-US" b="1" dirty="0"/>
              <a:t>Image Resizing </a:t>
            </a:r>
            <a:r>
              <a:rPr lang="en-US" dirty="0"/>
              <a:t>: All images were resized to 48×48×3.</a:t>
            </a:r>
          </a:p>
          <a:p>
            <a:pPr marL="285750" indent="-285750">
              <a:buFont typeface="Arial" panose="020B0604020202020204" pitchFamily="34" charset="0"/>
              <a:buChar char="•"/>
            </a:pPr>
            <a:r>
              <a:rPr lang="en-US" b="1" dirty="0"/>
              <a:t>Normalization</a:t>
            </a:r>
            <a:r>
              <a:rPr lang="en-US" dirty="0"/>
              <a:t> : Pixel intensities scaled to the range [0,1] using layers.Rescaling (1./255).</a:t>
            </a:r>
          </a:p>
          <a:p>
            <a:pPr marL="285750" indent="-285750">
              <a:buFont typeface="Arial" panose="020B0604020202020204" pitchFamily="34" charset="0"/>
              <a:buChar char="•"/>
            </a:pPr>
            <a:r>
              <a:rPr lang="en-IN" b="1" dirty="0"/>
              <a:t>Data Augmentation </a:t>
            </a:r>
            <a:r>
              <a:rPr lang="en-IN" dirty="0"/>
              <a:t>: 1. Random flip, 2. Random rotation, 3. Random zoom, 4. Random contrast.</a:t>
            </a:r>
          </a:p>
        </p:txBody>
      </p:sp>
      <p:pic>
        <p:nvPicPr>
          <p:cNvPr id="10" name="Picture 9" descr="A graph of different colored bars&#10;&#10;AI-generated content may be incorrect.">
            <a:extLst>
              <a:ext uri="{FF2B5EF4-FFF2-40B4-BE49-F238E27FC236}">
                <a16:creationId xmlns:a16="http://schemas.microsoft.com/office/drawing/2014/main" id="{002AC193-BCC2-38A9-ECCB-F0486DD4B549}"/>
              </a:ext>
            </a:extLst>
          </p:cNvPr>
          <p:cNvPicPr>
            <a:picLocks noChangeAspect="1"/>
          </p:cNvPicPr>
          <p:nvPr/>
        </p:nvPicPr>
        <p:blipFill>
          <a:blip r:embed="rId4">
            <a:extLst>
              <a:ext uri="{28A0092B-C50C-407E-A947-70E740481C1C}">
                <a14:useLocalDpi xmlns:a14="http://schemas.microsoft.com/office/drawing/2010/main" val="0"/>
              </a:ext>
            </a:extLst>
          </a:blip>
          <a:srcRect l="1831" t="2304" r="1732" b="2805"/>
          <a:stretch>
            <a:fillRect/>
          </a:stretch>
        </p:blipFill>
        <p:spPr>
          <a:xfrm>
            <a:off x="693337" y="4739580"/>
            <a:ext cx="3697794" cy="1944341"/>
          </a:xfrm>
          <a:prstGeom prst="rect">
            <a:avLst/>
          </a:prstGeom>
        </p:spPr>
      </p:pic>
    </p:spTree>
    <p:extLst>
      <p:ext uri="{BB962C8B-B14F-4D97-AF65-F5344CB8AC3E}">
        <p14:creationId xmlns:p14="http://schemas.microsoft.com/office/powerpoint/2010/main" val="1292915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F96F59DA-5634-0728-A3FF-CAB741983691}"/>
              </a:ext>
            </a:extLst>
          </p:cNvPr>
          <p:cNvSpPr>
            <a:spLocks noGrp="1"/>
          </p:cNvSpPr>
          <p:nvPr>
            <p:ph type="title"/>
          </p:nvPr>
        </p:nvSpPr>
        <p:spPr>
          <a:xfrm>
            <a:off x="299044" y="-161488"/>
            <a:ext cx="8071233" cy="824646"/>
          </a:xfrm>
        </p:spPr>
        <p:txBody>
          <a:bodyPr>
            <a:normAutofit/>
          </a:bodyPr>
          <a:lstStyle/>
          <a:p>
            <a:r>
              <a:rPr lang="en-IN" b="1" dirty="0"/>
              <a:t>📌</a:t>
            </a:r>
            <a:r>
              <a:rPr lang="en-IN" sz="2400" b="1" dirty="0">
                <a:latin typeface="Arial" panose="020B0604020202020204" pitchFamily="34" charset="0"/>
                <a:cs typeface="Arial" panose="020B0604020202020204" pitchFamily="34" charset="0"/>
              </a:rPr>
              <a:t>Techniques/Technologies Used</a:t>
            </a:r>
          </a:p>
        </p:txBody>
      </p:sp>
      <p:sp>
        <p:nvSpPr>
          <p:cNvPr id="55" name="Rectangle 54">
            <a:extLst>
              <a:ext uri="{FF2B5EF4-FFF2-40B4-BE49-F238E27FC236}">
                <a16:creationId xmlns:a16="http://schemas.microsoft.com/office/drawing/2014/main" id="{091B89D8-79A8-6103-E49D-41B70BB0DCA8}"/>
              </a:ext>
            </a:extLst>
          </p:cNvPr>
          <p:cNvSpPr/>
          <p:nvPr/>
        </p:nvSpPr>
        <p:spPr>
          <a:xfrm>
            <a:off x="319557" y="4323177"/>
            <a:ext cx="11671476" cy="2299418"/>
          </a:xfrm>
          <a:prstGeom prst="rect">
            <a:avLst/>
          </a:prstGeom>
          <a:solidFill>
            <a:schemeClr val="bg1"/>
          </a:solidFill>
          <a:ln>
            <a:solidFill>
              <a:schemeClr val="tx1">
                <a:lumMod val="65000"/>
                <a:lumOff val="35000"/>
              </a:schemeClr>
            </a:solidFill>
          </a:ln>
          <a:effectLst>
            <a:softEdge rad="635000"/>
          </a:effectLst>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dirty="0"/>
          </a:p>
        </p:txBody>
      </p:sp>
      <p:sp>
        <p:nvSpPr>
          <p:cNvPr id="15" name="Text Placeholder 14">
            <a:extLst>
              <a:ext uri="{FF2B5EF4-FFF2-40B4-BE49-F238E27FC236}">
                <a16:creationId xmlns:a16="http://schemas.microsoft.com/office/drawing/2014/main" id="{0657AB9C-9659-D0E0-C5F2-ADEDD72FCA24}"/>
              </a:ext>
            </a:extLst>
          </p:cNvPr>
          <p:cNvSpPr>
            <a:spLocks noGrp="1"/>
          </p:cNvSpPr>
          <p:nvPr>
            <p:ph type="body" sz="half" idx="2"/>
          </p:nvPr>
        </p:nvSpPr>
        <p:spPr>
          <a:xfrm>
            <a:off x="744096" y="776729"/>
            <a:ext cx="3979148" cy="2947218"/>
          </a:xfrm>
          <a:ln>
            <a:solidFill>
              <a:schemeClr val="tx1"/>
            </a:solidFill>
            <a:extLst>
              <a:ext uri="{C807C97D-BFC1-408E-A445-0C87EB9F89A2}">
                <ask:lineSketchStyleProps xmlns:ask="http://schemas.microsoft.com/office/drawing/2018/sketchyshapes">
                  <ask:type>
                    <ask:lineSketchNone/>
                  </ask:type>
                </ask:lineSketchStyleProps>
              </a:ext>
            </a:extLst>
          </a:ln>
          <a:effectLst/>
        </p:spPr>
        <p:txBody>
          <a:bodyPr>
            <a:normAutofit lnSpcReduction="10000"/>
          </a:bodyPr>
          <a:lstStyle/>
          <a:p>
            <a:pPr>
              <a:lnSpc>
                <a:spcPct val="100000"/>
              </a:lnSpc>
            </a:pPr>
            <a:r>
              <a:rPr lang="en-IN" sz="2400" dirty="0"/>
              <a:t>💡</a:t>
            </a:r>
            <a:r>
              <a:rPr lang="en-IN" sz="2200" i="1" u="sng" dirty="0"/>
              <a:t>Technologies</a:t>
            </a:r>
          </a:p>
          <a:p>
            <a:pPr marL="285750" indent="-285750">
              <a:lnSpc>
                <a:spcPct val="100000"/>
              </a:lnSpc>
              <a:buFont typeface="Arial" panose="020B0604020202020204" pitchFamily="34" charset="0"/>
              <a:buChar char="•"/>
            </a:pPr>
            <a:r>
              <a:rPr lang="en-IN" dirty="0"/>
              <a:t>Python</a:t>
            </a:r>
          </a:p>
          <a:p>
            <a:pPr marL="285750" indent="-285750">
              <a:lnSpc>
                <a:spcPct val="100000"/>
              </a:lnSpc>
              <a:buFont typeface="Arial" panose="020B0604020202020204" pitchFamily="34" charset="0"/>
              <a:buChar char="•"/>
            </a:pPr>
            <a:r>
              <a:rPr lang="en-IN" dirty="0"/>
              <a:t>TensorFlow / Keras</a:t>
            </a:r>
          </a:p>
          <a:p>
            <a:pPr marL="285750" indent="-285750">
              <a:lnSpc>
                <a:spcPct val="100000"/>
              </a:lnSpc>
              <a:buFont typeface="Arial" panose="020B0604020202020204" pitchFamily="34" charset="0"/>
              <a:buChar char="•"/>
            </a:pPr>
            <a:r>
              <a:rPr lang="en-IN" dirty="0"/>
              <a:t>NumPy</a:t>
            </a:r>
          </a:p>
          <a:p>
            <a:pPr marL="285750" indent="-285750">
              <a:lnSpc>
                <a:spcPct val="100000"/>
              </a:lnSpc>
              <a:buFont typeface="Arial" panose="020B0604020202020204" pitchFamily="34" charset="0"/>
              <a:buChar char="•"/>
            </a:pPr>
            <a:r>
              <a:rPr lang="en-IN" dirty="0"/>
              <a:t>Matplotlib</a:t>
            </a:r>
          </a:p>
          <a:p>
            <a:pPr marL="285750" indent="-285750">
              <a:lnSpc>
                <a:spcPct val="100000"/>
              </a:lnSpc>
              <a:buFont typeface="Arial" panose="020B0604020202020204" pitchFamily="34" charset="0"/>
              <a:buChar char="•"/>
            </a:pPr>
            <a:r>
              <a:rPr lang="en-IN" dirty="0"/>
              <a:t>Seaborn</a:t>
            </a:r>
          </a:p>
          <a:p>
            <a:pPr marL="285750" indent="-285750">
              <a:lnSpc>
                <a:spcPct val="100000"/>
              </a:lnSpc>
              <a:buFont typeface="Arial" panose="020B0604020202020204" pitchFamily="34" charset="0"/>
              <a:buChar char="•"/>
            </a:pPr>
            <a:r>
              <a:rPr lang="en-IN" dirty="0"/>
              <a:t>Scikit-learn</a:t>
            </a:r>
          </a:p>
          <a:p>
            <a:pPr marL="285750" indent="-285750">
              <a:lnSpc>
                <a:spcPct val="100000"/>
              </a:lnSpc>
              <a:buFont typeface="Arial" panose="020B0604020202020204" pitchFamily="34" charset="0"/>
              <a:buChar char="•"/>
            </a:pPr>
            <a:r>
              <a:rPr lang="en-IN" dirty="0"/>
              <a:t>Google Colab (GPU runtime)</a:t>
            </a:r>
          </a:p>
        </p:txBody>
      </p:sp>
      <p:pic>
        <p:nvPicPr>
          <p:cNvPr id="16" name="Picture 2" descr="Sister Nivedita University | Best Private College in India ...">
            <a:extLst>
              <a:ext uri="{FF2B5EF4-FFF2-40B4-BE49-F238E27FC236}">
                <a16:creationId xmlns:a16="http://schemas.microsoft.com/office/drawing/2014/main" id="{2EE071A2-42DE-FE7A-8CDA-F51B22D751A1}"/>
              </a:ext>
            </a:extLst>
          </p:cNvPr>
          <p:cNvPicPr>
            <a:picLocks noGrp="1" noChangeAspect="1" noChangeArrowheads="1"/>
          </p:cNvPicPr>
          <p:nvPr>
            <p:ph type="pic" idx="1"/>
          </p:nvPr>
        </p:nvPicPr>
        <p:blipFill rotWithShape="1">
          <a:blip r:embed="rId2">
            <a:extLst>
              <a:ext uri="{28A0092B-C50C-407E-A947-70E740481C1C}">
                <a14:useLocalDpi xmlns:a14="http://schemas.microsoft.com/office/drawing/2010/main" val="0"/>
              </a:ext>
            </a:extLst>
          </a:blip>
          <a:srcRect l="-4457" t="5817" r="-4127" b="-2"/>
          <a:stretch>
            <a:fillRect/>
          </a:stretch>
        </p:blipFill>
        <p:spPr bwMode="auto">
          <a:xfrm>
            <a:off x="9686610" y="157999"/>
            <a:ext cx="2304423" cy="615009"/>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AD8BB4C2-2DD9-D432-EE24-5608BF901169}"/>
              </a:ext>
            </a:extLst>
          </p:cNvPr>
          <p:cNvSpPr txBox="1"/>
          <p:nvPr/>
        </p:nvSpPr>
        <p:spPr>
          <a:xfrm>
            <a:off x="5289100" y="780887"/>
            <a:ext cx="4179278" cy="2947217"/>
          </a:xfrm>
          <a:prstGeom prst="rect">
            <a:avLst/>
          </a:prstGeom>
          <a:noFill/>
          <a:ln>
            <a:solidFill>
              <a:schemeClr val="tx1"/>
            </a:solidFill>
          </a:ln>
          <a:effectLst/>
        </p:spPr>
        <p:txBody>
          <a:bodyPr wrap="square" rtlCol="0">
            <a:spAutoFit/>
          </a:bodyPr>
          <a:lstStyle/>
          <a:p>
            <a:r>
              <a:rPr lang="en-IN" sz="2000" dirty="0"/>
              <a:t>💡 </a:t>
            </a:r>
            <a:r>
              <a:rPr lang="en-IN" sz="2000" i="1" u="sng" dirty="0"/>
              <a:t>Machine Learning Techniques</a:t>
            </a:r>
          </a:p>
          <a:p>
            <a:pPr marL="285750" indent="-285750">
              <a:lnSpc>
                <a:spcPct val="150000"/>
              </a:lnSpc>
              <a:buFont typeface="Arial" panose="020B0604020202020204" pitchFamily="34" charset="0"/>
              <a:buChar char="•"/>
            </a:pPr>
            <a:r>
              <a:rPr lang="en-IN" sz="1600" dirty="0"/>
              <a:t> Convolutional Neural Networks (CNNs)</a:t>
            </a:r>
          </a:p>
          <a:p>
            <a:pPr marL="285750" indent="-285750">
              <a:lnSpc>
                <a:spcPct val="150000"/>
              </a:lnSpc>
              <a:buFont typeface="Arial" panose="020B0604020202020204" pitchFamily="34" charset="0"/>
              <a:buChar char="•"/>
            </a:pPr>
            <a:r>
              <a:rPr lang="en-IN" sz="1600" dirty="0"/>
              <a:t> Data Augmentation</a:t>
            </a:r>
          </a:p>
          <a:p>
            <a:pPr marL="285750" indent="-285750">
              <a:lnSpc>
                <a:spcPct val="150000"/>
              </a:lnSpc>
              <a:buFont typeface="Arial" panose="020B0604020202020204" pitchFamily="34" charset="0"/>
              <a:buChar char="•"/>
            </a:pPr>
            <a:r>
              <a:rPr lang="en-IN" sz="1600" dirty="0"/>
              <a:t> Batch Normalization</a:t>
            </a:r>
          </a:p>
          <a:p>
            <a:pPr marL="285750" indent="-285750">
              <a:lnSpc>
                <a:spcPct val="150000"/>
              </a:lnSpc>
              <a:buFont typeface="Arial" panose="020B0604020202020204" pitchFamily="34" charset="0"/>
              <a:buChar char="•"/>
            </a:pPr>
            <a:r>
              <a:rPr lang="en-IN" sz="1600" dirty="0"/>
              <a:t> Dropout Regularization</a:t>
            </a:r>
          </a:p>
          <a:p>
            <a:pPr marL="285750" indent="-285750">
              <a:lnSpc>
                <a:spcPct val="150000"/>
              </a:lnSpc>
              <a:buFont typeface="Arial" panose="020B0604020202020204" pitchFamily="34" charset="0"/>
              <a:buChar char="•"/>
            </a:pPr>
            <a:r>
              <a:rPr lang="en-IN" sz="1600" dirty="0"/>
              <a:t> L2 Regularization</a:t>
            </a:r>
          </a:p>
          <a:p>
            <a:pPr marL="285750" indent="-285750">
              <a:lnSpc>
                <a:spcPct val="150000"/>
              </a:lnSpc>
              <a:buFont typeface="Arial" panose="020B0604020202020204" pitchFamily="34" charset="0"/>
              <a:buChar char="•"/>
            </a:pPr>
            <a:r>
              <a:rPr lang="en-IN" sz="1600" dirty="0"/>
              <a:t> Adam Optimizer</a:t>
            </a:r>
          </a:p>
          <a:p>
            <a:pPr marL="285750" indent="-285750">
              <a:lnSpc>
                <a:spcPct val="150000"/>
              </a:lnSpc>
              <a:buFont typeface="Arial" panose="020B0604020202020204" pitchFamily="34" charset="0"/>
              <a:buChar char="•"/>
            </a:pPr>
            <a:r>
              <a:rPr lang="en-IN" sz="1600" dirty="0"/>
              <a:t> Sparse Categorical Crossentropy Loss</a:t>
            </a:r>
          </a:p>
        </p:txBody>
      </p:sp>
      <p:sp>
        <p:nvSpPr>
          <p:cNvPr id="27" name="Oval 26">
            <a:extLst>
              <a:ext uri="{FF2B5EF4-FFF2-40B4-BE49-F238E27FC236}">
                <a16:creationId xmlns:a16="http://schemas.microsoft.com/office/drawing/2014/main" id="{D6F47A75-6B56-8655-F765-8676636F3E95}"/>
              </a:ext>
            </a:extLst>
          </p:cNvPr>
          <p:cNvSpPr/>
          <p:nvPr/>
        </p:nvSpPr>
        <p:spPr>
          <a:xfrm>
            <a:off x="455624" y="4757533"/>
            <a:ext cx="1678075" cy="1637881"/>
          </a:xfrm>
          <a:prstGeom prst="ellipse">
            <a:avLst/>
          </a:prstGeom>
          <a:noFill/>
          <a:effectLst>
            <a:glow rad="139700">
              <a:schemeClr val="accent3">
                <a:satMod val="175000"/>
                <a:alpha val="40000"/>
              </a:schemeClr>
            </a:glow>
            <a:outerShdw blurRad="63500" sx="102000" sy="102000" algn="ctr"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solidFill>
                  <a:srgbClr val="081012"/>
                </a:solidFill>
              </a:rPr>
              <a:t> Dataset Collection      (Kaggle FER Dataset)</a:t>
            </a:r>
            <a:endParaRPr lang="en-IN" b="1" dirty="0">
              <a:solidFill>
                <a:srgbClr val="081012"/>
              </a:solidFill>
            </a:endParaRPr>
          </a:p>
        </p:txBody>
      </p:sp>
      <p:sp>
        <p:nvSpPr>
          <p:cNvPr id="28" name="Rectangle 27">
            <a:extLst>
              <a:ext uri="{FF2B5EF4-FFF2-40B4-BE49-F238E27FC236}">
                <a16:creationId xmlns:a16="http://schemas.microsoft.com/office/drawing/2014/main" id="{AC5AB17C-8ABB-8768-1595-C657DC808369}"/>
              </a:ext>
            </a:extLst>
          </p:cNvPr>
          <p:cNvSpPr/>
          <p:nvPr/>
        </p:nvSpPr>
        <p:spPr>
          <a:xfrm>
            <a:off x="2290279" y="4778752"/>
            <a:ext cx="2176736" cy="1595442"/>
          </a:xfrm>
          <a:prstGeom prst="rect">
            <a:avLst/>
          </a:prstGeom>
          <a:noFill/>
          <a:effectLst>
            <a:glow rad="139700">
              <a:schemeClr val="accent3">
                <a:satMod val="175000"/>
                <a:alpha val="40000"/>
              </a:schemeClr>
            </a:glow>
            <a:outerShdw blurRad="63500" sx="102000" sy="102000" algn="ctr"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400" dirty="0">
                <a:ln w="0"/>
                <a:solidFill>
                  <a:schemeClr val="tx1"/>
                </a:solidFill>
                <a:effectLst>
                  <a:outerShdw blurRad="38100" dist="19050" dir="2700000" algn="tl" rotWithShape="0">
                    <a:schemeClr val="dk1">
                      <a:alpha val="40000"/>
                    </a:schemeClr>
                  </a:outerShdw>
                </a:effectLst>
              </a:rPr>
              <a:t> </a:t>
            </a:r>
            <a:r>
              <a:rPr lang="en-IN" sz="1200" b="1" dirty="0">
                <a:ln w="0"/>
                <a:solidFill>
                  <a:schemeClr val="tx1"/>
                </a:solidFill>
                <a:effectLst>
                  <a:outerShdw blurRad="38100" dist="19050" dir="2700000" algn="tl" rotWithShape="0">
                    <a:schemeClr val="dk1">
                      <a:alpha val="40000"/>
                    </a:schemeClr>
                  </a:outerShdw>
                </a:effectLst>
              </a:rPr>
              <a:t>Data Preprocessing</a:t>
            </a:r>
          </a:p>
          <a:p>
            <a:pPr marL="171450" indent="-171450" algn="ctr">
              <a:buFont typeface="Arial" panose="020B0604020202020204" pitchFamily="34" charset="0"/>
              <a:buChar char="•"/>
            </a:pPr>
            <a:r>
              <a:rPr lang="en-IN" sz="1200" b="1" dirty="0">
                <a:ln w="0"/>
                <a:solidFill>
                  <a:schemeClr val="tx1"/>
                </a:solidFill>
                <a:effectLst>
                  <a:outerShdw blurRad="38100" dist="19050" dir="2700000" algn="tl" rotWithShape="0">
                    <a:schemeClr val="dk1">
                      <a:alpha val="40000"/>
                    </a:schemeClr>
                  </a:outerShdw>
                </a:effectLst>
              </a:rPr>
              <a:t>Emotion → SentimentMapping</a:t>
            </a:r>
          </a:p>
          <a:p>
            <a:pPr marL="171450" indent="-171450" algn="ctr">
              <a:buFont typeface="Arial" panose="020B0604020202020204" pitchFamily="34" charset="0"/>
              <a:buChar char="•"/>
            </a:pPr>
            <a:r>
              <a:rPr lang="en-IN" sz="1200" b="1" dirty="0">
                <a:ln w="0"/>
                <a:solidFill>
                  <a:schemeClr val="tx1"/>
                </a:solidFill>
                <a:effectLst>
                  <a:outerShdw blurRad="38100" dist="19050" dir="2700000" algn="tl" rotWithShape="0">
                    <a:schemeClr val="dk1">
                      <a:alpha val="40000"/>
                    </a:schemeClr>
                  </a:outerShdw>
                </a:effectLst>
              </a:rPr>
              <a:t> Balancing (undersampling)</a:t>
            </a:r>
          </a:p>
          <a:p>
            <a:pPr marL="171450" indent="-171450" algn="ctr">
              <a:buFont typeface="Arial" panose="020B0604020202020204" pitchFamily="34" charset="0"/>
              <a:buChar char="•"/>
            </a:pPr>
            <a:r>
              <a:rPr lang="en-IN" sz="1200" b="1" dirty="0">
                <a:ln w="0"/>
                <a:solidFill>
                  <a:schemeClr val="tx1"/>
                </a:solidFill>
                <a:effectLst>
                  <a:outerShdw blurRad="38100" dist="19050" dir="2700000" algn="tl" rotWithShape="0">
                    <a:schemeClr val="dk1">
                      <a:alpha val="40000"/>
                    </a:schemeClr>
                  </a:outerShdw>
                </a:effectLst>
              </a:rPr>
              <a:t>Train/Validation structuring </a:t>
            </a:r>
          </a:p>
          <a:p>
            <a:pPr marL="171450" indent="-171450" algn="ctr">
              <a:buFont typeface="Arial" panose="020B0604020202020204" pitchFamily="34" charset="0"/>
              <a:buChar char="•"/>
            </a:pPr>
            <a:r>
              <a:rPr lang="en-IN" sz="1200" b="1" dirty="0">
                <a:ln w="0"/>
                <a:solidFill>
                  <a:schemeClr val="tx1"/>
                </a:solidFill>
                <a:effectLst>
                  <a:outerShdw blurRad="38100" dist="19050" dir="2700000" algn="tl" rotWithShape="0">
                    <a:schemeClr val="dk1">
                      <a:alpha val="40000"/>
                    </a:schemeClr>
                  </a:outerShdw>
                </a:effectLst>
              </a:rPr>
              <a:t>Normalization &amp; Augmentation</a:t>
            </a:r>
          </a:p>
        </p:txBody>
      </p:sp>
      <p:sp>
        <p:nvSpPr>
          <p:cNvPr id="29" name="Rectangle 28">
            <a:extLst>
              <a:ext uri="{FF2B5EF4-FFF2-40B4-BE49-F238E27FC236}">
                <a16:creationId xmlns:a16="http://schemas.microsoft.com/office/drawing/2014/main" id="{A0519949-F5B4-C740-0841-4194F261EDDC}"/>
              </a:ext>
            </a:extLst>
          </p:cNvPr>
          <p:cNvSpPr/>
          <p:nvPr/>
        </p:nvSpPr>
        <p:spPr>
          <a:xfrm>
            <a:off x="4733304" y="4881995"/>
            <a:ext cx="1799697" cy="1190725"/>
          </a:xfrm>
          <a:prstGeom prst="rect">
            <a:avLst/>
          </a:prstGeom>
          <a:noFill/>
          <a:effectLst>
            <a:glow rad="139700">
              <a:schemeClr val="accent3">
                <a:satMod val="175000"/>
                <a:alpha val="40000"/>
              </a:schemeClr>
            </a:glow>
            <a:outerShdw blurRad="63500" sx="102000" sy="102000" algn="ctr"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600" b="1" dirty="0">
                <a:solidFill>
                  <a:srgbClr val="081012"/>
                </a:solidFill>
              </a:rPr>
              <a:t>CNNModelDesign</a:t>
            </a:r>
          </a:p>
          <a:p>
            <a:pPr marL="285750" indent="-285750" algn="ctr">
              <a:buFont typeface="Wingdings" panose="05000000000000000000" pitchFamily="2" charset="2"/>
              <a:buChar char="q"/>
            </a:pPr>
            <a:r>
              <a:rPr lang="en-IN" sz="1600" b="1" dirty="0">
                <a:solidFill>
                  <a:srgbClr val="081012"/>
                </a:solidFill>
              </a:rPr>
              <a:t>Conv Layers</a:t>
            </a:r>
          </a:p>
          <a:p>
            <a:pPr marL="285750" indent="-285750" algn="ctr">
              <a:buFont typeface="Wingdings" panose="05000000000000000000" pitchFamily="2" charset="2"/>
              <a:buChar char="q"/>
            </a:pPr>
            <a:r>
              <a:rPr lang="en-IN" sz="1600" b="1" dirty="0">
                <a:solidFill>
                  <a:srgbClr val="081012"/>
                </a:solidFill>
              </a:rPr>
              <a:t>BatchNorm</a:t>
            </a:r>
          </a:p>
          <a:p>
            <a:pPr marL="285750" indent="-285750" algn="ctr">
              <a:buFont typeface="Wingdings" panose="05000000000000000000" pitchFamily="2" charset="2"/>
              <a:buChar char="q"/>
            </a:pPr>
            <a:r>
              <a:rPr lang="en-IN" sz="1600" b="1" dirty="0">
                <a:solidFill>
                  <a:srgbClr val="081012"/>
                </a:solidFill>
              </a:rPr>
              <a:t>Dropouts</a:t>
            </a:r>
          </a:p>
        </p:txBody>
      </p:sp>
      <p:sp>
        <p:nvSpPr>
          <p:cNvPr id="30" name="Oval 29">
            <a:extLst>
              <a:ext uri="{FF2B5EF4-FFF2-40B4-BE49-F238E27FC236}">
                <a16:creationId xmlns:a16="http://schemas.microsoft.com/office/drawing/2014/main" id="{DD592ACB-C3A9-C379-AEED-FB9588D8DA3D}"/>
              </a:ext>
            </a:extLst>
          </p:cNvPr>
          <p:cNvSpPr/>
          <p:nvPr/>
        </p:nvSpPr>
        <p:spPr>
          <a:xfrm>
            <a:off x="6638405" y="4653946"/>
            <a:ext cx="1731872" cy="1637881"/>
          </a:xfrm>
          <a:prstGeom prst="ellipse">
            <a:avLst/>
          </a:prstGeom>
          <a:noFill/>
          <a:effectLst>
            <a:glow rad="101600">
              <a:schemeClr val="accent3">
                <a:satMod val="175000"/>
                <a:alpha val="40000"/>
              </a:schemeClr>
            </a:glow>
            <a:outerShdw blurRad="63500" sx="102000" sy="102000" algn="ctr"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pt-BR" sz="1400" b="1" dirty="0">
                <a:solidFill>
                  <a:srgbClr val="081012"/>
                </a:solidFill>
              </a:rPr>
              <a:t>Model Training (100 Epochs)</a:t>
            </a:r>
          </a:p>
          <a:p>
            <a:pPr marL="285750" indent="-285750" algn="ctr">
              <a:buFont typeface="Wingdings" panose="05000000000000000000" pitchFamily="2" charset="2"/>
              <a:buChar char="q"/>
            </a:pPr>
            <a:r>
              <a:rPr lang="pt-BR" sz="1400" b="1" dirty="0">
                <a:solidFill>
                  <a:srgbClr val="081012"/>
                </a:solidFill>
              </a:rPr>
              <a:t>Adam + </a:t>
            </a:r>
          </a:p>
          <a:p>
            <a:pPr algn="ctr"/>
            <a:r>
              <a:rPr lang="pt-BR" sz="1400" b="1" dirty="0">
                <a:solidFill>
                  <a:srgbClr val="081012"/>
                </a:solidFill>
              </a:rPr>
              <a:t>CrossEntropy </a:t>
            </a:r>
            <a:endParaRPr lang="en-IN" sz="1400" b="1" dirty="0">
              <a:solidFill>
                <a:srgbClr val="081012"/>
              </a:solidFill>
            </a:endParaRPr>
          </a:p>
        </p:txBody>
      </p:sp>
      <p:sp>
        <p:nvSpPr>
          <p:cNvPr id="31" name="Rectangle 30">
            <a:extLst>
              <a:ext uri="{FF2B5EF4-FFF2-40B4-BE49-F238E27FC236}">
                <a16:creationId xmlns:a16="http://schemas.microsoft.com/office/drawing/2014/main" id="{C68C24D9-8469-7AA8-690F-843A797BA370}"/>
              </a:ext>
            </a:extLst>
          </p:cNvPr>
          <p:cNvSpPr/>
          <p:nvPr/>
        </p:nvSpPr>
        <p:spPr>
          <a:xfrm>
            <a:off x="8541515" y="4749504"/>
            <a:ext cx="1668027" cy="1399456"/>
          </a:xfrm>
          <a:prstGeom prst="rect">
            <a:avLst/>
          </a:prstGeom>
          <a:noFill/>
          <a:effectLst>
            <a:glow rad="139700">
              <a:schemeClr val="accent3">
                <a:satMod val="175000"/>
                <a:alpha val="40000"/>
              </a:schemeClr>
            </a:glow>
            <a:outerShdw blurRad="63500" sx="102000" sy="102000" algn="ctr"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400" b="1" dirty="0">
                <a:solidFill>
                  <a:srgbClr val="081012"/>
                </a:solidFill>
              </a:rPr>
              <a:t>Evaluation &amp;</a:t>
            </a:r>
          </a:p>
          <a:p>
            <a:pPr algn="ctr"/>
            <a:r>
              <a:rPr lang="en-IN" sz="1400" b="1" dirty="0">
                <a:solidFill>
                  <a:srgbClr val="081012"/>
                </a:solidFill>
              </a:rPr>
              <a:t>Validation</a:t>
            </a:r>
          </a:p>
          <a:p>
            <a:pPr marL="285750" indent="-285750" algn="ctr">
              <a:buFont typeface="Wingdings" panose="05000000000000000000" pitchFamily="2" charset="2"/>
              <a:buChar char="q"/>
            </a:pPr>
            <a:r>
              <a:rPr lang="en-IN" sz="1400" b="1" dirty="0">
                <a:solidFill>
                  <a:srgbClr val="081012"/>
                </a:solidFill>
              </a:rPr>
              <a:t>Accuracy/Loss Curves</a:t>
            </a:r>
          </a:p>
          <a:p>
            <a:pPr marL="285750" indent="-285750" algn="ctr">
              <a:buFont typeface="Wingdings" panose="05000000000000000000" pitchFamily="2" charset="2"/>
              <a:buChar char="q"/>
            </a:pPr>
            <a:r>
              <a:rPr lang="en-IN" sz="1400" b="1" dirty="0">
                <a:solidFill>
                  <a:srgbClr val="081012"/>
                </a:solidFill>
              </a:rPr>
              <a:t>Confusion Matrix</a:t>
            </a:r>
          </a:p>
        </p:txBody>
      </p:sp>
      <p:sp>
        <p:nvSpPr>
          <p:cNvPr id="32" name="Oval 31">
            <a:extLst>
              <a:ext uri="{FF2B5EF4-FFF2-40B4-BE49-F238E27FC236}">
                <a16:creationId xmlns:a16="http://schemas.microsoft.com/office/drawing/2014/main" id="{18FE1FD0-EE4B-2F3F-65F7-E0B4F453A217}"/>
              </a:ext>
            </a:extLst>
          </p:cNvPr>
          <p:cNvSpPr/>
          <p:nvPr/>
        </p:nvSpPr>
        <p:spPr>
          <a:xfrm>
            <a:off x="10380780" y="4757533"/>
            <a:ext cx="1405936" cy="1391427"/>
          </a:xfrm>
          <a:prstGeom prst="ellipse">
            <a:avLst/>
          </a:prstGeom>
          <a:noFill/>
          <a:effectLst>
            <a:glow rad="139700">
              <a:schemeClr val="accent3">
                <a:satMod val="175000"/>
                <a:alpha val="40000"/>
              </a:schemeClr>
            </a:glow>
            <a:outerShdw blurRad="63500" sx="102000" sy="102000" algn="ctr"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600" b="1" dirty="0">
                <a:solidFill>
                  <a:srgbClr val="081012"/>
                </a:solidFill>
              </a:rPr>
              <a:t> Final Model</a:t>
            </a:r>
          </a:p>
          <a:p>
            <a:pPr algn="ctr"/>
            <a:r>
              <a:rPr lang="en-IN" sz="1600" b="1" dirty="0">
                <a:solidFill>
                  <a:srgbClr val="081012"/>
                </a:solidFill>
              </a:rPr>
              <a:t>(Sentiment Class.)</a:t>
            </a:r>
          </a:p>
        </p:txBody>
      </p:sp>
      <p:cxnSp>
        <p:nvCxnSpPr>
          <p:cNvPr id="38" name="Connector: Elbow 37">
            <a:extLst>
              <a:ext uri="{FF2B5EF4-FFF2-40B4-BE49-F238E27FC236}">
                <a16:creationId xmlns:a16="http://schemas.microsoft.com/office/drawing/2014/main" id="{487782C7-9CED-5FB8-7ABE-8AB7537EDE46}"/>
              </a:ext>
            </a:extLst>
          </p:cNvPr>
          <p:cNvCxnSpPr>
            <a:cxnSpLocks/>
            <a:stCxn id="27" idx="0"/>
            <a:endCxn id="28" idx="0"/>
          </p:cNvCxnSpPr>
          <p:nvPr/>
        </p:nvCxnSpPr>
        <p:spPr>
          <a:xfrm rot="16200000" flipH="1">
            <a:off x="2326044" y="3726150"/>
            <a:ext cx="21219" cy="2083985"/>
          </a:xfrm>
          <a:prstGeom prst="bentConnector3">
            <a:avLst>
              <a:gd name="adj1" fmla="val -107733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CF908C03-805D-65E6-8F02-E09D326B03D7}"/>
              </a:ext>
            </a:extLst>
          </p:cNvPr>
          <p:cNvCxnSpPr>
            <a:cxnSpLocks/>
            <a:stCxn id="28" idx="2"/>
            <a:endCxn id="29" idx="2"/>
          </p:cNvCxnSpPr>
          <p:nvPr/>
        </p:nvCxnSpPr>
        <p:spPr>
          <a:xfrm rot="5400000" flipH="1" flipV="1">
            <a:off x="4355163" y="5096204"/>
            <a:ext cx="301474" cy="2254506"/>
          </a:xfrm>
          <a:prstGeom prst="bentConnector3">
            <a:avLst>
              <a:gd name="adj1" fmla="val -7582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5332964B-D88C-28D7-8BFE-7EB494304FC8}"/>
              </a:ext>
            </a:extLst>
          </p:cNvPr>
          <p:cNvCxnSpPr>
            <a:cxnSpLocks/>
            <a:stCxn id="29" idx="0"/>
            <a:endCxn id="30" idx="0"/>
          </p:cNvCxnSpPr>
          <p:nvPr/>
        </p:nvCxnSpPr>
        <p:spPr>
          <a:xfrm rot="5400000" flipH="1" flipV="1">
            <a:off x="6454723" y="3832377"/>
            <a:ext cx="228049" cy="1871188"/>
          </a:xfrm>
          <a:prstGeom prst="bentConnector3">
            <a:avLst>
              <a:gd name="adj1" fmla="val 20024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0C814829-F6D4-8666-9F3E-7088A05C412E}"/>
              </a:ext>
            </a:extLst>
          </p:cNvPr>
          <p:cNvCxnSpPr>
            <a:cxnSpLocks/>
            <a:stCxn id="30" idx="4"/>
            <a:endCxn id="31" idx="2"/>
          </p:cNvCxnSpPr>
          <p:nvPr/>
        </p:nvCxnSpPr>
        <p:spPr>
          <a:xfrm rot="5400000" flipH="1" flipV="1">
            <a:off x="8368501" y="5284800"/>
            <a:ext cx="142867" cy="1871188"/>
          </a:xfrm>
          <a:prstGeom prst="bentConnector3">
            <a:avLst>
              <a:gd name="adj1" fmla="val -160009"/>
            </a:avLst>
          </a:prstGeom>
          <a:ln>
            <a:solidFill>
              <a:schemeClr val="tx1"/>
            </a:solidFill>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3F4A541F-D8DA-B946-0369-357B2AFCF832}"/>
              </a:ext>
            </a:extLst>
          </p:cNvPr>
          <p:cNvCxnSpPr>
            <a:cxnSpLocks/>
            <a:stCxn id="31" idx="0"/>
            <a:endCxn id="32" idx="0"/>
          </p:cNvCxnSpPr>
          <p:nvPr/>
        </p:nvCxnSpPr>
        <p:spPr>
          <a:xfrm rot="16200000" flipH="1">
            <a:off x="10225623" y="3899409"/>
            <a:ext cx="8029" cy="1708219"/>
          </a:xfrm>
          <a:prstGeom prst="bentConnector3">
            <a:avLst>
              <a:gd name="adj1" fmla="val -284717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511A859C-C620-043C-8BCA-C2BF1DFDC878}"/>
              </a:ext>
            </a:extLst>
          </p:cNvPr>
          <p:cNvSpPr txBox="1"/>
          <p:nvPr/>
        </p:nvSpPr>
        <p:spPr>
          <a:xfrm>
            <a:off x="299046" y="3718196"/>
            <a:ext cx="6885956" cy="584775"/>
          </a:xfrm>
          <a:prstGeom prst="rect">
            <a:avLst/>
          </a:prstGeom>
          <a:noFill/>
        </p:spPr>
        <p:txBody>
          <a:bodyPr wrap="square" rtlCol="0">
            <a:spAutoFit/>
          </a:bodyPr>
          <a:lstStyle/>
          <a:p>
            <a:r>
              <a:rPr lang="en-IN" sz="3200" b="1" dirty="0"/>
              <a:t>📌</a:t>
            </a:r>
            <a:r>
              <a:rPr lang="en-IN" sz="2400" b="1" dirty="0">
                <a:latin typeface="Arial" panose="020B0604020202020204" pitchFamily="34" charset="0"/>
                <a:cs typeface="Arial" panose="020B0604020202020204" pitchFamily="34" charset="0"/>
              </a:rPr>
              <a:t>High-Level Workflow Diagram</a:t>
            </a:r>
          </a:p>
        </p:txBody>
      </p:sp>
    </p:spTree>
    <p:extLst>
      <p:ext uri="{BB962C8B-B14F-4D97-AF65-F5344CB8AC3E}">
        <p14:creationId xmlns:p14="http://schemas.microsoft.com/office/powerpoint/2010/main" val="3305960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0270A07-D310-E845-0DDF-99074D12774E}"/>
              </a:ext>
            </a:extLst>
          </p:cNvPr>
          <p:cNvSpPr/>
          <p:nvPr/>
        </p:nvSpPr>
        <p:spPr>
          <a:xfrm>
            <a:off x="509115" y="174107"/>
            <a:ext cx="4354288" cy="582804"/>
          </a:xfrm>
          <a:prstGeom prst="rect">
            <a:avLst/>
          </a:prstGeom>
          <a:ln>
            <a:solidFill>
              <a:schemeClr val="tx2">
                <a:lumMod val="20000"/>
                <a:lumOff val="80000"/>
              </a:schemeClr>
            </a:solidFill>
            <a:extLst>
              <a:ext uri="{C807C97D-BFC1-408E-A445-0C87EB9F89A2}">
                <ask:lineSketchStyleProps xmlns:ask="http://schemas.microsoft.com/office/drawing/2018/sketchyshapes">
                  <ask:type>
                    <ask:lineSketchNone/>
                  </ask:type>
                </ask:lineSketchStyleProps>
              </a:ext>
            </a:extLst>
          </a:ln>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 name="Title 1">
            <a:extLst>
              <a:ext uri="{FF2B5EF4-FFF2-40B4-BE49-F238E27FC236}">
                <a16:creationId xmlns:a16="http://schemas.microsoft.com/office/drawing/2014/main" id="{1ECA6278-9044-E305-7B76-CA7A898FD52E}"/>
              </a:ext>
            </a:extLst>
          </p:cNvPr>
          <p:cNvSpPr>
            <a:spLocks noGrp="1"/>
          </p:cNvSpPr>
          <p:nvPr>
            <p:ph type="title"/>
          </p:nvPr>
        </p:nvSpPr>
        <p:spPr>
          <a:xfrm>
            <a:off x="416170" y="-191205"/>
            <a:ext cx="10515600" cy="1325563"/>
          </a:xfrm>
        </p:spPr>
        <p:txBody>
          <a:bodyPr>
            <a:normAutofit/>
          </a:bodyPr>
          <a:lstStyle/>
          <a:p>
            <a:r>
              <a:rPr lang="en-IN" sz="3200" dirty="0">
                <a:latin typeface="Arial" panose="020B0604020202020204" pitchFamily="34" charset="0"/>
                <a:cs typeface="Arial" panose="020B0604020202020204" pitchFamily="34" charset="0"/>
              </a:rPr>
              <a:t>🔰</a:t>
            </a:r>
            <a:r>
              <a:rPr lang="en-IN" sz="3200" b="1" i="1" dirty="0">
                <a:latin typeface="Arial" panose="020B0604020202020204" pitchFamily="34" charset="0"/>
                <a:cs typeface="Arial" panose="020B0604020202020204" pitchFamily="34" charset="0"/>
              </a:rPr>
              <a:t>MODEL SUMMARY</a:t>
            </a:r>
          </a:p>
        </p:txBody>
      </p:sp>
      <p:graphicFrame>
        <p:nvGraphicFramePr>
          <p:cNvPr id="4" name="Content Placeholder 3">
            <a:extLst>
              <a:ext uri="{FF2B5EF4-FFF2-40B4-BE49-F238E27FC236}">
                <a16:creationId xmlns:a16="http://schemas.microsoft.com/office/drawing/2014/main" id="{3EFCEB5D-17D9-0D0A-7E14-310E89F1E377}"/>
              </a:ext>
            </a:extLst>
          </p:cNvPr>
          <p:cNvGraphicFramePr>
            <a:graphicFrameLocks noGrp="1"/>
          </p:cNvGraphicFramePr>
          <p:nvPr>
            <p:ph idx="1"/>
            <p:extLst>
              <p:ext uri="{D42A27DB-BD31-4B8C-83A1-F6EECF244321}">
                <p14:modId xmlns:p14="http://schemas.microsoft.com/office/powerpoint/2010/main" val="3689035992"/>
              </p:ext>
            </p:extLst>
          </p:nvPr>
        </p:nvGraphicFramePr>
        <p:xfrm>
          <a:off x="509114" y="880650"/>
          <a:ext cx="9770349" cy="5842045"/>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1717037">
                  <a:extLst>
                    <a:ext uri="{9D8B030D-6E8A-4147-A177-3AD203B41FA5}">
                      <a16:colId xmlns:a16="http://schemas.microsoft.com/office/drawing/2014/main" val="69190442"/>
                    </a:ext>
                  </a:extLst>
                </a:gridCol>
                <a:gridCol w="3428308">
                  <a:extLst>
                    <a:ext uri="{9D8B030D-6E8A-4147-A177-3AD203B41FA5}">
                      <a16:colId xmlns:a16="http://schemas.microsoft.com/office/drawing/2014/main" val="1077028955"/>
                    </a:ext>
                  </a:extLst>
                </a:gridCol>
                <a:gridCol w="2888658">
                  <a:extLst>
                    <a:ext uri="{9D8B030D-6E8A-4147-A177-3AD203B41FA5}">
                      <a16:colId xmlns:a16="http://schemas.microsoft.com/office/drawing/2014/main" val="3531194389"/>
                    </a:ext>
                  </a:extLst>
                </a:gridCol>
                <a:gridCol w="1736346">
                  <a:extLst>
                    <a:ext uri="{9D8B030D-6E8A-4147-A177-3AD203B41FA5}">
                      <a16:colId xmlns:a16="http://schemas.microsoft.com/office/drawing/2014/main" val="1932858416"/>
                    </a:ext>
                  </a:extLst>
                </a:gridCol>
              </a:tblGrid>
              <a:tr h="501232">
                <a:tc>
                  <a:txBody>
                    <a:bodyPr/>
                    <a:lstStyle/>
                    <a:p>
                      <a:pPr algn="ctr"/>
                      <a:r>
                        <a:rPr lang="en-IN" dirty="0"/>
                        <a:t>STAGE/LAYER</a:t>
                      </a:r>
                    </a:p>
                  </a:txBody>
                  <a:tcPr/>
                </a:tc>
                <a:tc>
                  <a:txBody>
                    <a:bodyPr/>
                    <a:lstStyle/>
                    <a:p>
                      <a:pPr algn="ctr"/>
                      <a:r>
                        <a:rPr lang="en-IN" dirty="0"/>
                        <a:t>TYPE &amp; PARAMETERS</a:t>
                      </a:r>
                    </a:p>
                  </a:txBody>
                  <a:tcPr/>
                </a:tc>
                <a:tc>
                  <a:txBody>
                    <a:bodyPr/>
                    <a:lstStyle/>
                    <a:p>
                      <a:pPr algn="ctr"/>
                      <a:r>
                        <a:rPr lang="en-IN" dirty="0"/>
                        <a:t>OUTPUT SHAPE</a:t>
                      </a:r>
                    </a:p>
                  </a:txBody>
                  <a:tcPr/>
                </a:tc>
                <a:tc>
                  <a:txBody>
                    <a:bodyPr/>
                    <a:lstStyle/>
                    <a:p>
                      <a:pPr algn="ctr"/>
                      <a:r>
                        <a:rPr lang="en-IN" dirty="0"/>
                        <a:t>NOTES</a:t>
                      </a:r>
                    </a:p>
                  </a:txBody>
                  <a:tcPr/>
                </a:tc>
                <a:extLst>
                  <a:ext uri="{0D108BD9-81ED-4DB2-BD59-A6C34878D82A}">
                    <a16:rowId xmlns:a16="http://schemas.microsoft.com/office/drawing/2014/main" val="1182227193"/>
                  </a:ext>
                </a:extLst>
              </a:tr>
              <a:tr h="603875">
                <a:tc>
                  <a:txBody>
                    <a:bodyPr/>
                    <a:lstStyle/>
                    <a:p>
                      <a:pPr algn="ctr"/>
                      <a:r>
                        <a:rPr lang="en-IN" dirty="0"/>
                        <a:t>Input</a:t>
                      </a:r>
                    </a:p>
                  </a:txBody>
                  <a:tcPr/>
                </a:tc>
                <a:tc>
                  <a:txBody>
                    <a:bodyPr/>
                    <a:lstStyle/>
                    <a:p>
                      <a:pPr algn="ctr"/>
                      <a:r>
                        <a:rPr lang="en-IN" dirty="0"/>
                        <a:t>Input Layer</a:t>
                      </a:r>
                    </a:p>
                  </a:txBody>
                  <a:tcPr/>
                </a:tc>
                <a:tc>
                  <a:txBody>
                    <a:bodyPr/>
                    <a:lstStyle/>
                    <a:p>
                      <a:pPr algn="ctr"/>
                      <a:r>
                        <a:rPr lang="en-US" dirty="0"/>
                        <a:t>(None, IMG_SIZE, IMG_SIZE, 3)</a:t>
                      </a:r>
                      <a:endParaRPr lang="en-IN" dirty="0"/>
                    </a:p>
                  </a:txBody>
                  <a:tcPr/>
                </a:tc>
                <a:tc>
                  <a:txBody>
                    <a:bodyPr/>
                    <a:lstStyle/>
                    <a:p>
                      <a:pPr algn="ctr"/>
                      <a:r>
                        <a:rPr lang="en-IN" dirty="0"/>
                        <a:t>_</a:t>
                      </a:r>
                    </a:p>
                  </a:txBody>
                  <a:tcPr/>
                </a:tc>
                <a:extLst>
                  <a:ext uri="{0D108BD9-81ED-4DB2-BD59-A6C34878D82A}">
                    <a16:rowId xmlns:a16="http://schemas.microsoft.com/office/drawing/2014/main" val="803260492"/>
                  </a:ext>
                </a:extLst>
              </a:tr>
              <a:tr h="603875">
                <a:tc>
                  <a:txBody>
                    <a:bodyPr/>
                    <a:lstStyle/>
                    <a:p>
                      <a:pPr algn="ctr"/>
                      <a:r>
                        <a:rPr lang="en-IN" dirty="0"/>
                        <a:t>Augmentation</a:t>
                      </a:r>
                    </a:p>
                  </a:txBody>
                  <a:tcPr/>
                </a:tc>
                <a:tc>
                  <a:txBody>
                    <a:bodyPr/>
                    <a:lstStyle/>
                    <a:p>
                      <a:pPr algn="ctr"/>
                      <a:r>
                        <a:rPr lang="en-IN" dirty="0"/>
                        <a:t>Data Augmentation</a:t>
                      </a:r>
                    </a:p>
                  </a:txBody>
                  <a:tcPr/>
                </a:tc>
                <a:tc>
                  <a:txBody>
                    <a:bodyPr/>
                    <a:lstStyle/>
                    <a:p>
                      <a:pPr algn="ctr"/>
                      <a:r>
                        <a:rPr lang="en-US" dirty="0"/>
                        <a:t>(None, IMG_SIZE, IMG_SIZE, 3)</a:t>
                      </a:r>
                      <a:endParaRPr lang="en-IN" dirty="0"/>
                    </a:p>
                  </a:txBody>
                  <a:tcPr/>
                </a:tc>
                <a:tc>
                  <a:txBody>
                    <a:bodyPr/>
                    <a:lstStyle/>
                    <a:p>
                      <a:pPr algn="ctr"/>
                      <a:r>
                        <a:rPr lang="en-IN" dirty="0"/>
                        <a:t>_</a:t>
                      </a:r>
                    </a:p>
                  </a:txBody>
                  <a:tcPr/>
                </a:tc>
                <a:extLst>
                  <a:ext uri="{0D108BD9-81ED-4DB2-BD59-A6C34878D82A}">
                    <a16:rowId xmlns:a16="http://schemas.microsoft.com/office/drawing/2014/main" val="1830185728"/>
                  </a:ext>
                </a:extLst>
              </a:tr>
              <a:tr h="937283">
                <a:tc>
                  <a:txBody>
                    <a:bodyPr/>
                    <a:lstStyle/>
                    <a:p>
                      <a:pPr algn="ctr"/>
                      <a:r>
                        <a:rPr lang="en-IN" dirty="0"/>
                        <a:t>Block 1</a:t>
                      </a:r>
                    </a:p>
                  </a:txBody>
                  <a:tcPr/>
                </a:tc>
                <a:tc>
                  <a:txBody>
                    <a:bodyPr/>
                    <a:lstStyle/>
                    <a:p>
                      <a:pPr algn="ctr"/>
                      <a:r>
                        <a:rPr lang="en-IN" sz="1600" dirty="0"/>
                        <a:t>Conv2D (3×3, 32) → BatchNorm → Conv2D (3×3, 32) → MaxPool (2×2) → Dropout (0.25)</a:t>
                      </a:r>
                    </a:p>
                  </a:txBody>
                  <a:tcPr/>
                </a:tc>
                <a:tc>
                  <a:txBody>
                    <a:bodyPr/>
                    <a:lstStyle/>
                    <a:p>
                      <a:pPr algn="ctr"/>
                      <a:r>
                        <a:rPr lang="en-US" dirty="0"/>
                        <a:t>(None, IMG_SIZE/2, IMG_SIZE/2, 32)</a:t>
                      </a:r>
                      <a:endParaRPr lang="en-IN" dirty="0"/>
                    </a:p>
                  </a:txBody>
                  <a:tcPr/>
                </a:tc>
                <a:tc>
                  <a:txBody>
                    <a:bodyPr/>
                    <a:lstStyle/>
                    <a:p>
                      <a:pPr algn="ctr"/>
                      <a:endParaRPr lang="en-IN"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_</a:t>
                      </a:r>
                    </a:p>
                    <a:p>
                      <a:pPr algn="ctr"/>
                      <a:endParaRPr lang="en-IN" dirty="0"/>
                    </a:p>
                  </a:txBody>
                  <a:tcPr/>
                </a:tc>
                <a:extLst>
                  <a:ext uri="{0D108BD9-81ED-4DB2-BD59-A6C34878D82A}">
                    <a16:rowId xmlns:a16="http://schemas.microsoft.com/office/drawing/2014/main" val="2718697986"/>
                  </a:ext>
                </a:extLst>
              </a:tr>
              <a:tr h="937283">
                <a:tc>
                  <a:txBody>
                    <a:bodyPr/>
                    <a:lstStyle/>
                    <a:p>
                      <a:pPr algn="ctr"/>
                      <a:r>
                        <a:rPr lang="en-IN" dirty="0"/>
                        <a:t>Block 2</a:t>
                      </a:r>
                    </a:p>
                  </a:txBody>
                  <a:tcPr/>
                </a:tc>
                <a:tc>
                  <a:txBody>
                    <a:bodyPr/>
                    <a:lstStyle/>
                    <a:p>
                      <a:pPr algn="ctr"/>
                      <a:r>
                        <a:rPr lang="en-IN" sz="1600" dirty="0"/>
                        <a:t>Conv2D (3×3, 64) → BatchNorm → Conv2D (3×3, 64) → MaxPool (2×2) → Dropout (0.35)</a:t>
                      </a:r>
                    </a:p>
                  </a:txBody>
                  <a:tcPr/>
                </a:tc>
                <a:tc>
                  <a:txBody>
                    <a:bodyPr/>
                    <a:lstStyle/>
                    <a:p>
                      <a:pPr algn="ctr"/>
                      <a:r>
                        <a:rPr lang="en-US" dirty="0"/>
                        <a:t>(None, IMG_SIZE/4, IMG_SIZE/4, 64)</a:t>
                      </a:r>
                      <a:endParaRPr lang="en-IN" dirty="0"/>
                    </a:p>
                  </a:txBody>
                  <a:tcPr/>
                </a:tc>
                <a:tc>
                  <a:txBody>
                    <a:bodyPr/>
                    <a:lstStyle/>
                    <a:p>
                      <a:pPr algn="ctr"/>
                      <a:r>
                        <a:rPr lang="en-IN" dirty="0"/>
                        <a:t>_</a:t>
                      </a:r>
                    </a:p>
                  </a:txBody>
                  <a:tcPr/>
                </a:tc>
                <a:extLst>
                  <a:ext uri="{0D108BD9-81ED-4DB2-BD59-A6C34878D82A}">
                    <a16:rowId xmlns:a16="http://schemas.microsoft.com/office/drawing/2014/main" val="889342368"/>
                  </a:ext>
                </a:extLst>
              </a:tr>
              <a:tr h="723047">
                <a:tc>
                  <a:txBody>
                    <a:bodyPr/>
                    <a:lstStyle/>
                    <a:p>
                      <a:pPr algn="ctr"/>
                      <a:r>
                        <a:rPr lang="en-IN" dirty="0"/>
                        <a:t>Block 3</a:t>
                      </a:r>
                    </a:p>
                  </a:txBody>
                  <a:tcPr/>
                </a:tc>
                <a:tc>
                  <a:txBody>
                    <a:bodyPr/>
                    <a:lstStyle/>
                    <a:p>
                      <a:pPr algn="ctr"/>
                      <a:r>
                        <a:rPr lang="en-IN" sz="1600" dirty="0"/>
                        <a:t>Conv2D (3×3, 128) → BatchNorm → MaxPool (2×2) → Dropout (0.4)</a:t>
                      </a:r>
                    </a:p>
                  </a:txBody>
                  <a:tcPr/>
                </a:tc>
                <a:tc>
                  <a:txBody>
                    <a:bodyPr/>
                    <a:lstStyle/>
                    <a:p>
                      <a:pPr algn="ctr"/>
                      <a:r>
                        <a:rPr lang="en-US" dirty="0"/>
                        <a:t>(None, IMG_SIZE/8, IMG_SIZE/8, 128)</a:t>
                      </a:r>
                      <a:endParaRPr lang="en-IN" dirty="0"/>
                    </a:p>
                  </a:txBody>
                  <a:tcPr/>
                </a:tc>
                <a:tc>
                  <a:txBody>
                    <a:bodyPr/>
                    <a:lstStyle/>
                    <a:p>
                      <a:pPr algn="ctr"/>
                      <a:r>
                        <a:rPr lang="en-IN" dirty="0"/>
                        <a:t>_</a:t>
                      </a:r>
                    </a:p>
                  </a:txBody>
                  <a:tcPr/>
                </a:tc>
                <a:extLst>
                  <a:ext uri="{0D108BD9-81ED-4DB2-BD59-A6C34878D82A}">
                    <a16:rowId xmlns:a16="http://schemas.microsoft.com/office/drawing/2014/main" val="3589817299"/>
                  </a:ext>
                </a:extLst>
              </a:tr>
              <a:tr h="345071">
                <a:tc>
                  <a:txBody>
                    <a:bodyPr/>
                    <a:lstStyle/>
                    <a:p>
                      <a:pPr algn="ctr"/>
                      <a:r>
                        <a:rPr lang="en-IN" dirty="0"/>
                        <a:t>Flatten</a:t>
                      </a:r>
                    </a:p>
                  </a:txBody>
                  <a:tcPr/>
                </a:tc>
                <a:tc>
                  <a:txBody>
                    <a:bodyPr/>
                    <a:lstStyle/>
                    <a:p>
                      <a:pPr algn="ctr"/>
                      <a:r>
                        <a:rPr lang="en-IN" dirty="0"/>
                        <a:t>Flatten</a:t>
                      </a:r>
                    </a:p>
                  </a:txBody>
                  <a:tcPr/>
                </a:tc>
                <a:tc>
                  <a:txBody>
                    <a:bodyPr/>
                    <a:lstStyle/>
                    <a:p>
                      <a:pPr algn="ctr"/>
                      <a:r>
                        <a:rPr lang="en-IN" dirty="0"/>
                        <a:t>(None, …)</a:t>
                      </a:r>
                    </a:p>
                  </a:txBody>
                  <a:tcPr/>
                </a:tc>
                <a:tc>
                  <a:txBody>
                    <a:bodyPr/>
                    <a:lstStyle/>
                    <a:p>
                      <a:pPr algn="ctr"/>
                      <a:r>
                        <a:rPr lang="en-IN" dirty="0"/>
                        <a:t>_</a:t>
                      </a:r>
                    </a:p>
                  </a:txBody>
                  <a:tcPr/>
                </a:tc>
                <a:extLst>
                  <a:ext uri="{0D108BD9-81ED-4DB2-BD59-A6C34878D82A}">
                    <a16:rowId xmlns:a16="http://schemas.microsoft.com/office/drawing/2014/main" val="3351219988"/>
                  </a:ext>
                </a:extLst>
              </a:tr>
              <a:tr h="345071">
                <a:tc>
                  <a:txBody>
                    <a:bodyPr/>
                    <a:lstStyle/>
                    <a:p>
                      <a:pPr algn="ctr"/>
                      <a:r>
                        <a:rPr lang="en-IN" dirty="0"/>
                        <a:t>Dense</a:t>
                      </a:r>
                    </a:p>
                  </a:txBody>
                  <a:tcPr/>
                </a:tc>
                <a:tc>
                  <a:txBody>
                    <a:bodyPr/>
                    <a:lstStyle/>
                    <a:p>
                      <a:pPr algn="ctr"/>
                      <a:r>
                        <a:rPr lang="en-IN" dirty="0"/>
                        <a:t>Dense (256) + L2(0.001)</a:t>
                      </a:r>
                    </a:p>
                  </a:txBody>
                  <a:tcPr/>
                </a:tc>
                <a:tc>
                  <a:txBody>
                    <a:bodyPr/>
                    <a:lstStyle/>
                    <a:p>
                      <a:pPr algn="ctr"/>
                      <a:r>
                        <a:rPr lang="en-IN" dirty="0"/>
                        <a:t>(None, 256)</a:t>
                      </a:r>
                    </a:p>
                  </a:txBody>
                  <a:tcPr/>
                </a:tc>
                <a:tc>
                  <a:txBody>
                    <a:bodyPr/>
                    <a:lstStyle/>
                    <a:p>
                      <a:pPr algn="ctr"/>
                      <a:r>
                        <a:rPr lang="en-IN" dirty="0"/>
                        <a:t>_</a:t>
                      </a:r>
                    </a:p>
                  </a:txBody>
                  <a:tcPr/>
                </a:tc>
                <a:extLst>
                  <a:ext uri="{0D108BD9-81ED-4DB2-BD59-A6C34878D82A}">
                    <a16:rowId xmlns:a16="http://schemas.microsoft.com/office/drawing/2014/main" val="2903150826"/>
                  </a:ext>
                </a:extLst>
              </a:tr>
              <a:tr h="345071">
                <a:tc>
                  <a:txBody>
                    <a:bodyPr/>
                    <a:lstStyle/>
                    <a:p>
                      <a:pPr algn="ctr"/>
                      <a:r>
                        <a:rPr lang="en-IN" dirty="0"/>
                        <a:t>Dropout</a:t>
                      </a:r>
                    </a:p>
                  </a:txBody>
                  <a:tcPr/>
                </a:tc>
                <a:tc>
                  <a:txBody>
                    <a:bodyPr/>
                    <a:lstStyle/>
                    <a:p>
                      <a:pPr algn="ctr"/>
                      <a:r>
                        <a:rPr lang="en-IN" dirty="0"/>
                        <a:t>Dropout (0.5)</a:t>
                      </a:r>
                    </a:p>
                  </a:txBody>
                  <a:tcPr/>
                </a:tc>
                <a:tc>
                  <a:txBody>
                    <a:bodyPr/>
                    <a:lstStyle/>
                    <a:p>
                      <a:pPr algn="ctr"/>
                      <a:r>
                        <a:rPr lang="en-IN" dirty="0"/>
                        <a:t>(None, 256)</a:t>
                      </a:r>
                    </a:p>
                  </a:txBody>
                  <a:tcPr/>
                </a:tc>
                <a:tc>
                  <a:txBody>
                    <a:bodyPr/>
                    <a:lstStyle/>
                    <a:p>
                      <a:pPr algn="ctr"/>
                      <a:r>
                        <a:rPr lang="en-IN" dirty="0"/>
                        <a:t>_</a:t>
                      </a:r>
                    </a:p>
                  </a:txBody>
                  <a:tcPr/>
                </a:tc>
                <a:extLst>
                  <a:ext uri="{0D108BD9-81ED-4DB2-BD59-A6C34878D82A}">
                    <a16:rowId xmlns:a16="http://schemas.microsoft.com/office/drawing/2014/main" val="298754768"/>
                  </a:ext>
                </a:extLst>
              </a:tr>
              <a:tr h="345071">
                <a:tc>
                  <a:txBody>
                    <a:bodyPr/>
                    <a:lstStyle/>
                    <a:p>
                      <a:pPr algn="ctr"/>
                      <a:r>
                        <a:rPr lang="en-IN" dirty="0"/>
                        <a:t>Output</a:t>
                      </a:r>
                    </a:p>
                  </a:txBody>
                  <a:tcPr/>
                </a:tc>
                <a:tc>
                  <a:txBody>
                    <a:bodyPr/>
                    <a:lstStyle/>
                    <a:p>
                      <a:pPr algn="ctr"/>
                      <a:r>
                        <a:rPr lang="en-IN" dirty="0"/>
                        <a:t>Dense (3) + Softmax</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(None, 3)</a:t>
                      </a:r>
                    </a:p>
                  </a:txBody>
                  <a:tcPr/>
                </a:tc>
                <a:tc>
                  <a:txBody>
                    <a:bodyPr/>
                    <a:lstStyle/>
                    <a:p>
                      <a:pPr algn="ctr"/>
                      <a:r>
                        <a:rPr lang="en-IN" dirty="0"/>
                        <a:t>3 classes</a:t>
                      </a:r>
                    </a:p>
                  </a:txBody>
                  <a:tcPr/>
                </a:tc>
                <a:extLst>
                  <a:ext uri="{0D108BD9-81ED-4DB2-BD59-A6C34878D82A}">
                    <a16:rowId xmlns:a16="http://schemas.microsoft.com/office/drawing/2014/main" val="2093737912"/>
                  </a:ext>
                </a:extLst>
              </a:tr>
            </a:tbl>
          </a:graphicData>
        </a:graphic>
      </p:graphicFrame>
      <p:sp>
        <p:nvSpPr>
          <p:cNvPr id="6" name="TextBox 5">
            <a:extLst>
              <a:ext uri="{FF2B5EF4-FFF2-40B4-BE49-F238E27FC236}">
                <a16:creationId xmlns:a16="http://schemas.microsoft.com/office/drawing/2014/main" id="{C3E315F3-8A4E-998D-5ECF-BDA95C4F4071}"/>
              </a:ext>
            </a:extLst>
          </p:cNvPr>
          <p:cNvSpPr txBox="1"/>
          <p:nvPr/>
        </p:nvSpPr>
        <p:spPr>
          <a:xfrm>
            <a:off x="10373248" y="2542704"/>
            <a:ext cx="1818752" cy="2246769"/>
          </a:xfrm>
          <a:prstGeom prst="rect">
            <a:avLst/>
          </a:prstGeom>
          <a:noFill/>
        </p:spPr>
        <p:txBody>
          <a:bodyPr wrap="square" rtlCol="0">
            <a:spAutoFit/>
          </a:bodyPr>
          <a:lstStyle/>
          <a:p>
            <a:pPr algn="ctr"/>
            <a:r>
              <a:rPr lang="en-IN" sz="2000" b="1" u="sng" dirty="0"/>
              <a:t>TOTAL NUMBER</a:t>
            </a:r>
          </a:p>
          <a:p>
            <a:pPr algn="ctr"/>
            <a:r>
              <a:rPr lang="en-IN" sz="2000" b="1" u="sng" dirty="0"/>
              <a:t>OF  </a:t>
            </a:r>
          </a:p>
          <a:p>
            <a:pPr algn="ctr"/>
            <a:r>
              <a:rPr lang="en-IN" sz="2000" b="1" u="sng" dirty="0"/>
              <a:t>PARAMETERS</a:t>
            </a:r>
            <a:r>
              <a:rPr lang="en-IN" sz="2000" b="1" dirty="0"/>
              <a:t>:</a:t>
            </a:r>
            <a:r>
              <a:rPr lang="en-IN" sz="2000" b="1" u="sng" dirty="0"/>
              <a:t> </a:t>
            </a:r>
            <a:endParaRPr lang="en-IN" sz="2000" dirty="0"/>
          </a:p>
          <a:p>
            <a:pPr algn="ctr"/>
            <a:endParaRPr lang="en-IN" sz="2000" dirty="0"/>
          </a:p>
          <a:p>
            <a:pPr algn="ctr"/>
            <a:endParaRPr lang="en-IN" sz="2000" dirty="0"/>
          </a:p>
          <a:p>
            <a:pPr algn="ctr"/>
            <a:r>
              <a:rPr lang="en-IN" sz="2000" dirty="0"/>
              <a:t>1,320,547</a:t>
            </a:r>
          </a:p>
        </p:txBody>
      </p:sp>
    </p:spTree>
    <p:extLst>
      <p:ext uri="{BB962C8B-B14F-4D97-AF65-F5344CB8AC3E}">
        <p14:creationId xmlns:p14="http://schemas.microsoft.com/office/powerpoint/2010/main" val="1795775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272" y="369258"/>
            <a:ext cx="10310961" cy="778351"/>
          </a:xfrm>
        </p:spPr>
        <p:txBody>
          <a:bodyPr>
            <a:noAutofit/>
          </a:bodyPr>
          <a:lstStyle/>
          <a:p>
            <a:r>
              <a:rPr lang="en-US" sz="3200" dirty="0">
                <a:latin typeface="Arial" panose="020B0604020202020204" pitchFamily="34" charset="0"/>
                <a:cs typeface="Arial" panose="020B0604020202020204" pitchFamily="34" charset="0"/>
              </a:rPr>
              <a:t>OUTCOME</a:t>
            </a:r>
            <a:br>
              <a:rPr lang="en-US" sz="3200" b="0" i="0" dirty="0">
                <a:solidFill>
                  <a:srgbClr val="0D0D0D"/>
                </a:solidFill>
                <a:effectLst/>
                <a:highlight>
                  <a:srgbClr val="FFFFFF"/>
                </a:highlight>
                <a:latin typeface="Arial" panose="020B0604020202020204" pitchFamily="34" charset="0"/>
                <a:cs typeface="Arial" panose="020B0604020202020204" pitchFamily="34" charset="0"/>
              </a:rPr>
            </a:br>
            <a:endParaRPr lang="en-IN" sz="3200" dirty="0">
              <a:latin typeface="Arial" panose="020B0604020202020204" pitchFamily="34" charset="0"/>
              <a:cs typeface="Arial" panose="020B0604020202020204" pitchFamily="34" charset="0"/>
            </a:endParaRPr>
          </a:p>
        </p:txBody>
      </p:sp>
      <p:pic>
        <p:nvPicPr>
          <p:cNvPr id="4" name="Picture 2" descr="Sister Nivedita University | Best Private College in India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04409" y="11290"/>
            <a:ext cx="1615189" cy="49676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2D16B234-F519-EBE6-D11D-D2399D5DE6C4}"/>
              </a:ext>
            </a:extLst>
          </p:cNvPr>
          <p:cNvSpPr/>
          <p:nvPr/>
        </p:nvSpPr>
        <p:spPr>
          <a:xfrm>
            <a:off x="8289890" y="601650"/>
            <a:ext cx="3629708" cy="2582941"/>
          </a:xfrm>
          <a:prstGeom prst="rect">
            <a:avLst/>
          </a:prstGeom>
          <a:solidFill>
            <a:schemeClr val="bg1"/>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766C848F-15E0-FB2B-0ED1-1BBF933D39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9890" y="550157"/>
            <a:ext cx="3629708" cy="2634434"/>
          </a:xfrm>
          <a:prstGeom prst="rect">
            <a:avLst/>
          </a:prstGeom>
          <a:solidFill>
            <a:schemeClr val="bg1"/>
          </a:solidFill>
          <a:ln>
            <a:solidFill>
              <a:schemeClr val="tx1">
                <a:lumMod val="65000"/>
                <a:lumOff val="35000"/>
              </a:schemeClr>
            </a:solidFill>
          </a:ln>
        </p:spPr>
      </p:pic>
      <p:sp>
        <p:nvSpPr>
          <p:cNvPr id="6" name="Rectangle 5">
            <a:extLst>
              <a:ext uri="{FF2B5EF4-FFF2-40B4-BE49-F238E27FC236}">
                <a16:creationId xmlns:a16="http://schemas.microsoft.com/office/drawing/2014/main" id="{AEB0F60A-CE07-079E-008A-28470FD6FE1A}"/>
              </a:ext>
            </a:extLst>
          </p:cNvPr>
          <p:cNvSpPr/>
          <p:nvPr/>
        </p:nvSpPr>
        <p:spPr>
          <a:xfrm>
            <a:off x="2632668" y="1147609"/>
            <a:ext cx="2863780" cy="62090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Rectangle 4">
            <a:extLst>
              <a:ext uri="{FF2B5EF4-FFF2-40B4-BE49-F238E27FC236}">
                <a16:creationId xmlns:a16="http://schemas.microsoft.com/office/drawing/2014/main" id="{067FA0A3-AC0F-0F3A-67A7-262E7A3ED06E}"/>
              </a:ext>
            </a:extLst>
          </p:cNvPr>
          <p:cNvSpPr/>
          <p:nvPr/>
        </p:nvSpPr>
        <p:spPr>
          <a:xfrm>
            <a:off x="472272" y="822604"/>
            <a:ext cx="7375490" cy="287705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dirty="0">
                <a:solidFill>
                  <a:srgbClr val="0D0D0D"/>
                </a:solidFill>
                <a:highlight>
                  <a:srgbClr val="FFFFFF"/>
                </a:highlight>
                <a:latin typeface="Arial" panose="020B0604020202020204" pitchFamily="34" charset="0"/>
                <a:cs typeface="Arial" panose="020B0604020202020204" pitchFamily="34" charset="0"/>
              </a:rPr>
              <a:t>🔎</a:t>
            </a:r>
            <a:r>
              <a:rPr lang="en-US" sz="2400" b="1" dirty="0">
                <a:solidFill>
                  <a:srgbClr val="0D0D0D"/>
                </a:solidFill>
                <a:highlight>
                  <a:srgbClr val="FFFFFF"/>
                </a:highlight>
                <a:latin typeface="Arial" panose="020B0604020202020204" pitchFamily="34" charset="0"/>
                <a:cs typeface="Arial" panose="020B0604020202020204" pitchFamily="34" charset="0"/>
              </a:rPr>
              <a:t>Expected Results</a:t>
            </a:r>
            <a:r>
              <a:rPr lang="en-US" sz="2400" dirty="0">
                <a:solidFill>
                  <a:srgbClr val="0D0D0D"/>
                </a:solidFill>
                <a:highlight>
                  <a:srgbClr val="FFFFFF"/>
                </a:highlight>
                <a:latin typeface="Arial" panose="020B0604020202020204" pitchFamily="34" charset="0"/>
                <a:cs typeface="Arial" panose="020B0604020202020204" pitchFamily="34" charset="0"/>
              </a:rPr>
              <a:t>: </a:t>
            </a:r>
            <a:r>
              <a:rPr lang="en-US" dirty="0">
                <a:solidFill>
                  <a:srgbClr val="0D0D0D"/>
                </a:solidFill>
              </a:rPr>
              <a:t>Based on the experiments conducted:</a:t>
            </a:r>
          </a:p>
          <a:p>
            <a:pPr algn="just"/>
            <a:r>
              <a:rPr lang="en-US" dirty="0">
                <a:solidFill>
                  <a:srgbClr val="0D0D0D"/>
                </a:solidFill>
                <a:highlight>
                  <a:srgbClr val="FFFFFF"/>
                </a:highlight>
              </a:rPr>
              <a:t>        Training Accuracy: ~71%</a:t>
            </a:r>
          </a:p>
          <a:p>
            <a:pPr algn="just"/>
            <a:r>
              <a:rPr lang="en-US" dirty="0">
                <a:solidFill>
                  <a:srgbClr val="0D0D0D"/>
                </a:solidFill>
                <a:highlight>
                  <a:srgbClr val="FFFFFF"/>
                </a:highlight>
              </a:rPr>
              <a:t>        Validation Accuracy: ~73%</a:t>
            </a:r>
          </a:p>
          <a:p>
            <a:pPr algn="just"/>
            <a:r>
              <a:rPr lang="en-US" dirty="0">
                <a:solidFill>
                  <a:srgbClr val="0D0D0D"/>
                </a:solidFill>
              </a:rPr>
              <a:t>Good generalization (validation accuracy &gt; training accuracy slightly)</a:t>
            </a:r>
          </a:p>
          <a:p>
            <a:pPr algn="just"/>
            <a:r>
              <a:rPr lang="en-US" dirty="0">
                <a:solidFill>
                  <a:srgbClr val="0D0D0D"/>
                </a:solidFill>
              </a:rPr>
              <a:t>Positive class performs best (precision/recall highest in confusion matrix)</a:t>
            </a:r>
          </a:p>
          <a:p>
            <a:pPr algn="just"/>
            <a:r>
              <a:rPr lang="en-US" dirty="0">
                <a:solidFill>
                  <a:srgbClr val="0D0D0D"/>
                </a:solidFill>
              </a:rPr>
              <a:t>Negative class shows most confusion with Neutral, due to subtle facial cues.</a:t>
            </a:r>
          </a:p>
          <a:p>
            <a:pPr algn="just"/>
            <a:r>
              <a:rPr lang="en-US" i="1" u="sng" dirty="0">
                <a:solidFill>
                  <a:srgbClr val="0D0D0D"/>
                </a:solidFill>
              </a:rPr>
              <a:t>Expected trends</a:t>
            </a:r>
            <a:r>
              <a:rPr lang="en-US" i="1" dirty="0">
                <a:solidFill>
                  <a:srgbClr val="0D0D0D"/>
                </a:solidFill>
              </a:rPr>
              <a:t>: </a:t>
            </a:r>
          </a:p>
          <a:p>
            <a:pPr marL="285750" indent="-285750" algn="just">
              <a:buFont typeface="Arial" panose="020B0604020202020204" pitchFamily="34" charset="0"/>
              <a:buChar char="•"/>
            </a:pPr>
            <a:r>
              <a:rPr lang="en-US" dirty="0">
                <a:solidFill>
                  <a:srgbClr val="0D0D0D"/>
                </a:solidFill>
              </a:rPr>
              <a:t>Augmentation reduces overfitting</a:t>
            </a:r>
          </a:p>
          <a:p>
            <a:pPr marL="285750" indent="-285750" algn="just">
              <a:buFont typeface="Arial" panose="020B0604020202020204" pitchFamily="34" charset="0"/>
              <a:buChar char="•"/>
            </a:pPr>
            <a:r>
              <a:rPr lang="en-US" dirty="0">
                <a:solidFill>
                  <a:srgbClr val="0D0D0D"/>
                </a:solidFill>
              </a:rPr>
              <a:t>100 epochs provide stable convergence</a:t>
            </a:r>
          </a:p>
          <a:p>
            <a:pPr algn="ctr"/>
            <a:endParaRPr lang="en-IN" dirty="0"/>
          </a:p>
        </p:txBody>
      </p:sp>
      <p:sp>
        <p:nvSpPr>
          <p:cNvPr id="41" name="Rectangle 40">
            <a:extLst>
              <a:ext uri="{FF2B5EF4-FFF2-40B4-BE49-F238E27FC236}">
                <a16:creationId xmlns:a16="http://schemas.microsoft.com/office/drawing/2014/main" id="{9E8DB10B-479C-7462-3F6D-4773EE86B408}"/>
              </a:ext>
            </a:extLst>
          </p:cNvPr>
          <p:cNvSpPr/>
          <p:nvPr/>
        </p:nvSpPr>
        <p:spPr>
          <a:xfrm>
            <a:off x="472273" y="4148217"/>
            <a:ext cx="11244105" cy="2177999"/>
          </a:xfrm>
          <a:prstGeom prst="rect">
            <a:avLst/>
          </a:prstGeom>
          <a:solidFill>
            <a:schemeClr val="bg1">
              <a:lumMod val="95000"/>
            </a:schemeClr>
          </a:solidFill>
          <a:ln>
            <a:solidFill>
              <a:schemeClr val="bg1">
                <a:lumMod val="65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2" name="TextBox 41">
            <a:extLst>
              <a:ext uri="{FF2B5EF4-FFF2-40B4-BE49-F238E27FC236}">
                <a16:creationId xmlns:a16="http://schemas.microsoft.com/office/drawing/2014/main" id="{0667BB8B-FF38-354E-E42F-C7B4438E1833}"/>
              </a:ext>
            </a:extLst>
          </p:cNvPr>
          <p:cNvSpPr txBox="1"/>
          <p:nvPr/>
        </p:nvSpPr>
        <p:spPr>
          <a:xfrm>
            <a:off x="576104" y="3544621"/>
            <a:ext cx="11036441" cy="523220"/>
          </a:xfrm>
          <a:prstGeom prst="rect">
            <a:avLst/>
          </a:prstGeom>
          <a:noFill/>
        </p:spPr>
        <p:txBody>
          <a:bodyPr wrap="square" rtlCol="0">
            <a:spAutoFit/>
          </a:bodyPr>
          <a:lstStyle/>
          <a:p>
            <a:pPr algn="ctr"/>
            <a:r>
              <a:rPr lang="en-US" sz="2800" b="1" u="sng" dirty="0"/>
              <a:t>Real-Time Emotion Detection: Live Webcam Output</a:t>
            </a:r>
            <a:endParaRPr lang="en-IN" sz="2800" b="1" u="sng" dirty="0"/>
          </a:p>
        </p:txBody>
      </p:sp>
      <p:pic>
        <p:nvPicPr>
          <p:cNvPr id="15" name="Content Placeholder 14">
            <a:extLst>
              <a:ext uri="{FF2B5EF4-FFF2-40B4-BE49-F238E27FC236}">
                <a16:creationId xmlns:a16="http://schemas.microsoft.com/office/drawing/2014/main" id="{F107BDCE-3B77-D216-1E35-37A3057D4621}"/>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653971" y="4288909"/>
            <a:ext cx="3410587" cy="1903538"/>
          </a:xfrm>
          <a:solidFill>
            <a:schemeClr val="accent6"/>
          </a:solidFill>
          <a:ln>
            <a:solidFill>
              <a:srgbClr val="00B050"/>
            </a:solidFill>
          </a:ln>
          <a:effectLst>
            <a:outerShdw blurRad="63500" sx="102000" sy="102000" algn="ctr" rotWithShape="0">
              <a:prstClr val="black">
                <a:alpha val="40000"/>
              </a:prstClr>
            </a:outerShdw>
          </a:effectLst>
        </p:spPr>
      </p:pic>
      <p:pic>
        <p:nvPicPr>
          <p:cNvPr id="17" name="Picture 16">
            <a:extLst>
              <a:ext uri="{FF2B5EF4-FFF2-40B4-BE49-F238E27FC236}">
                <a16:creationId xmlns:a16="http://schemas.microsoft.com/office/drawing/2014/main" id="{71B9FE74-C181-4965-EEBC-F5CAE07F3C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90149" y="4288909"/>
            <a:ext cx="3324330" cy="1903538"/>
          </a:xfrm>
          <a:prstGeom prst="rect">
            <a:avLst/>
          </a:prstGeom>
          <a:ln>
            <a:solidFill>
              <a:srgbClr val="FF0000"/>
            </a:solidFill>
          </a:ln>
          <a:effectLst>
            <a:outerShdw blurRad="63500" sx="102000" sy="102000" algn="ctr" rotWithShape="0">
              <a:prstClr val="black">
                <a:alpha val="40000"/>
              </a:prstClr>
            </a:outerShdw>
          </a:effectLst>
        </p:spPr>
      </p:pic>
      <p:pic>
        <p:nvPicPr>
          <p:cNvPr id="19" name="Picture 18">
            <a:extLst>
              <a:ext uri="{FF2B5EF4-FFF2-40B4-BE49-F238E27FC236}">
                <a16:creationId xmlns:a16="http://schemas.microsoft.com/office/drawing/2014/main" id="{9C079CC5-F89F-6F40-256F-A8DD050C031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67985" y="4288909"/>
            <a:ext cx="3518737" cy="1903538"/>
          </a:xfrm>
          <a:prstGeom prst="rect">
            <a:avLst/>
          </a:prstGeom>
          <a:ln>
            <a:solidFill>
              <a:schemeClr val="accent4">
                <a:lumMod val="60000"/>
                <a:lumOff val="40000"/>
              </a:schemeClr>
            </a:solidFill>
          </a:ln>
          <a:effectLst>
            <a:outerShdw blurRad="63500" sx="102000" sy="102000" algn="ctr" rotWithShape="0">
              <a:prstClr val="black">
                <a:alpha val="40000"/>
              </a:prstClr>
            </a:outerShdw>
          </a:effectLst>
        </p:spPr>
      </p:pic>
      <p:sp>
        <p:nvSpPr>
          <p:cNvPr id="20" name="TextBox 19">
            <a:extLst>
              <a:ext uri="{FF2B5EF4-FFF2-40B4-BE49-F238E27FC236}">
                <a16:creationId xmlns:a16="http://schemas.microsoft.com/office/drawing/2014/main" id="{1CA61283-78A5-78F3-244D-E820BACA0AB5}"/>
              </a:ext>
            </a:extLst>
          </p:cNvPr>
          <p:cNvSpPr txBox="1"/>
          <p:nvPr/>
        </p:nvSpPr>
        <p:spPr>
          <a:xfrm>
            <a:off x="1842936" y="6406592"/>
            <a:ext cx="1032655" cy="369332"/>
          </a:xfrm>
          <a:prstGeom prst="rect">
            <a:avLst/>
          </a:prstGeom>
          <a:noFill/>
          <a:ln>
            <a:solidFill>
              <a:schemeClr val="accent6"/>
            </a:solidFill>
          </a:ln>
          <a:effectLst>
            <a:glow rad="63500">
              <a:schemeClr val="accent6">
                <a:satMod val="175000"/>
                <a:alpha val="40000"/>
              </a:schemeClr>
            </a:glow>
          </a:effectLst>
        </p:spPr>
        <p:txBody>
          <a:bodyPr wrap="none" rtlCol="0">
            <a:spAutoFit/>
          </a:bodyPr>
          <a:lstStyle/>
          <a:p>
            <a:r>
              <a:rPr lang="en-IN" u="sng" dirty="0">
                <a:solidFill>
                  <a:srgbClr val="081012"/>
                </a:solidFill>
              </a:rPr>
              <a:t>POSITIVE</a:t>
            </a:r>
          </a:p>
        </p:txBody>
      </p:sp>
      <p:sp>
        <p:nvSpPr>
          <p:cNvPr id="21" name="TextBox 20">
            <a:extLst>
              <a:ext uri="{FF2B5EF4-FFF2-40B4-BE49-F238E27FC236}">
                <a16:creationId xmlns:a16="http://schemas.microsoft.com/office/drawing/2014/main" id="{F949A22D-DE8C-C9D1-B5D9-FB55145F91DB}"/>
              </a:ext>
            </a:extLst>
          </p:cNvPr>
          <p:cNvSpPr txBox="1"/>
          <p:nvPr/>
        </p:nvSpPr>
        <p:spPr>
          <a:xfrm>
            <a:off x="5596600" y="6382250"/>
            <a:ext cx="1061509" cy="369332"/>
          </a:xfrm>
          <a:prstGeom prst="rect">
            <a:avLst/>
          </a:prstGeom>
          <a:noFill/>
          <a:ln>
            <a:solidFill>
              <a:schemeClr val="accent4"/>
            </a:solidFill>
          </a:ln>
          <a:effectLst>
            <a:glow rad="63500">
              <a:srgbClr val="FF9900">
                <a:alpha val="40000"/>
              </a:srgbClr>
            </a:glow>
          </a:effectLst>
        </p:spPr>
        <p:txBody>
          <a:bodyPr wrap="none" rtlCol="0">
            <a:spAutoFit/>
          </a:bodyPr>
          <a:lstStyle/>
          <a:p>
            <a:r>
              <a:rPr lang="en-IN" u="sng" dirty="0">
                <a:solidFill>
                  <a:srgbClr val="081012"/>
                </a:solidFill>
              </a:rPr>
              <a:t>NEUTRAL</a:t>
            </a:r>
          </a:p>
        </p:txBody>
      </p:sp>
      <p:sp>
        <p:nvSpPr>
          <p:cNvPr id="23" name="TextBox 22">
            <a:extLst>
              <a:ext uri="{FF2B5EF4-FFF2-40B4-BE49-F238E27FC236}">
                <a16:creationId xmlns:a16="http://schemas.microsoft.com/office/drawing/2014/main" id="{4733156D-3282-5E82-9475-A31A643150EB}"/>
              </a:ext>
            </a:extLst>
          </p:cNvPr>
          <p:cNvSpPr txBox="1"/>
          <p:nvPr/>
        </p:nvSpPr>
        <p:spPr>
          <a:xfrm>
            <a:off x="9316993" y="6408139"/>
            <a:ext cx="1117742" cy="369332"/>
          </a:xfrm>
          <a:prstGeom prst="rect">
            <a:avLst/>
          </a:prstGeom>
          <a:noFill/>
          <a:ln>
            <a:solidFill>
              <a:srgbClr val="C00000"/>
            </a:solidFill>
          </a:ln>
          <a:effectLst>
            <a:glow rad="63500">
              <a:srgbClr val="FF0000">
                <a:alpha val="40000"/>
              </a:srgbClr>
            </a:glow>
          </a:effectLst>
        </p:spPr>
        <p:txBody>
          <a:bodyPr wrap="square" rtlCol="0">
            <a:spAutoFit/>
          </a:bodyPr>
          <a:lstStyle/>
          <a:p>
            <a:r>
              <a:rPr lang="en-IN" u="sng" dirty="0">
                <a:solidFill>
                  <a:srgbClr val="081012"/>
                </a:solidFill>
              </a:rPr>
              <a:t>NEGATIVE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0AE11-DE15-B66A-F29B-F4D9E302E333}"/>
              </a:ext>
            </a:extLst>
          </p:cNvPr>
          <p:cNvSpPr>
            <a:spLocks noGrp="1"/>
          </p:cNvSpPr>
          <p:nvPr>
            <p:ph type="title"/>
          </p:nvPr>
        </p:nvSpPr>
        <p:spPr>
          <a:xfrm>
            <a:off x="838200" y="552659"/>
            <a:ext cx="10515600" cy="64309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900380A2-C349-FED4-9547-7CE096D4C8A2}"/>
              </a:ext>
            </a:extLst>
          </p:cNvPr>
          <p:cNvSpPr>
            <a:spLocks noGrp="1"/>
          </p:cNvSpPr>
          <p:nvPr>
            <p:ph idx="1"/>
          </p:nvPr>
        </p:nvSpPr>
        <p:spPr>
          <a:xfrm>
            <a:off x="838200" y="693336"/>
            <a:ext cx="10515600" cy="5799537"/>
          </a:xfrm>
        </p:spPr>
        <p:txBody>
          <a:bodyPr>
            <a:normAutofit fontScale="85000" lnSpcReduction="10000"/>
          </a:bodyPr>
          <a:lstStyle/>
          <a:p>
            <a:pPr marL="0" indent="0">
              <a:buNone/>
            </a:pPr>
            <a:r>
              <a:rPr lang="en-IN" sz="3600" b="1" dirty="0">
                <a:solidFill>
                  <a:srgbClr val="0D0D0D"/>
                </a:solidFill>
                <a:highlight>
                  <a:srgbClr val="FFFFFF"/>
                </a:highlight>
                <a:latin typeface="Arial" panose="020B0604020202020204" pitchFamily="34" charset="0"/>
                <a:cs typeface="Arial" panose="020B0604020202020204" pitchFamily="34" charset="0"/>
              </a:rPr>
              <a:t>💡</a:t>
            </a:r>
            <a:r>
              <a:rPr lang="en-US" sz="3600" b="1" dirty="0">
                <a:solidFill>
                  <a:srgbClr val="0D0D0D"/>
                </a:solidFill>
                <a:highlight>
                  <a:srgbClr val="FFFFFF"/>
                </a:highlight>
                <a:latin typeface="Arial" panose="020B0604020202020204" pitchFamily="34" charset="0"/>
                <a:cs typeface="Arial" panose="020B0604020202020204" pitchFamily="34" charset="0"/>
              </a:rPr>
              <a:t>Potential Impact</a:t>
            </a:r>
            <a:endParaRPr lang="en-US" sz="3600" b="1" dirty="0">
              <a:latin typeface="Arial" panose="020B0604020202020204" pitchFamily="34" charset="0"/>
              <a:cs typeface="Arial" panose="020B0604020202020204" pitchFamily="34" charset="0"/>
            </a:endParaRPr>
          </a:p>
          <a:p>
            <a:pPr>
              <a:lnSpc>
                <a:spcPct val="110000"/>
              </a:lnSpc>
            </a:pPr>
            <a:r>
              <a:rPr lang="en-US" dirty="0"/>
              <a:t>Improves classroom engagement by detecting student attention levels in real time and helping teachers quickly identify bored, distracted, or confused students.</a:t>
            </a:r>
          </a:p>
          <a:p>
            <a:pPr>
              <a:lnSpc>
                <a:spcPct val="110000"/>
              </a:lnSpc>
            </a:pPr>
            <a:r>
              <a:rPr lang="en-US" dirty="0"/>
              <a:t>Supports personalized teaching by showing which topics trigger negative emotions and which ones engage students, allowing instructors to adjust their style instantly.</a:t>
            </a:r>
          </a:p>
          <a:p>
            <a:pPr>
              <a:lnSpc>
                <a:spcPct val="110000"/>
              </a:lnSpc>
            </a:pPr>
            <a:r>
              <a:rPr lang="en-US" dirty="0"/>
              <a:t>Enhances learning outcomes through data-driven insights that track class mood trends, overall participation, and emotional patterns over time.</a:t>
            </a:r>
          </a:p>
          <a:p>
            <a:pPr>
              <a:lnSpc>
                <a:spcPct val="110000"/>
              </a:lnSpc>
            </a:pPr>
            <a:r>
              <a:rPr lang="en-US" dirty="0"/>
              <a:t>Helps early intervention by identifying consistently disengaged or distressed students so teachers can provide timely support before performance drops.</a:t>
            </a:r>
          </a:p>
          <a:p>
            <a:pPr>
              <a:lnSpc>
                <a:spcPct val="110000"/>
              </a:lnSpc>
            </a:pPr>
            <a:r>
              <a:rPr lang="en-US" dirty="0"/>
              <a:t>Reduces manual monitoring by automating attendance, attention tracking, and emotion analysis, saving teachers time and improving classroom efficiency.</a:t>
            </a:r>
          </a:p>
          <a:p>
            <a:endParaRPr lang="en-IN" dirty="0"/>
          </a:p>
        </p:txBody>
      </p:sp>
    </p:spTree>
    <p:extLst>
      <p:ext uri="{BB962C8B-B14F-4D97-AF65-F5344CB8AC3E}">
        <p14:creationId xmlns:p14="http://schemas.microsoft.com/office/powerpoint/2010/main" val="1781866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3530" y="173038"/>
            <a:ext cx="4029388" cy="1053969"/>
          </a:xfrm>
        </p:spPr>
        <p:txBody>
          <a:bodyPr anchor="ctr">
            <a:normAutofit/>
          </a:bodyPr>
          <a:lstStyle/>
          <a:p>
            <a:pPr>
              <a:lnSpc>
                <a:spcPct val="100000"/>
              </a:lnSpc>
            </a:pPr>
            <a:r>
              <a:rPr lang="en-IN" sz="3600" dirty="0">
                <a:latin typeface="Arial" panose="020B0604020202020204" pitchFamily="34" charset="0"/>
                <a:cs typeface="Arial" panose="020B0604020202020204" pitchFamily="34" charset="0"/>
              </a:rPr>
              <a:t>SIGNIFICANCE</a:t>
            </a:r>
          </a:p>
        </p:txBody>
      </p:sp>
      <p:sp>
        <p:nvSpPr>
          <p:cNvPr id="3" name="Content Placeholder 2"/>
          <p:cNvSpPr>
            <a:spLocks noGrp="1"/>
          </p:cNvSpPr>
          <p:nvPr>
            <p:ph idx="1"/>
          </p:nvPr>
        </p:nvSpPr>
        <p:spPr>
          <a:xfrm>
            <a:off x="582805" y="834013"/>
            <a:ext cx="11305456" cy="5609788"/>
          </a:xfrm>
        </p:spPr>
        <p:txBody>
          <a:bodyPr vert="horz" lIns="91440" tIns="45720" rIns="91440" bIns="45720" rtlCol="0" anchor="t">
            <a:normAutofit fontScale="92500" lnSpcReduction="20000"/>
          </a:bodyPr>
          <a:lstStyle/>
          <a:p>
            <a:pPr marL="0" indent="0">
              <a:lnSpc>
                <a:spcPct val="100000"/>
              </a:lnSpc>
              <a:buNone/>
            </a:pPr>
            <a:endParaRPr lang="en-IN" b="1" dirty="0">
              <a:solidFill>
                <a:srgbClr val="0D0D0D"/>
              </a:solidFill>
              <a:highlight>
                <a:srgbClr val="FFFFFF"/>
              </a:highlight>
              <a:latin typeface="ui-sans-serif"/>
              <a:cs typeface="Arial"/>
            </a:endParaRPr>
          </a:p>
          <a:p>
            <a:pPr marL="0" indent="0">
              <a:lnSpc>
                <a:spcPct val="100000"/>
              </a:lnSpc>
              <a:buNone/>
            </a:pPr>
            <a:r>
              <a:rPr lang="en-IN" b="1" dirty="0">
                <a:solidFill>
                  <a:srgbClr val="0D0D0D"/>
                </a:solidFill>
                <a:highlight>
                  <a:srgbClr val="FFFFFF"/>
                </a:highlight>
                <a:latin typeface="ui-sans-serif"/>
                <a:cs typeface="Arial"/>
              </a:rPr>
              <a:t>💡</a:t>
            </a:r>
            <a:r>
              <a:rPr lang="en-IN" b="1" i="0" dirty="0">
                <a:solidFill>
                  <a:srgbClr val="0D0D0D"/>
                </a:solidFill>
                <a:effectLst/>
                <a:highlight>
                  <a:srgbClr val="FFFFFF"/>
                </a:highlight>
                <a:latin typeface="Arial"/>
                <a:cs typeface="Arial"/>
              </a:rPr>
              <a:t>Practical Applications</a:t>
            </a:r>
          </a:p>
          <a:p>
            <a:pPr algn="just">
              <a:lnSpc>
                <a:spcPct val="100000"/>
              </a:lnSpc>
              <a:buFont typeface="Wingdings" panose="05000000000000000000" pitchFamily="2" charset="2"/>
              <a:buChar char="ü"/>
            </a:pPr>
            <a:r>
              <a:rPr lang="en-US" sz="2000" dirty="0">
                <a:solidFill>
                  <a:srgbClr val="0D0D0D"/>
                </a:solidFill>
              </a:rPr>
              <a:t>  Enhances real-time monitoring of student engagement and performance.</a:t>
            </a:r>
          </a:p>
          <a:p>
            <a:pPr algn="just">
              <a:lnSpc>
                <a:spcPct val="100000"/>
              </a:lnSpc>
              <a:buFont typeface="Wingdings" panose="05000000000000000000" pitchFamily="2" charset="2"/>
              <a:buChar char="ü"/>
            </a:pPr>
            <a:r>
              <a:rPr lang="en-US" sz="2000" dirty="0">
                <a:solidFill>
                  <a:srgbClr val="0D0D0D"/>
                </a:solidFill>
              </a:rPr>
              <a:t>  Helps teachers identify struggling students early for timely intervention.</a:t>
            </a:r>
          </a:p>
          <a:p>
            <a:pPr algn="just">
              <a:lnSpc>
                <a:spcPct val="100000"/>
              </a:lnSpc>
              <a:buFont typeface="Wingdings" panose="05000000000000000000" pitchFamily="2" charset="2"/>
              <a:buChar char="ü"/>
            </a:pPr>
            <a:r>
              <a:rPr lang="en-US" sz="2000" dirty="0">
                <a:solidFill>
                  <a:srgbClr val="0D0D0D"/>
                </a:solidFill>
                <a:highlight>
                  <a:srgbClr val="FFFFFF"/>
                </a:highlight>
              </a:rPr>
              <a:t>  Automates data collection, reducing manual workload for educators.</a:t>
            </a:r>
          </a:p>
          <a:p>
            <a:pPr algn="just">
              <a:lnSpc>
                <a:spcPct val="100000"/>
              </a:lnSpc>
              <a:buFont typeface="Wingdings" panose="05000000000000000000" pitchFamily="2" charset="2"/>
              <a:buChar char="ü"/>
            </a:pPr>
            <a:r>
              <a:rPr lang="en-US" sz="2000" dirty="0">
                <a:solidFill>
                  <a:srgbClr val="0D0D0D"/>
                </a:solidFill>
              </a:rPr>
              <a:t>  Supports personalized learning through continuous performance insights.</a:t>
            </a:r>
          </a:p>
          <a:p>
            <a:pPr algn="just">
              <a:lnSpc>
                <a:spcPct val="100000"/>
              </a:lnSpc>
              <a:buFont typeface="Wingdings" panose="05000000000000000000" pitchFamily="2" charset="2"/>
              <a:buChar char="ü"/>
            </a:pPr>
            <a:r>
              <a:rPr lang="en-US" sz="2000" dirty="0">
                <a:solidFill>
                  <a:srgbClr val="0D0D0D"/>
                </a:solidFill>
                <a:highlight>
                  <a:srgbClr val="FFFFFF"/>
                </a:highlight>
              </a:rPr>
              <a:t>  Improves classroom management and teaching effectiveness.</a:t>
            </a:r>
          </a:p>
          <a:p>
            <a:pPr algn="just">
              <a:lnSpc>
                <a:spcPct val="100000"/>
              </a:lnSpc>
              <a:buFont typeface="Wingdings" panose="05000000000000000000" pitchFamily="2" charset="2"/>
              <a:buChar char="ü"/>
            </a:pPr>
            <a:endParaRPr lang="en-IN" sz="2000" b="0" i="0" dirty="0">
              <a:solidFill>
                <a:srgbClr val="0D0D0D"/>
              </a:solidFill>
              <a:effectLst/>
              <a:highlight>
                <a:srgbClr val="FFFFFF"/>
              </a:highlight>
            </a:endParaRPr>
          </a:p>
          <a:p>
            <a:pPr marL="0" indent="0">
              <a:lnSpc>
                <a:spcPct val="100000"/>
              </a:lnSpc>
              <a:buNone/>
            </a:pPr>
            <a:r>
              <a:rPr lang="en-IN" b="1" i="0" dirty="0">
                <a:solidFill>
                  <a:srgbClr val="0D0D0D"/>
                </a:solidFill>
                <a:effectLst/>
                <a:highlight>
                  <a:srgbClr val="FFFFFF"/>
                </a:highlight>
                <a:latin typeface="ui-sans-serif"/>
              </a:rPr>
              <a:t>🔆</a:t>
            </a:r>
            <a:r>
              <a:rPr lang="en-IN" b="1" i="0" dirty="0">
                <a:solidFill>
                  <a:srgbClr val="0D0D0D"/>
                </a:solidFill>
                <a:effectLst/>
                <a:highlight>
                  <a:srgbClr val="FFFFFF"/>
                </a:highlight>
                <a:latin typeface="Arial"/>
                <a:cs typeface="Arial"/>
              </a:rPr>
              <a:t>Contribution to the Field</a:t>
            </a:r>
          </a:p>
          <a:p>
            <a:pPr>
              <a:lnSpc>
                <a:spcPct val="100000"/>
              </a:lnSpc>
              <a:buFont typeface="Courier New" panose="02070309020205020404" pitchFamily="49" charset="0"/>
              <a:buChar char="o"/>
            </a:pPr>
            <a:r>
              <a:rPr lang="en-US" sz="2000" dirty="0">
                <a:solidFill>
                  <a:srgbClr val="0D0D0D"/>
                </a:solidFill>
              </a:rPr>
              <a:t> </a:t>
            </a:r>
            <a:r>
              <a:rPr lang="en-US" sz="2000" b="1" dirty="0">
                <a:solidFill>
                  <a:srgbClr val="0D0D0D"/>
                </a:solidFill>
              </a:rPr>
              <a:t>Academic Contribution </a:t>
            </a:r>
            <a:r>
              <a:rPr lang="en-US" sz="2000" dirty="0">
                <a:solidFill>
                  <a:srgbClr val="0D0D0D"/>
                </a:solidFill>
              </a:rPr>
              <a:t>: Strengthens research in learning analytics using an AI-based model.</a:t>
            </a:r>
          </a:p>
          <a:p>
            <a:pPr>
              <a:lnSpc>
                <a:spcPct val="100000"/>
              </a:lnSpc>
              <a:buFont typeface="Courier New" panose="02070309020205020404" pitchFamily="49" charset="0"/>
              <a:buChar char="o"/>
            </a:pPr>
            <a:r>
              <a:rPr lang="en-US" sz="2000" b="1" dirty="0">
                <a:solidFill>
                  <a:srgbClr val="0D0D0D"/>
                </a:solidFill>
              </a:rPr>
              <a:t> Innovation in ML Applications </a:t>
            </a:r>
            <a:r>
              <a:rPr lang="en-US" sz="2000" dirty="0">
                <a:solidFill>
                  <a:srgbClr val="0D0D0D"/>
                </a:solidFill>
              </a:rPr>
              <a:t>: Introduces real-time machine learning for immediate classroom insights.</a:t>
            </a:r>
          </a:p>
          <a:p>
            <a:pPr>
              <a:lnSpc>
                <a:spcPct val="100000"/>
              </a:lnSpc>
              <a:buFont typeface="Courier New" panose="02070309020205020404" pitchFamily="49" charset="0"/>
              <a:buChar char="o"/>
            </a:pPr>
            <a:r>
              <a:rPr lang="en-US" sz="2000" dirty="0">
                <a:solidFill>
                  <a:srgbClr val="0D0D0D"/>
                </a:solidFill>
              </a:rPr>
              <a:t> </a:t>
            </a:r>
            <a:r>
              <a:rPr lang="en-US" sz="2000" b="1" dirty="0">
                <a:solidFill>
                  <a:srgbClr val="0D0D0D"/>
                </a:solidFill>
              </a:rPr>
              <a:t>Technological Development </a:t>
            </a:r>
            <a:r>
              <a:rPr lang="en-US" sz="2000" dirty="0">
                <a:solidFill>
                  <a:srgbClr val="0D0D0D"/>
                </a:solidFill>
              </a:rPr>
              <a:t>:  Provides a scalable prototype suitable for future Smart Classroom systems. </a:t>
            </a:r>
          </a:p>
          <a:p>
            <a:pPr>
              <a:lnSpc>
                <a:spcPct val="100000"/>
              </a:lnSpc>
              <a:buFont typeface="Courier New" panose="02070309020205020404" pitchFamily="49" charset="0"/>
              <a:buChar char="o"/>
            </a:pPr>
            <a:r>
              <a:rPr lang="en-US" sz="2000" dirty="0">
                <a:solidFill>
                  <a:srgbClr val="0D0D0D"/>
                </a:solidFill>
              </a:rPr>
              <a:t> </a:t>
            </a:r>
            <a:r>
              <a:rPr lang="en-US" sz="2000" b="1" dirty="0">
                <a:solidFill>
                  <a:srgbClr val="0D0D0D"/>
                </a:solidFill>
              </a:rPr>
              <a:t>Research Foundation </a:t>
            </a:r>
            <a:r>
              <a:rPr lang="en-US" sz="2000" dirty="0">
                <a:solidFill>
                  <a:srgbClr val="0D0D0D"/>
                </a:solidFill>
              </a:rPr>
              <a:t>: Serves as a baseline model for future AI-driven education research.</a:t>
            </a:r>
          </a:p>
          <a:p>
            <a:pPr>
              <a:lnSpc>
                <a:spcPct val="100000"/>
              </a:lnSpc>
              <a:buFont typeface="Courier New" panose="02070309020205020404" pitchFamily="49" charset="0"/>
              <a:buChar char="o"/>
            </a:pPr>
            <a:r>
              <a:rPr lang="en-US" sz="2000" dirty="0">
                <a:solidFill>
                  <a:srgbClr val="0D0D0D"/>
                </a:solidFill>
              </a:rPr>
              <a:t> </a:t>
            </a:r>
            <a:r>
              <a:rPr lang="en-US" sz="2000" b="1" dirty="0">
                <a:solidFill>
                  <a:srgbClr val="0D0D0D"/>
                </a:solidFill>
              </a:rPr>
              <a:t>Implementation Feasibility </a:t>
            </a:r>
            <a:r>
              <a:rPr lang="en-US" sz="2000" dirty="0">
                <a:solidFill>
                  <a:srgbClr val="0D0D0D"/>
                </a:solidFill>
              </a:rPr>
              <a:t>: Demonstrates a practical and easy-to-integrate ML solution for institutions.</a:t>
            </a:r>
          </a:p>
          <a:p>
            <a:pPr>
              <a:lnSpc>
                <a:spcPct val="100000"/>
              </a:lnSpc>
              <a:buFont typeface="Courier New" panose="02070309020205020404" pitchFamily="49" charset="0"/>
              <a:buChar char="o"/>
            </a:pPr>
            <a:r>
              <a:rPr lang="en-US" sz="2000" dirty="0">
                <a:solidFill>
                  <a:srgbClr val="0D0D0D"/>
                </a:solidFill>
              </a:rPr>
              <a:t> </a:t>
            </a:r>
            <a:r>
              <a:rPr lang="en-US" sz="2000" b="1" dirty="0">
                <a:solidFill>
                  <a:srgbClr val="0D0D0D"/>
                </a:solidFill>
              </a:rPr>
              <a:t>Data Contribution </a:t>
            </a:r>
            <a:r>
              <a:rPr lang="en-US" sz="2000" dirty="0">
                <a:solidFill>
                  <a:srgbClr val="0D0D0D"/>
                </a:solidFill>
              </a:rPr>
              <a:t>: Generates structured engagement and performance data useful for further studies.</a:t>
            </a:r>
          </a:p>
          <a:p>
            <a:pPr>
              <a:lnSpc>
                <a:spcPct val="100000"/>
              </a:lnSpc>
              <a:buFont typeface="Courier New" panose="02070309020205020404" pitchFamily="49" charset="0"/>
              <a:buChar char="o"/>
            </a:pPr>
            <a:endParaRPr lang="en-US" sz="2000" dirty="0">
              <a:solidFill>
                <a:srgbClr val="0D0D0D"/>
              </a:solidFill>
              <a:latin typeface="ui-sans-serif"/>
            </a:endParaRPr>
          </a:p>
        </p:txBody>
      </p:sp>
      <p:pic>
        <p:nvPicPr>
          <p:cNvPr id="4" name="Picture 2" descr="Sister Nivedita University | Best Private College in India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440" y="173038"/>
            <a:ext cx="2837806" cy="8727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9432" y="44261"/>
            <a:ext cx="3304846" cy="1104421"/>
          </a:xfrm>
        </p:spPr>
        <p:txBody>
          <a:bodyPr>
            <a:normAutofit/>
          </a:bodyPr>
          <a:lstStyle/>
          <a:p>
            <a:r>
              <a:rPr lang="en-IN" sz="3600">
                <a:latin typeface="Arial" panose="020B0604020202020204" pitchFamily="34" charset="0"/>
                <a:cs typeface="Arial" panose="020B0604020202020204" pitchFamily="34" charset="0"/>
              </a:rPr>
              <a:t>CONCLUSION</a:t>
            </a:r>
          </a:p>
        </p:txBody>
      </p:sp>
      <p:sp>
        <p:nvSpPr>
          <p:cNvPr id="3" name="Content Placeholder 2"/>
          <p:cNvSpPr>
            <a:spLocks noGrp="1"/>
          </p:cNvSpPr>
          <p:nvPr>
            <p:ph idx="1"/>
          </p:nvPr>
        </p:nvSpPr>
        <p:spPr>
          <a:xfrm>
            <a:off x="364236" y="948955"/>
            <a:ext cx="11038332" cy="5493186"/>
          </a:xfrm>
        </p:spPr>
        <p:txBody>
          <a:bodyPr>
            <a:normAutofit/>
          </a:bodyPr>
          <a:lstStyle/>
          <a:p>
            <a:pPr marL="0" indent="0" algn="l">
              <a:buNone/>
            </a:pPr>
            <a:r>
              <a:rPr lang="en-IN" i="1" dirty="0"/>
              <a:t> </a:t>
            </a:r>
          </a:p>
        </p:txBody>
      </p:sp>
      <p:sp>
        <p:nvSpPr>
          <p:cNvPr id="82" name="Rectangle 81">
            <a:extLst>
              <a:ext uri="{FF2B5EF4-FFF2-40B4-BE49-F238E27FC236}">
                <a16:creationId xmlns:a16="http://schemas.microsoft.com/office/drawing/2014/main" id="{3EC54519-7774-62B3-FE77-36C20E5A9C85}"/>
              </a:ext>
            </a:extLst>
          </p:cNvPr>
          <p:cNvSpPr/>
          <p:nvPr/>
        </p:nvSpPr>
        <p:spPr>
          <a:xfrm>
            <a:off x="867266" y="948955"/>
            <a:ext cx="10058399" cy="5491165"/>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4" name="Picture 2" descr="Sister Nivedita University | Best Private College in India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5913" y="143730"/>
            <a:ext cx="2271040" cy="698481"/>
          </a:xfrm>
          <a:prstGeom prst="rect">
            <a:avLst/>
          </a:prstGeom>
          <a:noFill/>
          <a:extLst>
            <a:ext uri="{909E8E84-426E-40DD-AFC4-6F175D3DCCD1}">
              <a14:hiddenFill xmlns:a14="http://schemas.microsoft.com/office/drawing/2010/main">
                <a:solidFill>
                  <a:srgbClr val="FFFFFF"/>
                </a:solidFill>
              </a14:hiddenFill>
            </a:ext>
          </a:extLst>
        </p:spPr>
      </p:pic>
      <p:sp>
        <p:nvSpPr>
          <p:cNvPr id="5" name="Flowchart: Delay 4">
            <a:extLst>
              <a:ext uri="{FF2B5EF4-FFF2-40B4-BE49-F238E27FC236}">
                <a16:creationId xmlns:a16="http://schemas.microsoft.com/office/drawing/2014/main" id="{C8B57FAA-FE84-1334-FE89-1A9BA10F9F3B}"/>
              </a:ext>
            </a:extLst>
          </p:cNvPr>
          <p:cNvSpPr/>
          <p:nvPr/>
        </p:nvSpPr>
        <p:spPr>
          <a:xfrm>
            <a:off x="1394460" y="2532887"/>
            <a:ext cx="2491740" cy="2455671"/>
          </a:xfrm>
          <a:prstGeom prst="flowChartDelay">
            <a:avLst/>
          </a:prstGeom>
          <a:gradFill flip="none" rotWithShape="1">
            <a:gsLst>
              <a:gs pos="0">
                <a:schemeClr val="accent6">
                  <a:lumMod val="40000"/>
                  <a:lumOff val="60000"/>
                  <a:shade val="30000"/>
                  <a:satMod val="115000"/>
                </a:schemeClr>
              </a:gs>
              <a:gs pos="50000">
                <a:schemeClr val="accent6">
                  <a:lumMod val="40000"/>
                  <a:lumOff val="60000"/>
                  <a:shade val="67500"/>
                  <a:satMod val="115000"/>
                </a:schemeClr>
              </a:gs>
              <a:gs pos="100000">
                <a:schemeClr val="accent6">
                  <a:lumMod val="40000"/>
                  <a:lumOff val="60000"/>
                  <a:shade val="100000"/>
                  <a:satMod val="115000"/>
                </a:schemeClr>
              </a:gs>
            </a:gsLst>
            <a:lin ang="10800000" scaled="1"/>
            <a:tileRec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2800" b="1" dirty="0">
                <a:solidFill>
                  <a:schemeClr val="bg1"/>
                </a:solidFill>
                <a:effectLst>
                  <a:outerShdw blurRad="38100" dist="38100" dir="2700000" algn="tl">
                    <a:srgbClr val="000000">
                      <a:alpha val="43137"/>
                    </a:srgbClr>
                  </a:outerShdw>
                </a:effectLst>
                <a:latin typeface="Calibri"/>
                <a:ea typeface="Calibri"/>
                <a:cs typeface="Segoe UI Semibold"/>
              </a:rPr>
              <a:t>SUMMARY</a:t>
            </a:r>
          </a:p>
          <a:p>
            <a:pPr algn="ctr"/>
            <a:r>
              <a:rPr lang="en-IN" sz="2800" b="1" dirty="0">
                <a:solidFill>
                  <a:schemeClr val="bg1"/>
                </a:solidFill>
                <a:effectLst>
                  <a:outerShdw blurRad="38100" dist="38100" dir="2700000" algn="tl">
                    <a:srgbClr val="000000">
                      <a:alpha val="43137"/>
                    </a:srgbClr>
                  </a:outerShdw>
                </a:effectLst>
                <a:latin typeface="Calibri"/>
                <a:ea typeface="Calibri"/>
                <a:cs typeface="Segoe UI Semibold"/>
              </a:rPr>
              <a:t>OF KEY</a:t>
            </a:r>
          </a:p>
          <a:p>
            <a:pPr algn="ctr"/>
            <a:r>
              <a:rPr lang="en-IN" sz="2800" b="1" dirty="0">
                <a:solidFill>
                  <a:schemeClr val="bg1"/>
                </a:solidFill>
                <a:effectLst>
                  <a:outerShdw blurRad="38100" dist="38100" dir="2700000" algn="tl">
                    <a:srgbClr val="000000">
                      <a:alpha val="43137"/>
                    </a:srgbClr>
                  </a:outerShdw>
                </a:effectLst>
                <a:latin typeface="Calibri"/>
                <a:ea typeface="Calibri"/>
                <a:cs typeface="Segoe UI Semibold"/>
              </a:rPr>
              <a:t>POINTS</a:t>
            </a:r>
          </a:p>
        </p:txBody>
      </p:sp>
      <p:sp>
        <p:nvSpPr>
          <p:cNvPr id="17" name="Arc 16">
            <a:extLst>
              <a:ext uri="{FF2B5EF4-FFF2-40B4-BE49-F238E27FC236}">
                <a16:creationId xmlns:a16="http://schemas.microsoft.com/office/drawing/2014/main" id="{706DA134-7CD5-B2FD-2B2F-ED53BCE6CF04}"/>
              </a:ext>
            </a:extLst>
          </p:cNvPr>
          <p:cNvSpPr/>
          <p:nvPr/>
        </p:nvSpPr>
        <p:spPr>
          <a:xfrm>
            <a:off x="-820319" y="2173050"/>
            <a:ext cx="5428895" cy="3170267"/>
          </a:xfrm>
          <a:prstGeom prst="arc">
            <a:avLst>
              <a:gd name="adj1" fmla="val 15083485"/>
              <a:gd name="adj2" fmla="val 6370946"/>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cxnSp>
        <p:nvCxnSpPr>
          <p:cNvPr id="21" name="Connector: Elbow 20">
            <a:extLst>
              <a:ext uri="{FF2B5EF4-FFF2-40B4-BE49-F238E27FC236}">
                <a16:creationId xmlns:a16="http://schemas.microsoft.com/office/drawing/2014/main" id="{DD518520-8789-DBA6-9FC6-868954AB43AD}"/>
              </a:ext>
            </a:extLst>
          </p:cNvPr>
          <p:cNvCxnSpPr>
            <a:cxnSpLocks/>
          </p:cNvCxnSpPr>
          <p:nvPr/>
        </p:nvCxnSpPr>
        <p:spPr>
          <a:xfrm flipV="1">
            <a:off x="1884984" y="1684693"/>
            <a:ext cx="4377131" cy="482621"/>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8CA3A3C2-229E-1C8C-3EAC-7C6F597D8166}"/>
              </a:ext>
            </a:extLst>
          </p:cNvPr>
          <p:cNvCxnSpPr>
            <a:cxnSpLocks/>
            <a:endCxn id="51" idx="1"/>
          </p:cNvCxnSpPr>
          <p:nvPr/>
        </p:nvCxnSpPr>
        <p:spPr>
          <a:xfrm flipV="1">
            <a:off x="3995928" y="2749962"/>
            <a:ext cx="2313432" cy="202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8061FEC4-30D8-46F6-9FA0-985B0A42827F}"/>
              </a:ext>
            </a:extLst>
          </p:cNvPr>
          <p:cNvCxnSpPr>
            <a:cxnSpLocks/>
          </p:cNvCxnSpPr>
          <p:nvPr/>
        </p:nvCxnSpPr>
        <p:spPr>
          <a:xfrm flipV="1">
            <a:off x="4499197" y="4218733"/>
            <a:ext cx="4320888" cy="76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83AB3C10-CFA7-E907-1BF4-8DA5976DB0A6}"/>
              </a:ext>
            </a:extLst>
          </p:cNvPr>
          <p:cNvCxnSpPr>
            <a:cxnSpLocks/>
          </p:cNvCxnSpPr>
          <p:nvPr/>
        </p:nvCxnSpPr>
        <p:spPr>
          <a:xfrm>
            <a:off x="4065066" y="4727448"/>
            <a:ext cx="22351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C1CBB0DE-BA8A-C762-8EDC-A8FF2A7F750C}"/>
              </a:ext>
            </a:extLst>
          </p:cNvPr>
          <p:cNvCxnSpPr>
            <a:cxnSpLocks/>
          </p:cNvCxnSpPr>
          <p:nvPr/>
        </p:nvCxnSpPr>
        <p:spPr>
          <a:xfrm>
            <a:off x="1597688" y="5351658"/>
            <a:ext cx="4711670" cy="43501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D1A7F689-B2F8-9A69-C998-BF0152C9FD22}"/>
              </a:ext>
            </a:extLst>
          </p:cNvPr>
          <p:cNvSpPr/>
          <p:nvPr/>
        </p:nvSpPr>
        <p:spPr>
          <a:xfrm>
            <a:off x="6309358" y="1210687"/>
            <a:ext cx="4479318" cy="1112243"/>
          </a:xfrm>
          <a:prstGeom prst="ellipse">
            <a:avLst/>
          </a:prstGeom>
          <a:solidFill>
            <a:schemeClr val="accent4">
              <a:lumMod val="40000"/>
              <a:lumOff val="60000"/>
            </a:schemeClr>
          </a:solidFill>
          <a:ln>
            <a:noFill/>
          </a:ln>
          <a:effectLst>
            <a:outerShdw blurRad="63500" sx="102000" sy="102000" algn="ctr"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081012"/>
                </a:solidFill>
              </a:rPr>
              <a:t>The project builds a machine learning system to monitor students’ real-time engagement.</a:t>
            </a:r>
            <a:endParaRPr lang="en-IN" sz="1600" b="1" dirty="0">
              <a:solidFill>
                <a:srgbClr val="081012"/>
              </a:solidFill>
            </a:endParaRPr>
          </a:p>
        </p:txBody>
      </p:sp>
      <p:sp>
        <p:nvSpPr>
          <p:cNvPr id="51" name="Rectangle 50">
            <a:extLst>
              <a:ext uri="{FF2B5EF4-FFF2-40B4-BE49-F238E27FC236}">
                <a16:creationId xmlns:a16="http://schemas.microsoft.com/office/drawing/2014/main" id="{98FFEFF4-2B22-41BC-15F8-FED631444452}"/>
              </a:ext>
            </a:extLst>
          </p:cNvPr>
          <p:cNvSpPr/>
          <p:nvPr/>
        </p:nvSpPr>
        <p:spPr>
          <a:xfrm>
            <a:off x="6309360" y="2414016"/>
            <a:ext cx="4392134" cy="671892"/>
          </a:xfrm>
          <a:prstGeom prst="rect">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5400000" scaled="1"/>
            <a:tileRect/>
          </a:gradFill>
          <a:ln>
            <a:noFill/>
          </a:ln>
          <a:effectLst>
            <a:outerShdw blurRad="63500" sx="102000" sy="102000" algn="ctr"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081012"/>
                </a:solidFill>
              </a:rPr>
              <a:t>Dataset was preprocessed, balanced, normalized, and trained for accurate sentiment detection.</a:t>
            </a:r>
            <a:endParaRPr lang="en-IN" sz="1600" b="1" dirty="0">
              <a:solidFill>
                <a:srgbClr val="081012"/>
              </a:solidFill>
            </a:endParaRPr>
          </a:p>
        </p:txBody>
      </p:sp>
      <p:sp>
        <p:nvSpPr>
          <p:cNvPr id="53" name="Oval 52">
            <a:extLst>
              <a:ext uri="{FF2B5EF4-FFF2-40B4-BE49-F238E27FC236}">
                <a16:creationId xmlns:a16="http://schemas.microsoft.com/office/drawing/2014/main" id="{F50B1666-4DEB-285A-ED9B-DC15BB8A6F0F}"/>
              </a:ext>
            </a:extLst>
          </p:cNvPr>
          <p:cNvSpPr/>
          <p:nvPr/>
        </p:nvSpPr>
        <p:spPr>
          <a:xfrm>
            <a:off x="6349300" y="5272146"/>
            <a:ext cx="4392133" cy="1029044"/>
          </a:xfrm>
          <a:prstGeom prst="ellipse">
            <a:avLst/>
          </a:prstGeom>
          <a:solidFill>
            <a:schemeClr val="accent4">
              <a:lumMod val="40000"/>
              <a:lumOff val="60000"/>
            </a:schemeClr>
          </a:solidFill>
          <a:ln>
            <a:noFill/>
          </a:ln>
          <a:effectLst>
            <a:outerShdw blurRad="63500" sx="102000" sy="102000" algn="ctr"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81012"/>
                </a:solidFill>
              </a:rPr>
              <a:t>Offers a scalable foundation for future smart classroom applications</a:t>
            </a:r>
            <a:endParaRPr lang="en-IN" b="1" dirty="0">
              <a:solidFill>
                <a:srgbClr val="081012"/>
              </a:solidFill>
            </a:endParaRPr>
          </a:p>
        </p:txBody>
      </p:sp>
      <p:sp>
        <p:nvSpPr>
          <p:cNvPr id="54" name="Rectangle 53">
            <a:extLst>
              <a:ext uri="{FF2B5EF4-FFF2-40B4-BE49-F238E27FC236}">
                <a16:creationId xmlns:a16="http://schemas.microsoft.com/office/drawing/2014/main" id="{62CC3F1F-0157-6970-5FEE-6A7A879EEF22}"/>
              </a:ext>
            </a:extLst>
          </p:cNvPr>
          <p:cNvSpPr/>
          <p:nvPr/>
        </p:nvSpPr>
        <p:spPr>
          <a:xfrm>
            <a:off x="6309358" y="4355109"/>
            <a:ext cx="4392133" cy="731427"/>
          </a:xfrm>
          <a:prstGeom prst="rect">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0800000" scaled="1"/>
            <a:tileRect/>
          </a:gradFill>
          <a:ln>
            <a:noFill/>
          </a:ln>
          <a:effectLst>
            <a:outerShdw blurRad="63500" sx="102000" sy="102000" algn="ctr"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81012"/>
                </a:solidFill>
              </a:rPr>
              <a:t>Strengthens the use of AI and data analytics in modern education</a:t>
            </a:r>
            <a:endParaRPr lang="en-IN" b="1" dirty="0">
              <a:solidFill>
                <a:srgbClr val="081012"/>
              </a:solidFill>
            </a:endParaRPr>
          </a:p>
        </p:txBody>
      </p:sp>
      <p:cxnSp>
        <p:nvCxnSpPr>
          <p:cNvPr id="67" name="Straight Arrow Connector 66">
            <a:extLst>
              <a:ext uri="{FF2B5EF4-FFF2-40B4-BE49-F238E27FC236}">
                <a16:creationId xmlns:a16="http://schemas.microsoft.com/office/drawing/2014/main" id="{62E0DDE8-F129-A2E0-60A6-0D27A5A34D0E}"/>
              </a:ext>
            </a:extLst>
          </p:cNvPr>
          <p:cNvCxnSpPr>
            <a:cxnSpLocks/>
            <a:endCxn id="6" idx="2"/>
          </p:cNvCxnSpPr>
          <p:nvPr/>
        </p:nvCxnSpPr>
        <p:spPr>
          <a:xfrm>
            <a:off x="4626877" y="3657175"/>
            <a:ext cx="16824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Diagonal Corners Snipped 5">
            <a:extLst>
              <a:ext uri="{FF2B5EF4-FFF2-40B4-BE49-F238E27FC236}">
                <a16:creationId xmlns:a16="http://schemas.microsoft.com/office/drawing/2014/main" id="{92300BE1-52B1-A550-F6F4-85A5F4FB4EEB}"/>
              </a:ext>
            </a:extLst>
          </p:cNvPr>
          <p:cNvSpPr/>
          <p:nvPr/>
        </p:nvSpPr>
        <p:spPr>
          <a:xfrm>
            <a:off x="6309360" y="3186702"/>
            <a:ext cx="2167258" cy="940945"/>
          </a:xfrm>
          <a:prstGeom prst="snip2Diag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63500" sx="102000" sy="102000" algn="ctr"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81012"/>
                </a:solidFill>
              </a:rPr>
              <a:t>A CNN model classifies emotions into Positive, Neutral, and Negative categories.</a:t>
            </a:r>
            <a:endParaRPr lang="en-IN" sz="1400" b="1" dirty="0">
              <a:solidFill>
                <a:srgbClr val="081012"/>
              </a:solidFill>
            </a:endParaRPr>
          </a:p>
        </p:txBody>
      </p:sp>
      <p:sp>
        <p:nvSpPr>
          <p:cNvPr id="7" name="Rectangle: Diagonal Corners Snipped 6">
            <a:extLst>
              <a:ext uri="{FF2B5EF4-FFF2-40B4-BE49-F238E27FC236}">
                <a16:creationId xmlns:a16="http://schemas.microsoft.com/office/drawing/2014/main" id="{A1D01332-26F9-416F-BC34-27FF5089E905}"/>
              </a:ext>
            </a:extLst>
          </p:cNvPr>
          <p:cNvSpPr/>
          <p:nvPr/>
        </p:nvSpPr>
        <p:spPr>
          <a:xfrm>
            <a:off x="8610906" y="3238998"/>
            <a:ext cx="2090587" cy="964667"/>
          </a:xfrm>
          <a:prstGeom prst="snip2Diag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noFill/>
          </a:ln>
          <a:effectLst>
            <a:outerShdw blurRad="63500" sx="102000" sy="102000" algn="ctr"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81012"/>
                </a:solidFill>
              </a:rPr>
              <a:t>The system helps teachers identify distracted or struggling students early</a:t>
            </a:r>
            <a:r>
              <a:rPr lang="en-US" dirty="0"/>
              <a:t>.</a:t>
            </a: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B5F180-0E3C-AD86-67E3-C21D35FEAF05}"/>
              </a:ext>
            </a:extLst>
          </p:cNvPr>
          <p:cNvSpPr>
            <a:spLocks noGrp="1"/>
          </p:cNvSpPr>
          <p:nvPr>
            <p:ph type="title"/>
          </p:nvPr>
        </p:nvSpPr>
        <p:spPr>
          <a:xfrm>
            <a:off x="432079" y="230188"/>
            <a:ext cx="10921721" cy="965566"/>
          </a:xfrm>
        </p:spPr>
        <p:txBody>
          <a:bodyPr>
            <a:normAutofit/>
          </a:bodyPr>
          <a:lstStyle/>
          <a:p>
            <a:r>
              <a:rPr lang="en-IN" sz="4000" dirty="0">
                <a:latin typeface="+mn-lt"/>
              </a:rPr>
              <a:t>📌</a:t>
            </a:r>
            <a:r>
              <a:rPr lang="en-IN" sz="3200" b="1" dirty="0">
                <a:latin typeface="Arial" panose="020B0604020202020204" pitchFamily="34" charset="0"/>
                <a:cs typeface="Arial" panose="020B0604020202020204" pitchFamily="34" charset="0"/>
              </a:rPr>
              <a:t>Future Directions</a:t>
            </a:r>
          </a:p>
        </p:txBody>
      </p:sp>
      <p:sp>
        <p:nvSpPr>
          <p:cNvPr id="5" name="Content Placeholder 4">
            <a:extLst>
              <a:ext uri="{FF2B5EF4-FFF2-40B4-BE49-F238E27FC236}">
                <a16:creationId xmlns:a16="http://schemas.microsoft.com/office/drawing/2014/main" id="{257B3298-74DA-B318-AD72-07D4F8A1A0ED}"/>
              </a:ext>
            </a:extLst>
          </p:cNvPr>
          <p:cNvSpPr>
            <a:spLocks noGrp="1"/>
          </p:cNvSpPr>
          <p:nvPr>
            <p:ph idx="1"/>
          </p:nvPr>
        </p:nvSpPr>
        <p:spPr>
          <a:xfrm>
            <a:off x="307005" y="1115368"/>
            <a:ext cx="11577989" cy="5662246"/>
          </a:xfrm>
        </p:spPr>
        <p:txBody>
          <a:bodyPr>
            <a:normAutofit lnSpcReduction="10000"/>
          </a:bodyPr>
          <a:lstStyle/>
          <a:p>
            <a:pPr>
              <a:lnSpc>
                <a:spcPct val="100000"/>
              </a:lnSpc>
            </a:pPr>
            <a:r>
              <a:rPr lang="en-US" sz="2000" b="1" dirty="0"/>
              <a:t>Integration of Real-Time Video Processing </a:t>
            </a:r>
            <a:r>
              <a:rPr lang="en-US" sz="2000" dirty="0"/>
              <a:t>: Implement live classroom video analysis instead of using only static images to make the monitoring system fully real-time and dynamic.</a:t>
            </a:r>
          </a:p>
          <a:p>
            <a:pPr>
              <a:lnSpc>
                <a:spcPct val="100000"/>
              </a:lnSpc>
            </a:pPr>
            <a:r>
              <a:rPr lang="en-US" sz="2000" b="1" dirty="0"/>
              <a:t>Multi-Modal Behaviour Analysis </a:t>
            </a:r>
            <a:r>
              <a:rPr lang="en-US" sz="2000" dirty="0"/>
              <a:t>: Add additional behavioural cues such as body posture, hand movements, voice tone, and gesture recognition to improve engagement detection accuracy.</a:t>
            </a:r>
          </a:p>
          <a:p>
            <a:pPr>
              <a:lnSpc>
                <a:spcPct val="100000"/>
              </a:lnSpc>
            </a:pPr>
            <a:r>
              <a:rPr lang="en-US" sz="2000" b="1" dirty="0"/>
              <a:t>Student-Specific Learning Profiles </a:t>
            </a:r>
            <a:r>
              <a:rPr lang="en-US" sz="2000" dirty="0"/>
              <a:t>: Build personalized learning dashboards that track each student’s long-term emotional and attentiveness patterns.</a:t>
            </a:r>
          </a:p>
          <a:p>
            <a:pPr>
              <a:lnSpc>
                <a:spcPct val="100000"/>
              </a:lnSpc>
            </a:pPr>
            <a:r>
              <a:rPr lang="en-US" sz="2000" b="1" dirty="0"/>
              <a:t>Deployment in Smart Classrooms </a:t>
            </a:r>
            <a:r>
              <a:rPr lang="en-US" sz="2000" dirty="0"/>
              <a:t>: Extend the model to work on low-cost embedded devices or smart cameras for easy integration in real classroom environments.</a:t>
            </a:r>
          </a:p>
          <a:p>
            <a:pPr>
              <a:lnSpc>
                <a:spcPct val="100000"/>
              </a:lnSpc>
            </a:pPr>
            <a:r>
              <a:rPr lang="en-US" sz="2000" b="1" dirty="0"/>
              <a:t>Teacher Feedback Loop </a:t>
            </a:r>
            <a:r>
              <a:rPr lang="en-US" sz="2000" dirty="0"/>
              <a:t>: Introduce a recommendation system that suggests teaching strategy improvements based on detected student engagement levels.</a:t>
            </a:r>
          </a:p>
          <a:p>
            <a:pPr>
              <a:lnSpc>
                <a:spcPct val="100000"/>
              </a:lnSpc>
            </a:pPr>
            <a:r>
              <a:rPr lang="en-US" sz="2000" b="1" dirty="0"/>
              <a:t>Scalability for Large Classrooms </a:t>
            </a:r>
            <a:r>
              <a:rPr lang="en-US" sz="2000" dirty="0"/>
              <a:t>: Optimize the system to detect and track multiple students simultaneously, even in crowded or low-light conditions.</a:t>
            </a:r>
          </a:p>
          <a:p>
            <a:pPr>
              <a:lnSpc>
                <a:spcPct val="100000"/>
              </a:lnSpc>
            </a:pPr>
            <a:r>
              <a:rPr lang="en-US" sz="2000" b="1" dirty="0"/>
              <a:t>Enhanced Model Accuracy </a:t>
            </a:r>
            <a:r>
              <a:rPr lang="en-US" sz="2000" dirty="0"/>
              <a:t>: Use advanced deep learning architectures like ResNet, MobileNet, or Vision Transformers to achieve higher prediction accuracy.</a:t>
            </a:r>
          </a:p>
          <a:p>
            <a:pPr marL="0" indent="0" algn="ctr">
              <a:buNone/>
            </a:pPr>
            <a:r>
              <a:rPr lang="en-US" sz="2000" b="1" i="1" dirty="0"/>
              <a:t>With continued development, this system can become a powerful tool that reshapes modern education and enhances student success</a:t>
            </a:r>
            <a:r>
              <a:rPr lang="en-US" sz="2000" dirty="0"/>
              <a:t>.</a:t>
            </a:r>
            <a:endParaRPr lang="en-IN" sz="2000" dirty="0"/>
          </a:p>
        </p:txBody>
      </p:sp>
      <p:pic>
        <p:nvPicPr>
          <p:cNvPr id="2" name="Picture 2" descr="Sister Nivedita University | Best Private College in India ...">
            <a:extLst>
              <a:ext uri="{FF2B5EF4-FFF2-40B4-BE49-F238E27FC236}">
                <a16:creationId xmlns:a16="http://schemas.microsoft.com/office/drawing/2014/main" id="{625C9FEC-ABA5-2C2A-7371-A6CBB32B0D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26805" y="230188"/>
            <a:ext cx="2132538" cy="655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2836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858000"/>
          </a:xfrm>
          <a:solidFill>
            <a:schemeClr val="bg1">
              <a:lumMod val="95000"/>
            </a:schemeClr>
          </a:solidFill>
          <a:ln>
            <a:solidFill>
              <a:schemeClr val="tx1"/>
            </a:solidFill>
          </a:ln>
          <a:effectLst>
            <a:outerShdw blurRad="63500" sx="102000" sy="102000" algn="ctr"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a:lstStyle/>
          <a:p>
            <a:pPr algn="ctr">
              <a:lnSpc>
                <a:spcPct val="150000"/>
              </a:lnSpc>
            </a:pPr>
            <a:r>
              <a:rPr lang="en-IN" b="1"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1965</Words>
  <Application>Microsoft Office PowerPoint</Application>
  <PresentationFormat>Widescreen</PresentationFormat>
  <Paragraphs>223</Paragraphs>
  <Slides>14</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Aptos</vt:lpstr>
      <vt:lpstr>Arial</vt:lpstr>
      <vt:lpstr>Calibri</vt:lpstr>
      <vt:lpstr>Calibri Light</vt:lpstr>
      <vt:lpstr>Cambria</vt:lpstr>
      <vt:lpstr>Courier New</vt:lpstr>
      <vt:lpstr>Times New Roman</vt:lpstr>
      <vt:lpstr>ui-sans-serif</vt:lpstr>
      <vt:lpstr>Wingdings</vt:lpstr>
      <vt:lpstr>Office Theme</vt:lpstr>
      <vt:lpstr>Real-Time Classroom Monitoring System  For Student Performance Using Machine Learning</vt:lpstr>
      <vt:lpstr>INTRODUCTION</vt:lpstr>
      <vt:lpstr>LITERATURE SURVEY</vt:lpstr>
      <vt:lpstr>PROBLEM IDENTIFICATION</vt:lpstr>
      <vt:lpstr>PROPOSED METHODOLOGY</vt:lpstr>
      <vt:lpstr>📌Data Preprocessing The following preprocessing steps were applied: </vt:lpstr>
      <vt:lpstr>📌Techniques/Technologies Used</vt:lpstr>
      <vt:lpstr>🔰MODEL SUMMARY</vt:lpstr>
      <vt:lpstr>OUTCOME </vt:lpstr>
      <vt:lpstr>PowerPoint Presentation</vt:lpstr>
      <vt:lpstr>SIGNIFICANCE</vt:lpstr>
      <vt:lpstr>CONCLUSION</vt:lpstr>
      <vt:lpstr>📌Future Directions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Riddhi</dc:creator>
  <cp:lastModifiedBy>Riddhi Basu</cp:lastModifiedBy>
  <cp:revision>2</cp:revision>
  <dcterms:modified xsi:type="dcterms:W3CDTF">2025-11-24T08:43:24Z</dcterms:modified>
</cp:coreProperties>
</file>