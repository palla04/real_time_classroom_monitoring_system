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9" r:id="rId4"/>
    <p:sldId id="270" r:id="rId5"/>
    <p:sldId id="258" r:id="rId6"/>
    <p:sldId id="260" r:id="rId7"/>
    <p:sldId id="261" r:id="rId8"/>
    <p:sldId id="262" r:id="rId9"/>
    <p:sldId id="271" r:id="rId10"/>
    <p:sldId id="264" r:id="rId11"/>
    <p:sldId id="266" r:id="rId12"/>
    <p:sldId id="267" r:id="rId13"/>
    <p:sldId id="268" r:id="rId14"/>
    <p:sldId id="272" r:id="rId15"/>
    <p:sldId id="269" r:id="rId16"/>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B44457-034F-452B-A96F-B84D6944CD62}" v="396" dt="2026-05-04T05:13:55.948"/>
  </p1510:revLst>
</p1510:revInfo>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2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ik sarkhel" userId="f8474c93aea797e1" providerId="LiveId" clId="{BAFB73C8-9EA0-44D6-8CA9-B14DE2AB09C9}"/>
    <pc:docChg chg="undo custSel modSld sldOrd">
      <pc:chgData name="ranik sarkhel" userId="f8474c93aea797e1" providerId="LiveId" clId="{BAFB73C8-9EA0-44D6-8CA9-B14DE2AB09C9}" dt="2026-05-04T05:14:48.172" v="385" actId="1076"/>
      <pc:docMkLst>
        <pc:docMk/>
      </pc:docMkLst>
      <pc:sldChg chg="modSp mod">
        <pc:chgData name="ranik sarkhel" userId="f8474c93aea797e1" providerId="LiveId" clId="{BAFB73C8-9EA0-44D6-8CA9-B14DE2AB09C9}" dt="2026-04-23T04:48:13.547" v="189" actId="115"/>
        <pc:sldMkLst>
          <pc:docMk/>
          <pc:sldMk cId="0" sldId="256"/>
        </pc:sldMkLst>
        <pc:spChg chg="mod">
          <ac:chgData name="ranik sarkhel" userId="f8474c93aea797e1" providerId="LiveId" clId="{BAFB73C8-9EA0-44D6-8CA9-B14DE2AB09C9}" dt="2026-04-23T04:48:13.547" v="189" actId="115"/>
          <ac:spMkLst>
            <pc:docMk/>
            <pc:sldMk cId="0" sldId="256"/>
            <ac:spMk id="3" creationId="{00000000-0000-0000-0000-000000000000}"/>
          </ac:spMkLst>
        </pc:spChg>
      </pc:sldChg>
      <pc:sldChg chg="modSp">
        <pc:chgData name="ranik sarkhel" userId="f8474c93aea797e1" providerId="LiveId" clId="{BAFB73C8-9EA0-44D6-8CA9-B14DE2AB09C9}" dt="2026-04-23T04:25:24.383" v="185" actId="14100"/>
        <pc:sldMkLst>
          <pc:docMk/>
          <pc:sldMk cId="0" sldId="257"/>
        </pc:sldMkLst>
        <pc:picChg chg="mod">
          <ac:chgData name="ranik sarkhel" userId="f8474c93aea797e1" providerId="LiveId" clId="{BAFB73C8-9EA0-44D6-8CA9-B14DE2AB09C9}" dt="2026-04-23T04:25:24.383" v="185" actId="14100"/>
          <ac:picMkLst>
            <pc:docMk/>
            <pc:sldMk cId="0" sldId="257"/>
            <ac:picMk id="4" creationId="{00000000-0000-0000-0000-000000000000}"/>
          </ac:picMkLst>
        </pc:picChg>
      </pc:sldChg>
      <pc:sldChg chg="modSp mod">
        <pc:chgData name="ranik sarkhel" userId="f8474c93aea797e1" providerId="LiveId" clId="{BAFB73C8-9EA0-44D6-8CA9-B14DE2AB09C9}" dt="2026-05-04T05:14:48.172" v="385" actId="1076"/>
        <pc:sldMkLst>
          <pc:docMk/>
          <pc:sldMk cId="0" sldId="258"/>
        </pc:sldMkLst>
        <pc:spChg chg="mod">
          <ac:chgData name="ranik sarkhel" userId="f8474c93aea797e1" providerId="LiveId" clId="{BAFB73C8-9EA0-44D6-8CA9-B14DE2AB09C9}" dt="2026-05-04T05:14:48.172" v="385" actId="1076"/>
          <ac:spMkLst>
            <pc:docMk/>
            <pc:sldMk cId="0" sldId="258"/>
            <ac:spMk id="2" creationId="{00000000-0000-0000-0000-000000000000}"/>
          </ac:spMkLst>
        </pc:spChg>
        <pc:spChg chg="mod">
          <ac:chgData name="ranik sarkhel" userId="f8474c93aea797e1" providerId="LiveId" clId="{BAFB73C8-9EA0-44D6-8CA9-B14DE2AB09C9}" dt="2026-05-04T05:14:11.323" v="384" actId="123"/>
          <ac:spMkLst>
            <pc:docMk/>
            <pc:sldMk cId="0" sldId="258"/>
            <ac:spMk id="3" creationId="{00000000-0000-0000-0000-000000000000}"/>
          </ac:spMkLst>
        </pc:spChg>
        <pc:picChg chg="mod">
          <ac:chgData name="ranik sarkhel" userId="f8474c93aea797e1" providerId="LiveId" clId="{BAFB73C8-9EA0-44D6-8CA9-B14DE2AB09C9}" dt="2026-04-23T04:25:38.535" v="187" actId="1076"/>
          <ac:picMkLst>
            <pc:docMk/>
            <pc:sldMk cId="0" sldId="258"/>
            <ac:picMk id="4" creationId="{00000000-0000-0000-0000-000000000000}"/>
          </ac:picMkLst>
        </pc:picChg>
      </pc:sldChg>
      <pc:sldChg chg="modSp mod">
        <pc:chgData name="ranik sarkhel" userId="f8474c93aea797e1" providerId="LiveId" clId="{BAFB73C8-9EA0-44D6-8CA9-B14DE2AB09C9}" dt="2026-04-24T07:47:29.019" v="217" actId="20577"/>
        <pc:sldMkLst>
          <pc:docMk/>
          <pc:sldMk cId="0" sldId="260"/>
        </pc:sldMkLst>
        <pc:spChg chg="mod">
          <ac:chgData name="ranik sarkhel" userId="f8474c93aea797e1" providerId="LiveId" clId="{BAFB73C8-9EA0-44D6-8CA9-B14DE2AB09C9}" dt="2026-04-24T07:47:29.019" v="217" actId="20577"/>
          <ac:spMkLst>
            <pc:docMk/>
            <pc:sldMk cId="0" sldId="260"/>
            <ac:spMk id="8" creationId="{F8E20BAD-9AC4-F2E6-0781-BAAA86A73DA1}"/>
          </ac:spMkLst>
        </pc:spChg>
      </pc:sldChg>
      <pc:sldChg chg="modSp mod">
        <pc:chgData name="ranik sarkhel" userId="f8474c93aea797e1" providerId="LiveId" clId="{BAFB73C8-9EA0-44D6-8CA9-B14DE2AB09C9}" dt="2026-04-28T05:05:14.586" v="379" actId="14100"/>
        <pc:sldMkLst>
          <pc:docMk/>
          <pc:sldMk cId="3305960666" sldId="262"/>
        </pc:sldMkLst>
        <pc:spChg chg="mod">
          <ac:chgData name="ranik sarkhel" userId="f8474c93aea797e1" providerId="LiveId" clId="{BAFB73C8-9EA0-44D6-8CA9-B14DE2AB09C9}" dt="2026-04-24T07:48:32.924" v="247" actId="14100"/>
          <ac:spMkLst>
            <pc:docMk/>
            <pc:sldMk cId="3305960666" sldId="262"/>
            <ac:spMk id="29" creationId="{A0519949-F5B4-C740-0841-4194F261EDDC}"/>
          </ac:spMkLst>
        </pc:spChg>
        <pc:spChg chg="mod">
          <ac:chgData name="ranik sarkhel" userId="f8474c93aea797e1" providerId="LiveId" clId="{BAFB73C8-9EA0-44D6-8CA9-B14DE2AB09C9}" dt="2026-04-28T05:05:14.586" v="379" actId="14100"/>
          <ac:spMkLst>
            <pc:docMk/>
            <pc:sldMk cId="3305960666" sldId="262"/>
            <ac:spMk id="30" creationId="{DD592ACB-C3A9-C379-AEED-FB9588D8DA3D}"/>
          </ac:spMkLst>
        </pc:spChg>
        <pc:cxnChg chg="mod">
          <ac:chgData name="ranik sarkhel" userId="f8474c93aea797e1" providerId="LiveId" clId="{BAFB73C8-9EA0-44D6-8CA9-B14DE2AB09C9}" dt="2026-04-24T07:48:32.924" v="247" actId="14100"/>
          <ac:cxnSpMkLst>
            <pc:docMk/>
            <pc:sldMk cId="3305960666" sldId="262"/>
            <ac:cxnSpMk id="40" creationId="{CF908C03-805D-65E6-8F02-E09D326B03D7}"/>
          </ac:cxnSpMkLst>
        </pc:cxnChg>
        <pc:cxnChg chg="mod">
          <ac:chgData name="ranik sarkhel" userId="f8474c93aea797e1" providerId="LiveId" clId="{BAFB73C8-9EA0-44D6-8CA9-B14DE2AB09C9}" dt="2026-04-28T05:05:14.586" v="379" actId="14100"/>
          <ac:cxnSpMkLst>
            <pc:docMk/>
            <pc:sldMk cId="3305960666" sldId="262"/>
            <ac:cxnSpMk id="44" creationId="{5332964B-D88C-28D7-8BFE-7EB494304FC8}"/>
          </ac:cxnSpMkLst>
        </pc:cxnChg>
        <pc:cxnChg chg="mod">
          <ac:chgData name="ranik sarkhel" userId="f8474c93aea797e1" providerId="LiveId" clId="{BAFB73C8-9EA0-44D6-8CA9-B14DE2AB09C9}" dt="2026-04-28T05:05:14.586" v="379" actId="14100"/>
          <ac:cxnSpMkLst>
            <pc:docMk/>
            <pc:sldMk cId="3305960666" sldId="262"/>
            <ac:cxnSpMk id="46" creationId="{0C814829-F6D4-8666-9F3E-7088A05C412E}"/>
          </ac:cxnSpMkLst>
        </pc:cxnChg>
      </pc:sldChg>
      <pc:sldChg chg="addSp delSp modSp mod ord chgLayout">
        <pc:chgData name="ranik sarkhel" userId="f8474c93aea797e1" providerId="LiveId" clId="{BAFB73C8-9EA0-44D6-8CA9-B14DE2AB09C9}" dt="2026-04-22T04:59:37.697" v="177"/>
        <pc:sldMkLst>
          <pc:docMk/>
          <pc:sldMk cId="0" sldId="266"/>
        </pc:sldMkLst>
        <pc:spChg chg="mod ord">
          <ac:chgData name="ranik sarkhel" userId="f8474c93aea797e1" providerId="LiveId" clId="{BAFB73C8-9EA0-44D6-8CA9-B14DE2AB09C9}" dt="2026-04-22T04:52:19.735" v="163" actId="6264"/>
          <ac:spMkLst>
            <pc:docMk/>
            <pc:sldMk cId="0" sldId="266"/>
            <ac:spMk id="2" creationId="{00000000-0000-0000-0000-000000000000}"/>
          </ac:spMkLst>
        </pc:spChg>
        <pc:spChg chg="mod ord">
          <ac:chgData name="ranik sarkhel" userId="f8474c93aea797e1" providerId="LiveId" clId="{BAFB73C8-9EA0-44D6-8CA9-B14DE2AB09C9}" dt="2026-04-22T04:52:19.735" v="163" actId="6264"/>
          <ac:spMkLst>
            <pc:docMk/>
            <pc:sldMk cId="0" sldId="266"/>
            <ac:spMk id="3" creationId="{00000000-0000-0000-0000-000000000000}"/>
          </ac:spMkLst>
        </pc:spChg>
        <pc:spChg chg="mod">
          <ac:chgData name="ranik sarkhel" userId="f8474c93aea797e1" providerId="LiveId" clId="{BAFB73C8-9EA0-44D6-8CA9-B14DE2AB09C9}" dt="2026-04-22T04:50:02.799" v="160" actId="14100"/>
          <ac:spMkLst>
            <pc:docMk/>
            <pc:sldMk cId="0" sldId="266"/>
            <ac:spMk id="5" creationId="{75B2499C-E156-1BDA-1675-92949386693F}"/>
          </ac:spMkLst>
        </pc:spChg>
        <pc:picChg chg="mod">
          <ac:chgData name="ranik sarkhel" userId="f8474c93aea797e1" providerId="LiveId" clId="{BAFB73C8-9EA0-44D6-8CA9-B14DE2AB09C9}" dt="2026-04-22T04:38:37.052" v="62" actId="14100"/>
          <ac:picMkLst>
            <pc:docMk/>
            <pc:sldMk cId="0" sldId="266"/>
            <ac:picMk id="4" creationId="{00000000-0000-0000-0000-000000000000}"/>
          </ac:picMkLst>
        </pc:picChg>
        <pc:picChg chg="add mod">
          <ac:chgData name="ranik sarkhel" userId="f8474c93aea797e1" providerId="LiveId" clId="{BAFB73C8-9EA0-44D6-8CA9-B14DE2AB09C9}" dt="2026-04-22T04:41:33.097" v="90" actId="1076"/>
          <ac:picMkLst>
            <pc:docMk/>
            <pc:sldMk cId="0" sldId="266"/>
            <ac:picMk id="11" creationId="{4CBD8CA9-EB28-F96F-2B54-C0EE29F1F7D2}"/>
          </ac:picMkLst>
        </pc:picChg>
        <pc:picChg chg="add mod">
          <ac:chgData name="ranik sarkhel" userId="f8474c93aea797e1" providerId="LiveId" clId="{BAFB73C8-9EA0-44D6-8CA9-B14DE2AB09C9}" dt="2026-04-22T04:47:57.422" v="154" actId="1076"/>
          <ac:picMkLst>
            <pc:docMk/>
            <pc:sldMk cId="0" sldId="266"/>
            <ac:picMk id="13" creationId="{08D414D6-E8C7-4641-D8D3-FA861E23BC6E}"/>
          </ac:picMkLst>
        </pc:picChg>
        <pc:picChg chg="add mod">
          <ac:chgData name="ranik sarkhel" userId="f8474c93aea797e1" providerId="LiveId" clId="{BAFB73C8-9EA0-44D6-8CA9-B14DE2AB09C9}" dt="2026-04-22T04:42:38.828" v="103" actId="14100"/>
          <ac:picMkLst>
            <pc:docMk/>
            <pc:sldMk cId="0" sldId="266"/>
            <ac:picMk id="17" creationId="{9578DDA5-52CE-1538-F17F-2A28F97AEDB4}"/>
          </ac:picMkLst>
        </pc:picChg>
        <pc:picChg chg="add mod">
          <ac:chgData name="ranik sarkhel" userId="f8474c93aea797e1" providerId="LiveId" clId="{BAFB73C8-9EA0-44D6-8CA9-B14DE2AB09C9}" dt="2026-04-22T04:41:58.190" v="96" actId="1076"/>
          <ac:picMkLst>
            <pc:docMk/>
            <pc:sldMk cId="0" sldId="266"/>
            <ac:picMk id="19" creationId="{B7E4EBC3-EABF-07E6-A5A9-6E62E50E2580}"/>
          </ac:picMkLst>
        </pc:picChg>
        <pc:picChg chg="add mod">
          <ac:chgData name="ranik sarkhel" userId="f8474c93aea797e1" providerId="LiveId" clId="{BAFB73C8-9EA0-44D6-8CA9-B14DE2AB09C9}" dt="2026-04-22T04:43:42.775" v="113" actId="14100"/>
          <ac:picMkLst>
            <pc:docMk/>
            <pc:sldMk cId="0" sldId="266"/>
            <ac:picMk id="21" creationId="{1E7A6804-56B3-C3DE-13CF-D1C8F02CC718}"/>
          </ac:picMkLst>
        </pc:picChg>
        <pc:picChg chg="add mod">
          <ac:chgData name="ranik sarkhel" userId="f8474c93aea797e1" providerId="LiveId" clId="{BAFB73C8-9EA0-44D6-8CA9-B14DE2AB09C9}" dt="2026-04-22T04:44:31.369" v="122" actId="14100"/>
          <ac:picMkLst>
            <pc:docMk/>
            <pc:sldMk cId="0" sldId="266"/>
            <ac:picMk id="23" creationId="{C639A7E1-7AAE-8CF0-EAE7-5F815D988D8C}"/>
          </ac:picMkLst>
        </pc:picChg>
        <pc:picChg chg="add mod">
          <ac:chgData name="ranik sarkhel" userId="f8474c93aea797e1" providerId="LiveId" clId="{BAFB73C8-9EA0-44D6-8CA9-B14DE2AB09C9}" dt="2026-04-22T04:53:56.260" v="175" actId="14100"/>
          <ac:picMkLst>
            <pc:docMk/>
            <pc:sldMk cId="0" sldId="266"/>
            <ac:picMk id="28" creationId="{170401F5-73B3-D370-3FC5-0B61CA9E9159}"/>
          </ac:picMkLst>
        </pc:picChg>
      </pc:sldChg>
      <pc:sldChg chg="modSp mod">
        <pc:chgData name="ranik sarkhel" userId="f8474c93aea797e1" providerId="LiveId" clId="{BAFB73C8-9EA0-44D6-8CA9-B14DE2AB09C9}" dt="2026-04-24T07:49:04.642" v="262" actId="20577"/>
        <pc:sldMkLst>
          <pc:docMk/>
          <pc:sldMk cId="0" sldId="267"/>
        </pc:sldMkLst>
        <pc:spChg chg="mod">
          <ac:chgData name="ranik sarkhel" userId="f8474c93aea797e1" providerId="LiveId" clId="{BAFB73C8-9EA0-44D6-8CA9-B14DE2AB09C9}" dt="2026-04-24T07:49:04.642" v="262" actId="20577"/>
          <ac:spMkLst>
            <pc:docMk/>
            <pc:sldMk cId="0" sldId="267"/>
            <ac:spMk id="50" creationId="{D1A7F689-B2F8-9A69-C998-BF0152C9FD22}"/>
          </ac:spMkLst>
        </pc:spChg>
      </pc:sldChg>
      <pc:sldChg chg="addSp modSp mod">
        <pc:chgData name="ranik sarkhel" userId="f8474c93aea797e1" providerId="LiveId" clId="{BAFB73C8-9EA0-44D6-8CA9-B14DE2AB09C9}" dt="2026-04-28T04:41:24.112" v="364" actId="27636"/>
        <pc:sldMkLst>
          <pc:docMk/>
          <pc:sldMk cId="1903570438" sldId="270"/>
        </pc:sldMkLst>
        <pc:spChg chg="mod">
          <ac:chgData name="ranik sarkhel" userId="f8474c93aea797e1" providerId="LiveId" clId="{BAFB73C8-9EA0-44D6-8CA9-B14DE2AB09C9}" dt="2026-04-28T04:41:24.112" v="364" actId="27636"/>
          <ac:spMkLst>
            <pc:docMk/>
            <pc:sldMk cId="1903570438" sldId="270"/>
            <ac:spMk id="3" creationId="{8018176E-74AE-F102-DF32-55222F7ECAC1}"/>
          </ac:spMkLst>
        </pc:spChg>
        <pc:picChg chg="add mod">
          <ac:chgData name="ranik sarkhel" userId="f8474c93aea797e1" providerId="LiveId" clId="{BAFB73C8-9EA0-44D6-8CA9-B14DE2AB09C9}" dt="2026-04-23T04:24:09.674" v="178"/>
          <ac:picMkLst>
            <pc:docMk/>
            <pc:sldMk cId="1903570438" sldId="270"/>
            <ac:picMk id="4" creationId="{0EC4B976-2360-1074-203D-68BD94DD1ACF}"/>
          </ac:picMkLst>
        </pc:picChg>
      </pc:sldChg>
      <pc:sldChg chg="addSp modSp">
        <pc:chgData name="ranik sarkhel" userId="f8474c93aea797e1" providerId="LiveId" clId="{BAFB73C8-9EA0-44D6-8CA9-B14DE2AB09C9}" dt="2026-04-23T04:24:50.055" v="184" actId="1076"/>
        <pc:sldMkLst>
          <pc:docMk/>
          <pc:sldMk cId="3001695119" sldId="271"/>
        </pc:sldMkLst>
        <pc:picChg chg="add mod">
          <ac:chgData name="ranik sarkhel" userId="f8474c93aea797e1" providerId="LiveId" clId="{BAFB73C8-9EA0-44D6-8CA9-B14DE2AB09C9}" dt="2026-04-23T04:24:50.055" v="184" actId="1076"/>
          <ac:picMkLst>
            <pc:docMk/>
            <pc:sldMk cId="3001695119" sldId="271"/>
            <ac:picMk id="3" creationId="{6FB2180C-585A-0200-D238-C68543EB8723}"/>
          </ac:picMkLst>
        </pc:picChg>
      </pc:sldChg>
      <pc:sldChg chg="addSp modSp mod">
        <pc:chgData name="ranik sarkhel" userId="f8474c93aea797e1" providerId="LiveId" clId="{BAFB73C8-9EA0-44D6-8CA9-B14DE2AB09C9}" dt="2026-04-23T04:53:58.901" v="203" actId="20577"/>
        <pc:sldMkLst>
          <pc:docMk/>
          <pc:sldMk cId="1718770353" sldId="272"/>
        </pc:sldMkLst>
        <pc:spChg chg="mod">
          <ac:chgData name="ranik sarkhel" userId="f8474c93aea797e1" providerId="LiveId" clId="{BAFB73C8-9EA0-44D6-8CA9-B14DE2AB09C9}" dt="2026-04-23T04:53:58.901" v="203" actId="20577"/>
          <ac:spMkLst>
            <pc:docMk/>
            <pc:sldMk cId="1718770353" sldId="272"/>
            <ac:spMk id="5" creationId="{64A42636-08C4-7B54-D6A4-2E46173F2CBA}"/>
          </ac:spMkLst>
        </pc:spChg>
        <pc:picChg chg="add mod">
          <ac:chgData name="ranik sarkhel" userId="f8474c93aea797e1" providerId="LiveId" clId="{BAFB73C8-9EA0-44D6-8CA9-B14DE2AB09C9}" dt="2026-04-23T04:24:36.435" v="181" actId="1076"/>
          <ac:picMkLst>
            <pc:docMk/>
            <pc:sldMk cId="1718770353" sldId="272"/>
            <ac:picMk id="6" creationId="{8F815EAC-24AC-4893-53FA-6FDBC830609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99C495-8BA6-4104-B39E-A2191E5E5005}" type="datetimeFigureOut">
              <a:rPr lang="en-IN" smtClean="0"/>
              <a:t>04-05-2026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2A92EF-AFBD-45A6-A6FD-1ECEAAC6A3C0}" type="slidenum">
              <a:rPr lang="en-IN" smtClean="0"/>
              <a:t>‹#›</a:t>
            </a:fld>
            <a:endParaRPr lang="en-IN"/>
          </a:p>
        </p:txBody>
      </p:sp>
    </p:spTree>
    <p:extLst>
      <p:ext uri="{BB962C8B-B14F-4D97-AF65-F5344CB8AC3E}">
        <p14:creationId xmlns:p14="http://schemas.microsoft.com/office/powerpoint/2010/main" val="1857366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52A92EF-AFBD-45A6-A6FD-1ECEAAC6A3C0}" type="slidenum">
              <a:rPr lang="en-IN" smtClean="0"/>
              <a:t>2</a:t>
            </a:fld>
            <a:endParaRPr lang="en-IN"/>
          </a:p>
        </p:txBody>
      </p:sp>
    </p:spTree>
    <p:extLst>
      <p:ext uri="{BB962C8B-B14F-4D97-AF65-F5344CB8AC3E}">
        <p14:creationId xmlns:p14="http://schemas.microsoft.com/office/powerpoint/2010/main" val="2160777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p:cNvSpPr>
            <a:spLocks noGrp="1"/>
          </p:cNvSpPr>
          <p:nvPr>
            <p:ph type="sldNum" sz="quarter" idx="5"/>
          </p:nvPr>
        </p:nvSpPr>
        <p:spPr/>
        <p:txBody>
          <a:bodyPr/>
          <a:lstStyle/>
          <a:p>
            <a:fld id="{B52A92EF-AFBD-45A6-A6FD-1ECEAAC6A3C0}" type="slidenum">
              <a:rPr lang="en-IN" smtClean="0"/>
              <a:t>12</a:t>
            </a:fld>
            <a:endParaRPr lang="en-IN"/>
          </a:p>
        </p:txBody>
      </p:sp>
    </p:spTree>
    <p:extLst>
      <p:ext uri="{BB962C8B-B14F-4D97-AF65-F5344CB8AC3E}">
        <p14:creationId xmlns:p14="http://schemas.microsoft.com/office/powerpoint/2010/main" val="3727730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0E73756-57A9-4A97-9EB1-EC578467A3C8}"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E73756-57A9-4A97-9EB1-EC578467A3C8}"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E73756-57A9-4A97-9EB1-EC578467A3C8}"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0E73756-57A9-4A97-9EB1-EC578467A3C8}"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0E73756-57A9-4A97-9EB1-EC578467A3C8}" type="datetimeFigureOut">
              <a:rPr lang="en-IN" smtClean="0"/>
              <a:t>04-05-2026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0E73756-57A9-4A97-9EB1-EC578467A3C8}" type="datetimeFigureOut">
              <a:rPr lang="en-IN" smtClean="0"/>
              <a:t>04-05-2026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E73756-57A9-4A97-9EB1-EC578467A3C8}" type="datetimeFigureOut">
              <a:rPr lang="en-IN" smtClean="0"/>
              <a:t>04-05-2026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E73756-57A9-4A97-9EB1-EC578467A3C8}"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E73756-57A9-4A97-9EB1-EC578467A3C8}" type="datetimeFigureOut">
              <a:rPr lang="en-IN" smtClean="0"/>
              <a:t>04-05-2026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E73756-57A9-4A97-9EB1-EC578467A3C8}"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0E73756-57A9-4A97-9EB1-EC578467A3C8}" type="datetimeFigureOut">
              <a:rPr lang="en-IN" smtClean="0"/>
              <a:t>04-05-2026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C79D6E2-D1DE-45C4-A931-2444BDBFDD4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E73756-57A9-4A97-9EB1-EC578467A3C8}" type="datetimeFigureOut">
              <a:rPr lang="en-IN" smtClean="0"/>
              <a:t>04-05-2026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79D6E2-D1DE-45C4-A931-2444BDBFDD4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kaggle.com/datasets/biswas2022/face-emotion-detection/settings"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9"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07/s12369-022-00867-0" TargetMode="External"/><Relationship Id="rId7" Type="http://schemas.openxmlformats.org/officeDocument/2006/relationships/image" Target="../media/image1.png"/><Relationship Id="rId2" Type="http://schemas.openxmlformats.org/officeDocument/2006/relationships/hyperlink" Target="https://doi.org/10.1007/s11042-022-13558-9" TargetMode="External"/><Relationship Id="rId1" Type="http://schemas.openxmlformats.org/officeDocument/2006/relationships/slideLayout" Target="../slideLayouts/slideLayout2.xml"/><Relationship Id="rId6" Type="http://schemas.openxmlformats.org/officeDocument/2006/relationships/hyperlink" Target="https://doi.org/10.3390/electronics12122707" TargetMode="External"/><Relationship Id="rId5" Type="http://schemas.openxmlformats.org/officeDocument/2006/relationships/hyperlink" Target="https://doi.org/10.1038/s41598-023-35446-4" TargetMode="External"/><Relationship Id="rId4" Type="http://schemas.openxmlformats.org/officeDocument/2006/relationships/hyperlink" Target="https://doi.org/10.1038/s41598-022-11173-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26666" y="671636"/>
            <a:ext cx="8943035" cy="1418422"/>
          </a:xfrm>
          <a:ln>
            <a:noFill/>
          </a:ln>
          <a:effectLst/>
        </p:spPr>
        <p:txBody>
          <a:bodyPr>
            <a:noAutofit/>
          </a:bodyPr>
          <a:lstStyle/>
          <a:p>
            <a:r>
              <a:rPr lang="en-US" sz="3500" b="1" dirty="0">
                <a:latin typeface="Arial"/>
                <a:ea typeface="Batang"/>
                <a:cs typeface="Arial"/>
              </a:rPr>
              <a:t>Real-Time Facial Emotion Recognition System Using Machine Learning</a:t>
            </a:r>
            <a:endParaRPr lang="en-IN" sz="3500" b="1" dirty="0">
              <a:latin typeface="Arial"/>
              <a:ea typeface="Batang"/>
              <a:cs typeface="Arial"/>
            </a:endParaRPr>
          </a:p>
        </p:txBody>
      </p:sp>
      <p:sp>
        <p:nvSpPr>
          <p:cNvPr id="3" name="Subtitle 2"/>
          <p:cNvSpPr>
            <a:spLocks noGrp="1"/>
          </p:cNvSpPr>
          <p:nvPr>
            <p:ph type="subTitle" idx="1"/>
          </p:nvPr>
        </p:nvSpPr>
        <p:spPr>
          <a:xfrm>
            <a:off x="594528" y="2441750"/>
            <a:ext cx="11002944" cy="3667648"/>
          </a:xfrm>
          <a:solidFill>
            <a:schemeClr val="bg1"/>
          </a:solidFill>
          <a:ln>
            <a:solidFill>
              <a:schemeClr val="bg1"/>
            </a:solidFill>
            <a:extLst>
              <a:ext uri="{C807C97D-BFC1-408E-A445-0C87EB9F89A2}">
                <ask:lineSketchStyleProps xmlns:ask="http://schemas.microsoft.com/office/drawing/2018/sketchyshapes" sd="118825804">
                  <a:custGeom>
                    <a:avLst/>
                    <a:gdLst>
                      <a:gd name="connsiteX0" fmla="*/ 0 w 11002944"/>
                      <a:gd name="connsiteY0" fmla="*/ 0 h 3667648"/>
                      <a:gd name="connsiteX1" fmla="*/ 799161 w 11002944"/>
                      <a:gd name="connsiteY1" fmla="*/ 0 h 3667648"/>
                      <a:gd name="connsiteX2" fmla="*/ 1158205 w 11002944"/>
                      <a:gd name="connsiteY2" fmla="*/ 0 h 3667648"/>
                      <a:gd name="connsiteX3" fmla="*/ 1737307 w 11002944"/>
                      <a:gd name="connsiteY3" fmla="*/ 0 h 3667648"/>
                      <a:gd name="connsiteX4" fmla="*/ 2536468 w 11002944"/>
                      <a:gd name="connsiteY4" fmla="*/ 0 h 3667648"/>
                      <a:gd name="connsiteX5" fmla="*/ 3115570 w 11002944"/>
                      <a:gd name="connsiteY5" fmla="*/ 0 h 3667648"/>
                      <a:gd name="connsiteX6" fmla="*/ 3804702 w 11002944"/>
                      <a:gd name="connsiteY6" fmla="*/ 0 h 3667648"/>
                      <a:gd name="connsiteX7" fmla="*/ 4053716 w 11002944"/>
                      <a:gd name="connsiteY7" fmla="*/ 0 h 3667648"/>
                      <a:gd name="connsiteX8" fmla="*/ 4412760 w 11002944"/>
                      <a:gd name="connsiteY8" fmla="*/ 0 h 3667648"/>
                      <a:gd name="connsiteX9" fmla="*/ 5101891 w 11002944"/>
                      <a:gd name="connsiteY9" fmla="*/ 0 h 3667648"/>
                      <a:gd name="connsiteX10" fmla="*/ 5460935 w 11002944"/>
                      <a:gd name="connsiteY10" fmla="*/ 0 h 3667648"/>
                      <a:gd name="connsiteX11" fmla="*/ 6260096 w 11002944"/>
                      <a:gd name="connsiteY11" fmla="*/ 0 h 3667648"/>
                      <a:gd name="connsiteX12" fmla="*/ 7059257 w 11002944"/>
                      <a:gd name="connsiteY12" fmla="*/ 0 h 3667648"/>
                      <a:gd name="connsiteX13" fmla="*/ 7308271 w 11002944"/>
                      <a:gd name="connsiteY13" fmla="*/ 0 h 3667648"/>
                      <a:gd name="connsiteX14" fmla="*/ 7997403 w 11002944"/>
                      <a:gd name="connsiteY14" fmla="*/ 0 h 3667648"/>
                      <a:gd name="connsiteX15" fmla="*/ 8466476 w 11002944"/>
                      <a:gd name="connsiteY15" fmla="*/ 0 h 3667648"/>
                      <a:gd name="connsiteX16" fmla="*/ 8935549 w 11002944"/>
                      <a:gd name="connsiteY16" fmla="*/ 0 h 3667648"/>
                      <a:gd name="connsiteX17" fmla="*/ 9404622 w 11002944"/>
                      <a:gd name="connsiteY17" fmla="*/ 0 h 3667648"/>
                      <a:gd name="connsiteX18" fmla="*/ 10093753 w 11002944"/>
                      <a:gd name="connsiteY18" fmla="*/ 0 h 3667648"/>
                      <a:gd name="connsiteX19" fmla="*/ 10342767 w 11002944"/>
                      <a:gd name="connsiteY19" fmla="*/ 0 h 3667648"/>
                      <a:gd name="connsiteX20" fmla="*/ 11002944 w 11002944"/>
                      <a:gd name="connsiteY20" fmla="*/ 0 h 3667648"/>
                      <a:gd name="connsiteX21" fmla="*/ 11002944 w 11002944"/>
                      <a:gd name="connsiteY21" fmla="*/ 450597 h 3667648"/>
                      <a:gd name="connsiteX22" fmla="*/ 11002944 w 11002944"/>
                      <a:gd name="connsiteY22" fmla="*/ 1011223 h 3667648"/>
                      <a:gd name="connsiteX23" fmla="*/ 11002944 w 11002944"/>
                      <a:gd name="connsiteY23" fmla="*/ 1535173 h 3667648"/>
                      <a:gd name="connsiteX24" fmla="*/ 11002944 w 11002944"/>
                      <a:gd name="connsiteY24" fmla="*/ 2059122 h 3667648"/>
                      <a:gd name="connsiteX25" fmla="*/ 11002944 w 11002944"/>
                      <a:gd name="connsiteY25" fmla="*/ 2509719 h 3667648"/>
                      <a:gd name="connsiteX26" fmla="*/ 11002944 w 11002944"/>
                      <a:gd name="connsiteY26" fmla="*/ 3070345 h 3667648"/>
                      <a:gd name="connsiteX27" fmla="*/ 11002944 w 11002944"/>
                      <a:gd name="connsiteY27" fmla="*/ 3667648 h 3667648"/>
                      <a:gd name="connsiteX28" fmla="*/ 10643901 w 11002944"/>
                      <a:gd name="connsiteY28" fmla="*/ 3667648 h 3667648"/>
                      <a:gd name="connsiteX29" fmla="*/ 10394887 w 11002944"/>
                      <a:gd name="connsiteY29" fmla="*/ 3667648 h 3667648"/>
                      <a:gd name="connsiteX30" fmla="*/ 9815784 w 11002944"/>
                      <a:gd name="connsiteY30" fmla="*/ 3667648 h 3667648"/>
                      <a:gd name="connsiteX31" fmla="*/ 9566770 w 11002944"/>
                      <a:gd name="connsiteY31" fmla="*/ 3667648 h 3667648"/>
                      <a:gd name="connsiteX32" fmla="*/ 8767609 w 11002944"/>
                      <a:gd name="connsiteY32" fmla="*/ 3667648 h 3667648"/>
                      <a:gd name="connsiteX33" fmla="*/ 8078477 w 11002944"/>
                      <a:gd name="connsiteY33" fmla="*/ 3667648 h 3667648"/>
                      <a:gd name="connsiteX34" fmla="*/ 7609404 w 11002944"/>
                      <a:gd name="connsiteY34" fmla="*/ 3667648 h 3667648"/>
                      <a:gd name="connsiteX35" fmla="*/ 7360390 w 11002944"/>
                      <a:gd name="connsiteY35" fmla="*/ 3667648 h 3667648"/>
                      <a:gd name="connsiteX36" fmla="*/ 6781288 w 11002944"/>
                      <a:gd name="connsiteY36" fmla="*/ 3667648 h 3667648"/>
                      <a:gd name="connsiteX37" fmla="*/ 6312215 w 11002944"/>
                      <a:gd name="connsiteY37" fmla="*/ 3667648 h 3667648"/>
                      <a:gd name="connsiteX38" fmla="*/ 5843142 w 11002944"/>
                      <a:gd name="connsiteY38" fmla="*/ 3667648 h 3667648"/>
                      <a:gd name="connsiteX39" fmla="*/ 5594128 w 11002944"/>
                      <a:gd name="connsiteY39" fmla="*/ 3667648 h 3667648"/>
                      <a:gd name="connsiteX40" fmla="*/ 5125055 w 11002944"/>
                      <a:gd name="connsiteY40" fmla="*/ 3667648 h 3667648"/>
                      <a:gd name="connsiteX41" fmla="*/ 4435924 w 11002944"/>
                      <a:gd name="connsiteY41" fmla="*/ 3667648 h 3667648"/>
                      <a:gd name="connsiteX42" fmla="*/ 4076880 w 11002944"/>
                      <a:gd name="connsiteY42" fmla="*/ 3667648 h 3667648"/>
                      <a:gd name="connsiteX43" fmla="*/ 3497778 w 11002944"/>
                      <a:gd name="connsiteY43" fmla="*/ 3667648 h 3667648"/>
                      <a:gd name="connsiteX44" fmla="*/ 3028705 w 11002944"/>
                      <a:gd name="connsiteY44" fmla="*/ 3667648 h 3667648"/>
                      <a:gd name="connsiteX45" fmla="*/ 2339573 w 11002944"/>
                      <a:gd name="connsiteY45" fmla="*/ 3667648 h 3667648"/>
                      <a:gd name="connsiteX46" fmla="*/ 1980530 w 11002944"/>
                      <a:gd name="connsiteY46" fmla="*/ 3667648 h 3667648"/>
                      <a:gd name="connsiteX47" fmla="*/ 1621486 w 11002944"/>
                      <a:gd name="connsiteY47" fmla="*/ 3667648 h 3667648"/>
                      <a:gd name="connsiteX48" fmla="*/ 822325 w 11002944"/>
                      <a:gd name="connsiteY48" fmla="*/ 3667648 h 3667648"/>
                      <a:gd name="connsiteX49" fmla="*/ 0 w 11002944"/>
                      <a:gd name="connsiteY49" fmla="*/ 3667648 h 3667648"/>
                      <a:gd name="connsiteX50" fmla="*/ 0 w 11002944"/>
                      <a:gd name="connsiteY50" fmla="*/ 3217051 h 3667648"/>
                      <a:gd name="connsiteX51" fmla="*/ 0 w 11002944"/>
                      <a:gd name="connsiteY51" fmla="*/ 2803131 h 3667648"/>
                      <a:gd name="connsiteX52" fmla="*/ 0 w 11002944"/>
                      <a:gd name="connsiteY52" fmla="*/ 2205828 h 3667648"/>
                      <a:gd name="connsiteX53" fmla="*/ 0 w 11002944"/>
                      <a:gd name="connsiteY53" fmla="*/ 1608526 h 3667648"/>
                      <a:gd name="connsiteX54" fmla="*/ 0 w 11002944"/>
                      <a:gd name="connsiteY54" fmla="*/ 1084576 h 3667648"/>
                      <a:gd name="connsiteX55" fmla="*/ 0 w 11002944"/>
                      <a:gd name="connsiteY55" fmla="*/ 487273 h 3667648"/>
                      <a:gd name="connsiteX56" fmla="*/ 0 w 11002944"/>
                      <a:gd name="connsiteY56" fmla="*/ 0 h 366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11002944" h="3667648" fill="none" extrusionOk="0">
                        <a:moveTo>
                          <a:pt x="0" y="0"/>
                        </a:moveTo>
                        <a:cubicBezTo>
                          <a:pt x="187004" y="-57719"/>
                          <a:pt x="557337" y="94423"/>
                          <a:pt x="799161" y="0"/>
                        </a:cubicBezTo>
                        <a:cubicBezTo>
                          <a:pt x="1040985" y="-94423"/>
                          <a:pt x="1047568" y="13956"/>
                          <a:pt x="1158205" y="0"/>
                        </a:cubicBezTo>
                        <a:cubicBezTo>
                          <a:pt x="1268842" y="-13956"/>
                          <a:pt x="1608156" y="24673"/>
                          <a:pt x="1737307" y="0"/>
                        </a:cubicBezTo>
                        <a:cubicBezTo>
                          <a:pt x="1866458" y="-24673"/>
                          <a:pt x="2255429" y="26848"/>
                          <a:pt x="2536468" y="0"/>
                        </a:cubicBezTo>
                        <a:cubicBezTo>
                          <a:pt x="2817507" y="-26848"/>
                          <a:pt x="2937782" y="6943"/>
                          <a:pt x="3115570" y="0"/>
                        </a:cubicBezTo>
                        <a:cubicBezTo>
                          <a:pt x="3293358" y="-6943"/>
                          <a:pt x="3642829" y="41425"/>
                          <a:pt x="3804702" y="0"/>
                        </a:cubicBezTo>
                        <a:cubicBezTo>
                          <a:pt x="3966575" y="-41425"/>
                          <a:pt x="3975121" y="7445"/>
                          <a:pt x="4053716" y="0"/>
                        </a:cubicBezTo>
                        <a:cubicBezTo>
                          <a:pt x="4132311" y="-7445"/>
                          <a:pt x="4337037" y="22955"/>
                          <a:pt x="4412760" y="0"/>
                        </a:cubicBezTo>
                        <a:cubicBezTo>
                          <a:pt x="4488483" y="-22955"/>
                          <a:pt x="4780925" y="76439"/>
                          <a:pt x="5101891" y="0"/>
                        </a:cubicBezTo>
                        <a:cubicBezTo>
                          <a:pt x="5422857" y="-76439"/>
                          <a:pt x="5331444" y="29085"/>
                          <a:pt x="5460935" y="0"/>
                        </a:cubicBezTo>
                        <a:cubicBezTo>
                          <a:pt x="5590426" y="-29085"/>
                          <a:pt x="5967355" y="36789"/>
                          <a:pt x="6260096" y="0"/>
                        </a:cubicBezTo>
                        <a:cubicBezTo>
                          <a:pt x="6552837" y="-36789"/>
                          <a:pt x="6811566" y="25407"/>
                          <a:pt x="7059257" y="0"/>
                        </a:cubicBezTo>
                        <a:cubicBezTo>
                          <a:pt x="7306948" y="-25407"/>
                          <a:pt x="7230492" y="17906"/>
                          <a:pt x="7308271" y="0"/>
                        </a:cubicBezTo>
                        <a:cubicBezTo>
                          <a:pt x="7386050" y="-17906"/>
                          <a:pt x="7714023" y="2661"/>
                          <a:pt x="7997403" y="0"/>
                        </a:cubicBezTo>
                        <a:cubicBezTo>
                          <a:pt x="8280783" y="-2661"/>
                          <a:pt x="8322614" y="10382"/>
                          <a:pt x="8466476" y="0"/>
                        </a:cubicBezTo>
                        <a:cubicBezTo>
                          <a:pt x="8610338" y="-10382"/>
                          <a:pt x="8808104" y="50397"/>
                          <a:pt x="8935549" y="0"/>
                        </a:cubicBezTo>
                        <a:cubicBezTo>
                          <a:pt x="9062994" y="-50397"/>
                          <a:pt x="9272406" y="46398"/>
                          <a:pt x="9404622" y="0"/>
                        </a:cubicBezTo>
                        <a:cubicBezTo>
                          <a:pt x="9536838" y="-46398"/>
                          <a:pt x="9930689" y="14672"/>
                          <a:pt x="10093753" y="0"/>
                        </a:cubicBezTo>
                        <a:cubicBezTo>
                          <a:pt x="10256817" y="-14672"/>
                          <a:pt x="10226636" y="19088"/>
                          <a:pt x="10342767" y="0"/>
                        </a:cubicBezTo>
                        <a:cubicBezTo>
                          <a:pt x="10458898" y="-19088"/>
                          <a:pt x="10740067" y="75787"/>
                          <a:pt x="11002944" y="0"/>
                        </a:cubicBezTo>
                        <a:cubicBezTo>
                          <a:pt x="11024396" y="206352"/>
                          <a:pt x="10953373" y="318222"/>
                          <a:pt x="11002944" y="450597"/>
                        </a:cubicBezTo>
                        <a:cubicBezTo>
                          <a:pt x="11052515" y="582972"/>
                          <a:pt x="10938980" y="804828"/>
                          <a:pt x="11002944" y="1011223"/>
                        </a:cubicBezTo>
                        <a:cubicBezTo>
                          <a:pt x="11066908" y="1217618"/>
                          <a:pt x="10983680" y="1372538"/>
                          <a:pt x="11002944" y="1535173"/>
                        </a:cubicBezTo>
                        <a:cubicBezTo>
                          <a:pt x="11022208" y="1697808"/>
                          <a:pt x="10955616" y="1838018"/>
                          <a:pt x="11002944" y="2059122"/>
                        </a:cubicBezTo>
                        <a:cubicBezTo>
                          <a:pt x="11050272" y="2280226"/>
                          <a:pt x="10951157" y="2329690"/>
                          <a:pt x="11002944" y="2509719"/>
                        </a:cubicBezTo>
                        <a:cubicBezTo>
                          <a:pt x="11054731" y="2689748"/>
                          <a:pt x="10984960" y="2790594"/>
                          <a:pt x="11002944" y="3070345"/>
                        </a:cubicBezTo>
                        <a:cubicBezTo>
                          <a:pt x="11020928" y="3350096"/>
                          <a:pt x="10959580" y="3398170"/>
                          <a:pt x="11002944" y="3667648"/>
                        </a:cubicBezTo>
                        <a:cubicBezTo>
                          <a:pt x="10856431" y="3696380"/>
                          <a:pt x="10798000" y="3628392"/>
                          <a:pt x="10643901" y="3667648"/>
                        </a:cubicBezTo>
                        <a:cubicBezTo>
                          <a:pt x="10489802" y="3706904"/>
                          <a:pt x="10501296" y="3659871"/>
                          <a:pt x="10394887" y="3667648"/>
                        </a:cubicBezTo>
                        <a:cubicBezTo>
                          <a:pt x="10288478" y="3675425"/>
                          <a:pt x="10046625" y="3651881"/>
                          <a:pt x="9815784" y="3667648"/>
                        </a:cubicBezTo>
                        <a:cubicBezTo>
                          <a:pt x="9584943" y="3683415"/>
                          <a:pt x="9653387" y="3653656"/>
                          <a:pt x="9566770" y="3667648"/>
                        </a:cubicBezTo>
                        <a:cubicBezTo>
                          <a:pt x="9480153" y="3681640"/>
                          <a:pt x="9141598" y="3590094"/>
                          <a:pt x="8767609" y="3667648"/>
                        </a:cubicBezTo>
                        <a:cubicBezTo>
                          <a:pt x="8393620" y="3745202"/>
                          <a:pt x="8234929" y="3589991"/>
                          <a:pt x="8078477" y="3667648"/>
                        </a:cubicBezTo>
                        <a:cubicBezTo>
                          <a:pt x="7922025" y="3745305"/>
                          <a:pt x="7783569" y="3622213"/>
                          <a:pt x="7609404" y="3667648"/>
                        </a:cubicBezTo>
                        <a:cubicBezTo>
                          <a:pt x="7435239" y="3713083"/>
                          <a:pt x="7478403" y="3667053"/>
                          <a:pt x="7360390" y="3667648"/>
                        </a:cubicBezTo>
                        <a:cubicBezTo>
                          <a:pt x="7242377" y="3668243"/>
                          <a:pt x="6957406" y="3656688"/>
                          <a:pt x="6781288" y="3667648"/>
                        </a:cubicBezTo>
                        <a:cubicBezTo>
                          <a:pt x="6605170" y="3678608"/>
                          <a:pt x="6477373" y="3621971"/>
                          <a:pt x="6312215" y="3667648"/>
                        </a:cubicBezTo>
                        <a:cubicBezTo>
                          <a:pt x="6147057" y="3713325"/>
                          <a:pt x="5990527" y="3660962"/>
                          <a:pt x="5843142" y="3667648"/>
                        </a:cubicBezTo>
                        <a:cubicBezTo>
                          <a:pt x="5695757" y="3674334"/>
                          <a:pt x="5670858" y="3643831"/>
                          <a:pt x="5594128" y="3667648"/>
                        </a:cubicBezTo>
                        <a:cubicBezTo>
                          <a:pt x="5517398" y="3691465"/>
                          <a:pt x="5270898" y="3658915"/>
                          <a:pt x="5125055" y="3667648"/>
                        </a:cubicBezTo>
                        <a:cubicBezTo>
                          <a:pt x="4979212" y="3676381"/>
                          <a:pt x="4762396" y="3600791"/>
                          <a:pt x="4435924" y="3667648"/>
                        </a:cubicBezTo>
                        <a:cubicBezTo>
                          <a:pt x="4109452" y="3734505"/>
                          <a:pt x="4226153" y="3637933"/>
                          <a:pt x="4076880" y="3667648"/>
                        </a:cubicBezTo>
                        <a:cubicBezTo>
                          <a:pt x="3927607" y="3697363"/>
                          <a:pt x="3744342" y="3611874"/>
                          <a:pt x="3497778" y="3667648"/>
                        </a:cubicBezTo>
                        <a:cubicBezTo>
                          <a:pt x="3251214" y="3723422"/>
                          <a:pt x="3204314" y="3642311"/>
                          <a:pt x="3028705" y="3667648"/>
                        </a:cubicBezTo>
                        <a:cubicBezTo>
                          <a:pt x="2853096" y="3692985"/>
                          <a:pt x="2525907" y="3600907"/>
                          <a:pt x="2339573" y="3667648"/>
                        </a:cubicBezTo>
                        <a:cubicBezTo>
                          <a:pt x="2153239" y="3734389"/>
                          <a:pt x="2092642" y="3631134"/>
                          <a:pt x="1980530" y="3667648"/>
                        </a:cubicBezTo>
                        <a:cubicBezTo>
                          <a:pt x="1868418" y="3704162"/>
                          <a:pt x="1704921" y="3656446"/>
                          <a:pt x="1621486" y="3667648"/>
                        </a:cubicBezTo>
                        <a:cubicBezTo>
                          <a:pt x="1538051" y="3678850"/>
                          <a:pt x="1084460" y="3609832"/>
                          <a:pt x="822325" y="3667648"/>
                        </a:cubicBezTo>
                        <a:cubicBezTo>
                          <a:pt x="560190" y="3725464"/>
                          <a:pt x="265085" y="3585030"/>
                          <a:pt x="0" y="3667648"/>
                        </a:cubicBezTo>
                        <a:cubicBezTo>
                          <a:pt x="-38821" y="3518124"/>
                          <a:pt x="40155" y="3369888"/>
                          <a:pt x="0" y="3217051"/>
                        </a:cubicBezTo>
                        <a:cubicBezTo>
                          <a:pt x="-40155" y="3064214"/>
                          <a:pt x="1212" y="2969544"/>
                          <a:pt x="0" y="2803131"/>
                        </a:cubicBezTo>
                        <a:cubicBezTo>
                          <a:pt x="-1212" y="2636718"/>
                          <a:pt x="4159" y="2361368"/>
                          <a:pt x="0" y="2205828"/>
                        </a:cubicBezTo>
                        <a:cubicBezTo>
                          <a:pt x="-4159" y="2050288"/>
                          <a:pt x="70872" y="1765427"/>
                          <a:pt x="0" y="1608526"/>
                        </a:cubicBezTo>
                        <a:cubicBezTo>
                          <a:pt x="-70872" y="1451625"/>
                          <a:pt x="3481" y="1315804"/>
                          <a:pt x="0" y="1084576"/>
                        </a:cubicBezTo>
                        <a:cubicBezTo>
                          <a:pt x="-3481" y="853348"/>
                          <a:pt x="37418" y="686091"/>
                          <a:pt x="0" y="487273"/>
                        </a:cubicBezTo>
                        <a:cubicBezTo>
                          <a:pt x="-37418" y="288455"/>
                          <a:pt x="46648" y="203929"/>
                          <a:pt x="0" y="0"/>
                        </a:cubicBezTo>
                        <a:close/>
                      </a:path>
                      <a:path w="11002944" h="3667648" stroke="0" extrusionOk="0">
                        <a:moveTo>
                          <a:pt x="0" y="0"/>
                        </a:moveTo>
                        <a:cubicBezTo>
                          <a:pt x="137737" y="-39544"/>
                          <a:pt x="262600" y="39293"/>
                          <a:pt x="469073" y="0"/>
                        </a:cubicBezTo>
                        <a:cubicBezTo>
                          <a:pt x="675546" y="-39293"/>
                          <a:pt x="732894" y="28742"/>
                          <a:pt x="828116" y="0"/>
                        </a:cubicBezTo>
                        <a:cubicBezTo>
                          <a:pt x="923338" y="-28742"/>
                          <a:pt x="1263799" y="26034"/>
                          <a:pt x="1407219" y="0"/>
                        </a:cubicBezTo>
                        <a:cubicBezTo>
                          <a:pt x="1550639" y="-26034"/>
                          <a:pt x="1625109" y="32449"/>
                          <a:pt x="1766262" y="0"/>
                        </a:cubicBezTo>
                        <a:cubicBezTo>
                          <a:pt x="1907415" y="-32449"/>
                          <a:pt x="2100652" y="45280"/>
                          <a:pt x="2345364" y="0"/>
                        </a:cubicBezTo>
                        <a:cubicBezTo>
                          <a:pt x="2590076" y="-45280"/>
                          <a:pt x="2882732" y="2114"/>
                          <a:pt x="3144526" y="0"/>
                        </a:cubicBezTo>
                        <a:cubicBezTo>
                          <a:pt x="3406320" y="-2114"/>
                          <a:pt x="3344191" y="11519"/>
                          <a:pt x="3503569" y="0"/>
                        </a:cubicBezTo>
                        <a:cubicBezTo>
                          <a:pt x="3662947" y="-11519"/>
                          <a:pt x="3863510" y="11694"/>
                          <a:pt x="4192701" y="0"/>
                        </a:cubicBezTo>
                        <a:cubicBezTo>
                          <a:pt x="4521892" y="-11694"/>
                          <a:pt x="4608200" y="53366"/>
                          <a:pt x="4991862" y="0"/>
                        </a:cubicBezTo>
                        <a:cubicBezTo>
                          <a:pt x="5375524" y="-53366"/>
                          <a:pt x="5473355" y="1539"/>
                          <a:pt x="5791023" y="0"/>
                        </a:cubicBezTo>
                        <a:cubicBezTo>
                          <a:pt x="6108691" y="-1539"/>
                          <a:pt x="6339971" y="47824"/>
                          <a:pt x="6590184" y="0"/>
                        </a:cubicBezTo>
                        <a:cubicBezTo>
                          <a:pt x="6840397" y="-47824"/>
                          <a:pt x="7100352" y="62116"/>
                          <a:pt x="7389346" y="0"/>
                        </a:cubicBezTo>
                        <a:cubicBezTo>
                          <a:pt x="7678340" y="-62116"/>
                          <a:pt x="7604220" y="23463"/>
                          <a:pt x="7748389" y="0"/>
                        </a:cubicBezTo>
                        <a:cubicBezTo>
                          <a:pt x="7892558" y="-23463"/>
                          <a:pt x="7919532" y="661"/>
                          <a:pt x="7997403" y="0"/>
                        </a:cubicBezTo>
                        <a:cubicBezTo>
                          <a:pt x="8075274" y="-661"/>
                          <a:pt x="8326604" y="16529"/>
                          <a:pt x="8466476" y="0"/>
                        </a:cubicBezTo>
                        <a:cubicBezTo>
                          <a:pt x="8606348" y="-16529"/>
                          <a:pt x="8623965" y="6903"/>
                          <a:pt x="8715490" y="0"/>
                        </a:cubicBezTo>
                        <a:cubicBezTo>
                          <a:pt x="8807015" y="-6903"/>
                          <a:pt x="9151148" y="72590"/>
                          <a:pt x="9404622" y="0"/>
                        </a:cubicBezTo>
                        <a:cubicBezTo>
                          <a:pt x="9658096" y="-72590"/>
                          <a:pt x="9894941" y="80511"/>
                          <a:pt x="10203783" y="0"/>
                        </a:cubicBezTo>
                        <a:cubicBezTo>
                          <a:pt x="10512625" y="-80511"/>
                          <a:pt x="10818248" y="29219"/>
                          <a:pt x="11002944" y="0"/>
                        </a:cubicBezTo>
                        <a:cubicBezTo>
                          <a:pt x="11047886" y="175352"/>
                          <a:pt x="10944635" y="288714"/>
                          <a:pt x="11002944" y="487273"/>
                        </a:cubicBezTo>
                        <a:cubicBezTo>
                          <a:pt x="11061253" y="685832"/>
                          <a:pt x="10997437" y="724161"/>
                          <a:pt x="11002944" y="937870"/>
                        </a:cubicBezTo>
                        <a:cubicBezTo>
                          <a:pt x="11008451" y="1151579"/>
                          <a:pt x="10977114" y="1243674"/>
                          <a:pt x="11002944" y="1461820"/>
                        </a:cubicBezTo>
                        <a:cubicBezTo>
                          <a:pt x="11028774" y="1679966"/>
                          <a:pt x="10969495" y="1716267"/>
                          <a:pt x="11002944" y="1875740"/>
                        </a:cubicBezTo>
                        <a:cubicBezTo>
                          <a:pt x="11036393" y="2035213"/>
                          <a:pt x="10978040" y="2096991"/>
                          <a:pt x="11002944" y="2289660"/>
                        </a:cubicBezTo>
                        <a:cubicBezTo>
                          <a:pt x="11027848" y="2482329"/>
                          <a:pt x="10957353" y="2705014"/>
                          <a:pt x="11002944" y="2813610"/>
                        </a:cubicBezTo>
                        <a:cubicBezTo>
                          <a:pt x="11048535" y="2922206"/>
                          <a:pt x="10943662" y="3252613"/>
                          <a:pt x="11002944" y="3667648"/>
                        </a:cubicBezTo>
                        <a:cubicBezTo>
                          <a:pt x="10839282" y="3727757"/>
                          <a:pt x="10581721" y="3601896"/>
                          <a:pt x="10423842" y="3667648"/>
                        </a:cubicBezTo>
                        <a:cubicBezTo>
                          <a:pt x="10265963" y="3733400"/>
                          <a:pt x="10143664" y="3653817"/>
                          <a:pt x="9954769" y="3667648"/>
                        </a:cubicBezTo>
                        <a:cubicBezTo>
                          <a:pt x="9765874" y="3681479"/>
                          <a:pt x="9580478" y="3627677"/>
                          <a:pt x="9485696" y="3667648"/>
                        </a:cubicBezTo>
                        <a:cubicBezTo>
                          <a:pt x="9390914" y="3707619"/>
                          <a:pt x="9142102" y="3620813"/>
                          <a:pt x="9016623" y="3667648"/>
                        </a:cubicBezTo>
                        <a:cubicBezTo>
                          <a:pt x="8891144" y="3714483"/>
                          <a:pt x="8567295" y="3640223"/>
                          <a:pt x="8437521" y="3667648"/>
                        </a:cubicBezTo>
                        <a:cubicBezTo>
                          <a:pt x="8307747" y="3695073"/>
                          <a:pt x="8266321" y="3658662"/>
                          <a:pt x="8188507" y="3667648"/>
                        </a:cubicBezTo>
                        <a:cubicBezTo>
                          <a:pt x="8110693" y="3676634"/>
                          <a:pt x="7880241" y="3643552"/>
                          <a:pt x="7719434" y="3667648"/>
                        </a:cubicBezTo>
                        <a:cubicBezTo>
                          <a:pt x="7558627" y="3691744"/>
                          <a:pt x="7456152" y="3644538"/>
                          <a:pt x="7360390" y="3667648"/>
                        </a:cubicBezTo>
                        <a:cubicBezTo>
                          <a:pt x="7264628" y="3690758"/>
                          <a:pt x="7022817" y="3665896"/>
                          <a:pt x="6891318" y="3667648"/>
                        </a:cubicBezTo>
                        <a:cubicBezTo>
                          <a:pt x="6759819" y="3669400"/>
                          <a:pt x="6693223" y="3646646"/>
                          <a:pt x="6642304" y="3667648"/>
                        </a:cubicBezTo>
                        <a:cubicBezTo>
                          <a:pt x="6591385" y="3688650"/>
                          <a:pt x="6123158" y="3645350"/>
                          <a:pt x="5953172" y="3667648"/>
                        </a:cubicBezTo>
                        <a:cubicBezTo>
                          <a:pt x="5783186" y="3689946"/>
                          <a:pt x="5762271" y="3651645"/>
                          <a:pt x="5704158" y="3667648"/>
                        </a:cubicBezTo>
                        <a:cubicBezTo>
                          <a:pt x="5646045" y="3683651"/>
                          <a:pt x="5375922" y="3653756"/>
                          <a:pt x="5125055" y="3667648"/>
                        </a:cubicBezTo>
                        <a:cubicBezTo>
                          <a:pt x="4874188" y="3681540"/>
                          <a:pt x="4821576" y="3641752"/>
                          <a:pt x="4545953" y="3667648"/>
                        </a:cubicBezTo>
                        <a:cubicBezTo>
                          <a:pt x="4270330" y="3693544"/>
                          <a:pt x="4331672" y="3642283"/>
                          <a:pt x="4186910" y="3667648"/>
                        </a:cubicBezTo>
                        <a:cubicBezTo>
                          <a:pt x="4042148" y="3693013"/>
                          <a:pt x="3849537" y="3623620"/>
                          <a:pt x="3717837" y="3667648"/>
                        </a:cubicBezTo>
                        <a:cubicBezTo>
                          <a:pt x="3586137" y="3711676"/>
                          <a:pt x="3508923" y="3657784"/>
                          <a:pt x="3358793" y="3667648"/>
                        </a:cubicBezTo>
                        <a:cubicBezTo>
                          <a:pt x="3208663" y="3677512"/>
                          <a:pt x="2929685" y="3636063"/>
                          <a:pt x="2559632" y="3667648"/>
                        </a:cubicBezTo>
                        <a:cubicBezTo>
                          <a:pt x="2189579" y="3699233"/>
                          <a:pt x="2401911" y="3647591"/>
                          <a:pt x="2310618" y="3667648"/>
                        </a:cubicBezTo>
                        <a:cubicBezTo>
                          <a:pt x="2219325" y="3687705"/>
                          <a:pt x="2125286" y="3661283"/>
                          <a:pt x="2061604" y="3667648"/>
                        </a:cubicBezTo>
                        <a:cubicBezTo>
                          <a:pt x="1997922" y="3674013"/>
                          <a:pt x="1533620" y="3661726"/>
                          <a:pt x="1262443" y="3667648"/>
                        </a:cubicBezTo>
                        <a:cubicBezTo>
                          <a:pt x="991266" y="3673570"/>
                          <a:pt x="399274" y="3521279"/>
                          <a:pt x="0" y="3667648"/>
                        </a:cubicBezTo>
                        <a:cubicBezTo>
                          <a:pt x="-49571" y="3471707"/>
                          <a:pt x="20216" y="3245799"/>
                          <a:pt x="0" y="3107022"/>
                        </a:cubicBezTo>
                        <a:cubicBezTo>
                          <a:pt x="-20216" y="2968245"/>
                          <a:pt x="12540" y="2856984"/>
                          <a:pt x="0" y="2619749"/>
                        </a:cubicBezTo>
                        <a:cubicBezTo>
                          <a:pt x="-12540" y="2382514"/>
                          <a:pt x="45472" y="2369590"/>
                          <a:pt x="0" y="2205828"/>
                        </a:cubicBezTo>
                        <a:cubicBezTo>
                          <a:pt x="-45472" y="2042066"/>
                          <a:pt x="53082" y="1919145"/>
                          <a:pt x="0" y="1681879"/>
                        </a:cubicBezTo>
                        <a:cubicBezTo>
                          <a:pt x="-53082" y="1444613"/>
                          <a:pt x="61302" y="1279939"/>
                          <a:pt x="0" y="1157929"/>
                        </a:cubicBezTo>
                        <a:cubicBezTo>
                          <a:pt x="-61302" y="1035919"/>
                          <a:pt x="42815" y="880499"/>
                          <a:pt x="0" y="633979"/>
                        </a:cubicBezTo>
                        <a:cubicBezTo>
                          <a:pt x="-42815" y="387459"/>
                          <a:pt x="18077" y="136120"/>
                          <a:pt x="0" y="0"/>
                        </a:cubicBezTo>
                        <a:close/>
                      </a:path>
                    </a:pathLst>
                  </a:custGeom>
                  <ask:type>
                    <ask:lineSketchNone/>
                  </ask:type>
                </ask:lineSketchStyleProps>
              </a:ext>
            </a:extLst>
          </a:ln>
          <a:effectLst>
            <a:outerShdw blurRad="63500" sx="102000" sy="102000" algn="ctr" rotWithShape="0">
              <a:prstClr val="black">
                <a:alpha val="40000"/>
              </a:prstClr>
            </a:outerShdw>
          </a:effectLst>
        </p:spPr>
        <p:txBody>
          <a:bodyPr vert="horz" lIns="91440" tIns="45720" rIns="91440" bIns="45720" rtlCol="0" anchor="t">
            <a:normAutofit fontScale="70000" lnSpcReduction="20000"/>
          </a:bodyPr>
          <a:lstStyle/>
          <a:p>
            <a:r>
              <a:rPr lang="en-US" sz="4000" b="1" u="sng" dirty="0">
                <a:highlight>
                  <a:srgbClr val="FFFFFF"/>
                </a:highlight>
                <a:cs typeface="Times New Roman"/>
              </a:rPr>
              <a:t>GROUP NUMBER </a:t>
            </a:r>
            <a:r>
              <a:rPr lang="en-US" sz="4000" b="1" dirty="0">
                <a:highlight>
                  <a:srgbClr val="FFFFFF"/>
                </a:highlight>
                <a:cs typeface="Times New Roman"/>
              </a:rPr>
              <a:t>: </a:t>
            </a:r>
            <a:r>
              <a:rPr lang="en-US" sz="4000" dirty="0">
                <a:solidFill>
                  <a:srgbClr val="0070C0"/>
                </a:solidFill>
                <a:highlight>
                  <a:srgbClr val="FFFFFF"/>
                </a:highlight>
                <a:cs typeface="Times New Roman"/>
              </a:rPr>
              <a:t>37</a:t>
            </a:r>
          </a:p>
          <a:p>
            <a:pPr marL="342900" indent="-342900">
              <a:buFont typeface="Wingdings" panose="05000000000000000000" pitchFamily="2" charset="2"/>
              <a:buChar char="Ø"/>
            </a:pPr>
            <a:r>
              <a:rPr lang="en-US" sz="2900" b="1" u="sng" dirty="0">
                <a:solidFill>
                  <a:srgbClr val="081012"/>
                </a:solidFill>
                <a:highlight>
                  <a:srgbClr val="FFFFFF"/>
                </a:highlight>
                <a:latin typeface="Arial"/>
                <a:cs typeface="Times New Roman"/>
              </a:rPr>
              <a:t>NAME, STREAM, ENROLLMENT and REGISTRATION numbers of GROUP MEMBERS</a:t>
            </a:r>
            <a:r>
              <a:rPr lang="en-US" sz="2900" b="1" dirty="0">
                <a:solidFill>
                  <a:srgbClr val="081012"/>
                </a:solidFill>
                <a:highlight>
                  <a:srgbClr val="FFFFFF"/>
                </a:highlight>
                <a:latin typeface="Arial"/>
                <a:cs typeface="Times New Roman"/>
              </a:rPr>
              <a:t> :</a:t>
            </a:r>
          </a:p>
          <a:p>
            <a:pPr marL="342900" indent="-342900">
              <a:buFont typeface="Arial" panose="020B0604020202020204" pitchFamily="34" charset="0"/>
              <a:buChar char="•"/>
            </a:pPr>
            <a:r>
              <a:rPr lang="en-US" sz="2900" b="1" dirty="0">
                <a:solidFill>
                  <a:srgbClr val="002060"/>
                </a:solidFill>
                <a:latin typeface="Arial"/>
                <a:cs typeface="Times New Roman"/>
              </a:rPr>
              <a:t>Asmita Ghorai </a:t>
            </a:r>
            <a:r>
              <a:rPr lang="en-US" sz="2900" dirty="0">
                <a:solidFill>
                  <a:srgbClr val="0070C0"/>
                </a:solidFill>
                <a:latin typeface="Arial"/>
                <a:cs typeface="Times New Roman"/>
              </a:rPr>
              <a:t>– BTech CSE (2212200001142), (220010317574)</a:t>
            </a:r>
          </a:p>
          <a:p>
            <a:pPr marL="342900" indent="-342900">
              <a:buFont typeface="Arial" panose="020B0604020202020204" pitchFamily="34" charset="0"/>
              <a:buChar char="•"/>
            </a:pPr>
            <a:r>
              <a:rPr lang="en-US" sz="2900" b="1" dirty="0">
                <a:solidFill>
                  <a:srgbClr val="002060"/>
                </a:solidFill>
                <a:latin typeface="Arial"/>
                <a:cs typeface="Times New Roman"/>
              </a:rPr>
              <a:t>Pallabi Biswas </a:t>
            </a:r>
            <a:r>
              <a:rPr lang="en-US" sz="2900" dirty="0">
                <a:solidFill>
                  <a:srgbClr val="0070C0"/>
                </a:solidFill>
                <a:latin typeface="Arial"/>
                <a:cs typeface="Times New Roman"/>
              </a:rPr>
              <a:t>– BTech CSE (2212200001084), (220010788506)</a:t>
            </a:r>
          </a:p>
          <a:p>
            <a:pPr marL="342900" indent="-342900">
              <a:buFont typeface="Arial" panose="020B0604020202020204" pitchFamily="34" charset="0"/>
              <a:buChar char="•"/>
            </a:pPr>
            <a:r>
              <a:rPr lang="en-US" sz="2900" b="1" dirty="0">
                <a:solidFill>
                  <a:srgbClr val="002060"/>
                </a:solidFill>
                <a:latin typeface="Arial"/>
                <a:cs typeface="Times New Roman"/>
              </a:rPr>
              <a:t>Ratri Dey </a:t>
            </a:r>
            <a:r>
              <a:rPr lang="en-US" sz="2900" dirty="0">
                <a:solidFill>
                  <a:srgbClr val="0070C0"/>
                </a:solidFill>
                <a:latin typeface="Arial"/>
                <a:cs typeface="Times New Roman"/>
              </a:rPr>
              <a:t>– BTech CSE (2212200001070),(220010988119)</a:t>
            </a:r>
            <a:endParaRPr lang="en-US" sz="2900" dirty="0">
              <a:solidFill>
                <a:srgbClr val="0070C0"/>
              </a:solidFill>
              <a:latin typeface="Arial"/>
              <a:cs typeface="Times New Roman" panose="02020603050405020304" pitchFamily="18" charset="0"/>
            </a:endParaRPr>
          </a:p>
          <a:p>
            <a:pPr marL="342900" indent="-342900">
              <a:buFont typeface="Arial" panose="020B0604020202020204" pitchFamily="34" charset="0"/>
              <a:buChar char="•"/>
            </a:pPr>
            <a:r>
              <a:rPr lang="en-US" sz="2900" b="1" dirty="0">
                <a:solidFill>
                  <a:srgbClr val="002060"/>
                </a:solidFill>
                <a:latin typeface="Arial"/>
                <a:cs typeface="Times New Roman"/>
              </a:rPr>
              <a:t>Riddhi Basu </a:t>
            </a:r>
            <a:r>
              <a:rPr lang="en-US" sz="2900" dirty="0">
                <a:solidFill>
                  <a:srgbClr val="0070C0"/>
                </a:solidFill>
                <a:latin typeface="Arial"/>
                <a:cs typeface="Times New Roman"/>
              </a:rPr>
              <a:t>– BTech CSE (2212200001146),(</a:t>
            </a:r>
            <a:r>
              <a:rPr lang="en-US" sz="2900" dirty="0">
                <a:solidFill>
                  <a:srgbClr val="0070C0"/>
                </a:solidFill>
                <a:latin typeface="Arial"/>
                <a:ea typeface="+mn-lt"/>
                <a:cs typeface="+mn-lt"/>
              </a:rPr>
              <a:t>220011009400)</a:t>
            </a:r>
            <a:endParaRPr lang="en-US" sz="2900" dirty="0">
              <a:solidFill>
                <a:srgbClr val="0070C0"/>
              </a:solidFill>
              <a:highlight>
                <a:srgbClr val="FFFFFF"/>
              </a:highlight>
              <a:latin typeface="Arial"/>
              <a:cs typeface="Times New Roman" panose="02020603050405020304" pitchFamily="18" charset="0"/>
            </a:endParaRPr>
          </a:p>
          <a:p>
            <a:pPr marL="342900" indent="-342900">
              <a:buFont typeface="Wingdings" panose="05000000000000000000" pitchFamily="2" charset="2"/>
              <a:buChar char="Ø"/>
            </a:pPr>
            <a:r>
              <a:rPr lang="en-US" sz="2900" b="1" u="sng" dirty="0">
                <a:solidFill>
                  <a:srgbClr val="081012"/>
                </a:solidFill>
                <a:highlight>
                  <a:srgbClr val="FFFFFF"/>
                </a:highlight>
                <a:latin typeface="Arial"/>
                <a:cs typeface="Times New Roman"/>
              </a:rPr>
              <a:t>DEPARTMENT</a:t>
            </a:r>
            <a:r>
              <a:rPr lang="en-US" sz="2900" dirty="0">
                <a:solidFill>
                  <a:srgbClr val="081012"/>
                </a:solidFill>
                <a:highlight>
                  <a:srgbClr val="FFFFFF"/>
                </a:highlight>
                <a:latin typeface="Arial"/>
                <a:cs typeface="Times New Roman"/>
              </a:rPr>
              <a:t> :</a:t>
            </a:r>
            <a:r>
              <a:rPr lang="en-US" sz="2900" dirty="0">
                <a:solidFill>
                  <a:srgbClr val="081012"/>
                </a:solidFill>
                <a:latin typeface="Arial"/>
                <a:cs typeface="Times New Roman"/>
              </a:rPr>
              <a:t>  “</a:t>
            </a:r>
            <a:r>
              <a:rPr lang="en-US" sz="2900" dirty="0">
                <a:solidFill>
                  <a:srgbClr val="0070C0"/>
                </a:solidFill>
                <a:latin typeface="Arial"/>
                <a:cs typeface="Times New Roman"/>
              </a:rPr>
              <a:t>Computer Science and Engineering”</a:t>
            </a:r>
            <a:endParaRPr lang="en-US" sz="2900" dirty="0">
              <a:solidFill>
                <a:srgbClr val="0070C0"/>
              </a:solidFill>
              <a:highlight>
                <a:srgbClr val="FFFFFF"/>
              </a:highlight>
              <a:latin typeface="Arial"/>
              <a:cs typeface="Times New Roman"/>
            </a:endParaRPr>
          </a:p>
          <a:p>
            <a:pPr marL="342900" indent="-342900">
              <a:buFont typeface="Wingdings" panose="05000000000000000000" pitchFamily="2" charset="2"/>
              <a:buChar char="Ø"/>
            </a:pPr>
            <a:r>
              <a:rPr lang="en-US" sz="2900" b="1" u="sng" dirty="0">
                <a:solidFill>
                  <a:srgbClr val="081012"/>
                </a:solidFill>
                <a:highlight>
                  <a:srgbClr val="FFFFFF"/>
                </a:highlight>
                <a:latin typeface="Arial"/>
                <a:cs typeface="Times New Roman"/>
              </a:rPr>
              <a:t>INSTITUTION</a:t>
            </a:r>
            <a:r>
              <a:rPr lang="en-US" sz="2900" dirty="0">
                <a:solidFill>
                  <a:srgbClr val="081012"/>
                </a:solidFill>
                <a:highlight>
                  <a:srgbClr val="FFFFFF"/>
                </a:highlight>
                <a:latin typeface="Arial"/>
                <a:cs typeface="Times New Roman"/>
              </a:rPr>
              <a:t> : “</a:t>
            </a:r>
            <a:r>
              <a:rPr lang="en-US" sz="2900" dirty="0">
                <a:solidFill>
                  <a:srgbClr val="0070C0"/>
                </a:solidFill>
                <a:latin typeface="Arial"/>
                <a:cs typeface="Times New Roman"/>
              </a:rPr>
              <a:t>Sister Nivedita University”</a:t>
            </a:r>
            <a:endParaRPr lang="en-US" sz="2900" dirty="0">
              <a:solidFill>
                <a:srgbClr val="0070C0"/>
              </a:solidFill>
              <a:highlight>
                <a:srgbClr val="FFFFFF"/>
              </a:highlight>
              <a:latin typeface="Arial"/>
              <a:cs typeface="Times New Roman"/>
            </a:endParaRPr>
          </a:p>
          <a:p>
            <a:pPr marL="342900" indent="-342900">
              <a:buFont typeface="Wingdings" panose="05000000000000000000" pitchFamily="2" charset="2"/>
              <a:buChar char="Ø"/>
            </a:pPr>
            <a:r>
              <a:rPr lang="en-US" sz="2900" b="1" u="sng" dirty="0">
                <a:solidFill>
                  <a:srgbClr val="081012"/>
                </a:solidFill>
                <a:highlight>
                  <a:srgbClr val="FFFFFF"/>
                </a:highlight>
                <a:latin typeface="Arial"/>
                <a:cs typeface="Times New Roman"/>
              </a:rPr>
              <a:t>NAME OF SUPERVISOR with AFFILIATION</a:t>
            </a:r>
            <a:r>
              <a:rPr lang="en-US" sz="2900" b="1" dirty="0">
                <a:solidFill>
                  <a:srgbClr val="081012"/>
                </a:solidFill>
                <a:highlight>
                  <a:srgbClr val="FFFFFF"/>
                </a:highlight>
                <a:latin typeface="Arial"/>
                <a:cs typeface="Times New Roman"/>
              </a:rPr>
              <a:t> </a:t>
            </a:r>
            <a:r>
              <a:rPr lang="en-US" sz="2900" dirty="0">
                <a:solidFill>
                  <a:srgbClr val="081012"/>
                </a:solidFill>
                <a:highlight>
                  <a:srgbClr val="FFFFFF"/>
                </a:highlight>
                <a:latin typeface="Arial"/>
                <a:cs typeface="Times New Roman"/>
              </a:rPr>
              <a:t>:</a:t>
            </a:r>
          </a:p>
          <a:p>
            <a:r>
              <a:rPr lang="en-US" sz="2900" b="1" dirty="0">
                <a:solidFill>
                  <a:srgbClr val="002060"/>
                </a:solidFill>
                <a:latin typeface="Arial"/>
                <a:cs typeface="Times New Roman"/>
              </a:rPr>
              <a:t>Dr. BIDYUT SAHA</a:t>
            </a:r>
            <a:r>
              <a:rPr lang="en-US" sz="2900" b="1" dirty="0">
                <a:solidFill>
                  <a:schemeClr val="accent2">
                    <a:lumMod val="75000"/>
                  </a:schemeClr>
                </a:solidFill>
                <a:latin typeface="Arial"/>
                <a:cs typeface="Times New Roman"/>
              </a:rPr>
              <a:t> </a:t>
            </a:r>
            <a:r>
              <a:rPr lang="en-US" sz="2900" b="1" dirty="0">
                <a:solidFill>
                  <a:srgbClr val="002060"/>
                </a:solidFill>
                <a:latin typeface="Arial"/>
                <a:cs typeface="Times New Roman"/>
              </a:rPr>
              <a:t>,</a:t>
            </a:r>
            <a:r>
              <a:rPr lang="en-US" sz="2900" dirty="0">
                <a:solidFill>
                  <a:schemeClr val="accent2">
                    <a:lumMod val="75000"/>
                  </a:schemeClr>
                </a:solidFill>
                <a:latin typeface="Arial"/>
                <a:cs typeface="Times New Roman"/>
              </a:rPr>
              <a:t> </a:t>
            </a:r>
            <a:r>
              <a:rPr lang="en-US" sz="2900" dirty="0">
                <a:solidFill>
                  <a:srgbClr val="0070C0"/>
                </a:solidFill>
                <a:latin typeface="Arial"/>
                <a:ea typeface="+mn-lt"/>
                <a:cs typeface="+mn-lt"/>
              </a:rPr>
              <a:t>Department of Computer Science and Engineering</a:t>
            </a:r>
            <a:r>
              <a:rPr lang="en-US" sz="2900" dirty="0">
                <a:solidFill>
                  <a:srgbClr val="0070C0"/>
                </a:solidFill>
                <a:latin typeface="Arial"/>
                <a:cs typeface="Times New Roman"/>
              </a:rPr>
              <a:t>, Sister Nivedita University</a:t>
            </a:r>
            <a:endParaRPr lang="en-US" sz="2900" dirty="0">
              <a:solidFill>
                <a:srgbClr val="0070C0"/>
              </a:solidFill>
              <a:highlight>
                <a:srgbClr val="FFFFFF"/>
              </a:highlight>
              <a:latin typeface="Arial"/>
              <a:cs typeface="Times New Roman"/>
            </a:endParaRPr>
          </a:p>
          <a:p>
            <a:pPr>
              <a:buFont typeface="Arial" panose="020B0604020202020204" pitchFamily="34" charset="0"/>
              <a:buChar char="•"/>
            </a:pPr>
            <a:endParaRPr lang="en-US" b="0" i="0" dirty="0">
              <a:solidFill>
                <a:srgbClr val="0D0D0D"/>
              </a:solidFill>
              <a:effectLst/>
              <a:highlight>
                <a:srgbClr val="FFFFFF"/>
              </a:highlight>
              <a:latin typeface="Arial"/>
              <a:cs typeface="Arial"/>
            </a:endParaRPr>
          </a:p>
          <a:p>
            <a:endParaRPr lang="en-IN" dirty="0"/>
          </a:p>
        </p:txBody>
      </p:sp>
      <p:pic>
        <p:nvPicPr>
          <p:cNvPr id="1026"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2629" y="111044"/>
            <a:ext cx="2574145" cy="7917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2558" y="262085"/>
            <a:ext cx="4118418" cy="734089"/>
          </a:xfrm>
          <a:ln>
            <a:noFill/>
          </a:ln>
          <a:effectLst/>
          <a:scene3d>
            <a:camera prst="orthographicFront">
              <a:rot lat="0" lon="0" rev="0"/>
            </a:camera>
            <a:lightRig rig="chilly" dir="t">
              <a:rot lat="0" lon="0" rev="18480000"/>
            </a:lightRig>
          </a:scene3d>
          <a:sp3d prstMaterial="clear"/>
        </p:spPr>
        <p:txBody>
          <a:bodyPr>
            <a:noAutofit/>
          </a:bodyPr>
          <a:lstStyle/>
          <a:p>
            <a:r>
              <a:rPr lang="en-IN" sz="4000" spc="-150" dirty="0">
                <a:latin typeface="Arial"/>
                <a:cs typeface="Arial"/>
              </a:rPr>
              <a:t>INTRODUCTION</a:t>
            </a:r>
          </a:p>
        </p:txBody>
      </p:sp>
      <p:sp>
        <p:nvSpPr>
          <p:cNvPr id="5" name="Rectangle 4">
            <a:extLst>
              <a:ext uri="{FF2B5EF4-FFF2-40B4-BE49-F238E27FC236}">
                <a16:creationId xmlns:a16="http://schemas.microsoft.com/office/drawing/2014/main" id="{C0304B0C-BBE8-B238-6F86-CF929D9DC228}"/>
              </a:ext>
            </a:extLst>
          </p:cNvPr>
          <p:cNvSpPr/>
          <p:nvPr/>
        </p:nvSpPr>
        <p:spPr>
          <a:xfrm>
            <a:off x="847830" y="1989572"/>
            <a:ext cx="10496339" cy="4481565"/>
          </a:xfrm>
          <a:custGeom>
            <a:avLst/>
            <a:gdLst>
              <a:gd name="csX0" fmla="*/ 0 w 10496339"/>
              <a:gd name="csY0" fmla="*/ 0 h 4481565"/>
              <a:gd name="csX1" fmla="*/ 478167 w 10496339"/>
              <a:gd name="csY1" fmla="*/ 0 h 4481565"/>
              <a:gd name="csX2" fmla="*/ 746406 w 10496339"/>
              <a:gd name="csY2" fmla="*/ 0 h 4481565"/>
              <a:gd name="csX3" fmla="*/ 1329536 w 10496339"/>
              <a:gd name="csY3" fmla="*/ 0 h 4481565"/>
              <a:gd name="csX4" fmla="*/ 2122593 w 10496339"/>
              <a:gd name="csY4" fmla="*/ 0 h 4481565"/>
              <a:gd name="csX5" fmla="*/ 2915650 w 10496339"/>
              <a:gd name="csY5" fmla="*/ 0 h 4481565"/>
              <a:gd name="csX6" fmla="*/ 3288853 w 10496339"/>
              <a:gd name="csY6" fmla="*/ 0 h 4481565"/>
              <a:gd name="csX7" fmla="*/ 3976946 w 10496339"/>
              <a:gd name="csY7" fmla="*/ 0 h 4481565"/>
              <a:gd name="csX8" fmla="*/ 4770003 w 10496339"/>
              <a:gd name="csY8" fmla="*/ 0 h 4481565"/>
              <a:gd name="csX9" fmla="*/ 5038243 w 10496339"/>
              <a:gd name="csY9" fmla="*/ 0 h 4481565"/>
              <a:gd name="csX10" fmla="*/ 5726336 w 10496339"/>
              <a:gd name="csY10" fmla="*/ 0 h 4481565"/>
              <a:gd name="csX11" fmla="*/ 6519393 w 10496339"/>
              <a:gd name="csY11" fmla="*/ 0 h 4481565"/>
              <a:gd name="csX12" fmla="*/ 7312450 w 10496339"/>
              <a:gd name="csY12" fmla="*/ 0 h 4481565"/>
              <a:gd name="csX13" fmla="*/ 7895579 w 10496339"/>
              <a:gd name="csY13" fmla="*/ 0 h 4481565"/>
              <a:gd name="csX14" fmla="*/ 8163819 w 10496339"/>
              <a:gd name="csY14" fmla="*/ 0 h 4481565"/>
              <a:gd name="csX15" fmla="*/ 8956876 w 10496339"/>
              <a:gd name="csY15" fmla="*/ 0 h 4481565"/>
              <a:gd name="csX16" fmla="*/ 9435043 w 10496339"/>
              <a:gd name="csY16" fmla="*/ 0 h 4481565"/>
              <a:gd name="csX17" fmla="*/ 9808246 w 10496339"/>
              <a:gd name="csY17" fmla="*/ 0 h 4481565"/>
              <a:gd name="csX18" fmla="*/ 10496339 w 10496339"/>
              <a:gd name="csY18" fmla="*/ 0 h 4481565"/>
              <a:gd name="csX19" fmla="*/ 10496339 w 10496339"/>
              <a:gd name="csY19" fmla="*/ 470564 h 4481565"/>
              <a:gd name="csX20" fmla="*/ 10496339 w 10496339"/>
              <a:gd name="csY20" fmla="*/ 1120391 h 4481565"/>
              <a:gd name="csX21" fmla="*/ 10496339 w 10496339"/>
              <a:gd name="csY21" fmla="*/ 1635771 h 4481565"/>
              <a:gd name="csX22" fmla="*/ 10496339 w 10496339"/>
              <a:gd name="csY22" fmla="*/ 2240783 h 4481565"/>
              <a:gd name="csX23" fmla="*/ 10496339 w 10496339"/>
              <a:gd name="csY23" fmla="*/ 2890609 h 4481565"/>
              <a:gd name="csX24" fmla="*/ 10496339 w 10496339"/>
              <a:gd name="csY24" fmla="*/ 3316358 h 4481565"/>
              <a:gd name="csX25" fmla="*/ 10496339 w 10496339"/>
              <a:gd name="csY25" fmla="*/ 3786922 h 4481565"/>
              <a:gd name="csX26" fmla="*/ 10496339 w 10496339"/>
              <a:gd name="csY26" fmla="*/ 4481565 h 4481565"/>
              <a:gd name="csX27" fmla="*/ 9913209 w 10496339"/>
              <a:gd name="csY27" fmla="*/ 4481565 h 4481565"/>
              <a:gd name="csX28" fmla="*/ 9435043 w 10496339"/>
              <a:gd name="csY28" fmla="*/ 4481565 h 4481565"/>
              <a:gd name="csX29" fmla="*/ 8641986 w 10496339"/>
              <a:gd name="csY29" fmla="*/ 4481565 h 4481565"/>
              <a:gd name="csX30" fmla="*/ 8373746 w 10496339"/>
              <a:gd name="csY30" fmla="*/ 4481565 h 4481565"/>
              <a:gd name="csX31" fmla="*/ 7685653 w 10496339"/>
              <a:gd name="csY31" fmla="*/ 4481565 h 4481565"/>
              <a:gd name="csX32" fmla="*/ 6892596 w 10496339"/>
              <a:gd name="csY32" fmla="*/ 4481565 h 4481565"/>
              <a:gd name="csX33" fmla="*/ 6099539 w 10496339"/>
              <a:gd name="csY33" fmla="*/ 4481565 h 4481565"/>
              <a:gd name="csX34" fmla="*/ 5411446 w 10496339"/>
              <a:gd name="csY34" fmla="*/ 4481565 h 4481565"/>
              <a:gd name="csX35" fmla="*/ 4828316 w 10496339"/>
              <a:gd name="csY35" fmla="*/ 4481565 h 4481565"/>
              <a:gd name="csX36" fmla="*/ 4035259 w 10496339"/>
              <a:gd name="csY36" fmla="*/ 4481565 h 4481565"/>
              <a:gd name="csX37" fmla="*/ 3767019 w 10496339"/>
              <a:gd name="csY37" fmla="*/ 4481565 h 4481565"/>
              <a:gd name="csX38" fmla="*/ 3288853 w 10496339"/>
              <a:gd name="csY38" fmla="*/ 4481565 h 4481565"/>
              <a:gd name="csX39" fmla="*/ 2495796 w 10496339"/>
              <a:gd name="csY39" fmla="*/ 4481565 h 4481565"/>
              <a:gd name="csX40" fmla="*/ 2227556 w 10496339"/>
              <a:gd name="csY40" fmla="*/ 4481565 h 4481565"/>
              <a:gd name="csX41" fmla="*/ 1854353 w 10496339"/>
              <a:gd name="csY41" fmla="*/ 4481565 h 4481565"/>
              <a:gd name="csX42" fmla="*/ 1271223 w 10496339"/>
              <a:gd name="csY42" fmla="*/ 4481565 h 4481565"/>
              <a:gd name="csX43" fmla="*/ 688093 w 10496339"/>
              <a:gd name="csY43" fmla="*/ 4481565 h 4481565"/>
              <a:gd name="csX44" fmla="*/ 0 w 10496339"/>
              <a:gd name="csY44" fmla="*/ 4481565 h 4481565"/>
              <a:gd name="csX45" fmla="*/ 0 w 10496339"/>
              <a:gd name="csY45" fmla="*/ 4011001 h 4481565"/>
              <a:gd name="csX46" fmla="*/ 0 w 10496339"/>
              <a:gd name="csY46" fmla="*/ 3361174 h 4481565"/>
              <a:gd name="csX47" fmla="*/ 0 w 10496339"/>
              <a:gd name="csY47" fmla="*/ 2935425 h 4481565"/>
              <a:gd name="csX48" fmla="*/ 0 w 10496339"/>
              <a:gd name="csY48" fmla="*/ 2375229 h 4481565"/>
              <a:gd name="csX49" fmla="*/ 0 w 10496339"/>
              <a:gd name="csY49" fmla="*/ 1904665 h 4481565"/>
              <a:gd name="csX50" fmla="*/ 0 w 10496339"/>
              <a:gd name="csY50" fmla="*/ 1299654 h 4481565"/>
              <a:gd name="csX51" fmla="*/ 0 w 10496339"/>
              <a:gd name="csY51" fmla="*/ 694643 h 4481565"/>
              <a:gd name="csX52" fmla="*/ 0 w 10496339"/>
              <a:gd name="csY52" fmla="*/ 0 h 4481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Lst>
            <a:rect l="l" t="t" r="r" b="b"/>
            <a:pathLst>
              <a:path w="10496339" h="4481565" fill="none" extrusionOk="0">
                <a:moveTo>
                  <a:pt x="0" y="0"/>
                </a:moveTo>
                <a:cubicBezTo>
                  <a:pt x="132179" y="-25202"/>
                  <a:pt x="352259" y="38496"/>
                  <a:pt x="478167" y="0"/>
                </a:cubicBezTo>
                <a:cubicBezTo>
                  <a:pt x="604075" y="-38496"/>
                  <a:pt x="620762" y="12212"/>
                  <a:pt x="746406" y="0"/>
                </a:cubicBezTo>
                <a:cubicBezTo>
                  <a:pt x="872050" y="-12212"/>
                  <a:pt x="1057744" y="46811"/>
                  <a:pt x="1329536" y="0"/>
                </a:cubicBezTo>
                <a:cubicBezTo>
                  <a:pt x="1601328" y="-46811"/>
                  <a:pt x="1761015" y="9189"/>
                  <a:pt x="2122593" y="0"/>
                </a:cubicBezTo>
                <a:cubicBezTo>
                  <a:pt x="2484171" y="-9189"/>
                  <a:pt x="2601389" y="52214"/>
                  <a:pt x="2915650" y="0"/>
                </a:cubicBezTo>
                <a:cubicBezTo>
                  <a:pt x="3229911" y="-52214"/>
                  <a:pt x="3158221" y="11365"/>
                  <a:pt x="3288853" y="0"/>
                </a:cubicBezTo>
                <a:cubicBezTo>
                  <a:pt x="3419485" y="-11365"/>
                  <a:pt x="3710678" y="33473"/>
                  <a:pt x="3976946" y="0"/>
                </a:cubicBezTo>
                <a:cubicBezTo>
                  <a:pt x="4243214" y="-33473"/>
                  <a:pt x="4512234" y="29396"/>
                  <a:pt x="4770003" y="0"/>
                </a:cubicBezTo>
                <a:cubicBezTo>
                  <a:pt x="5027772" y="-29396"/>
                  <a:pt x="4982204" y="14199"/>
                  <a:pt x="5038243" y="0"/>
                </a:cubicBezTo>
                <a:cubicBezTo>
                  <a:pt x="5094282" y="-14199"/>
                  <a:pt x="5563077" y="40463"/>
                  <a:pt x="5726336" y="0"/>
                </a:cubicBezTo>
                <a:cubicBezTo>
                  <a:pt x="5889595" y="-40463"/>
                  <a:pt x="6206083" y="42866"/>
                  <a:pt x="6519393" y="0"/>
                </a:cubicBezTo>
                <a:cubicBezTo>
                  <a:pt x="6832703" y="-42866"/>
                  <a:pt x="7006309" y="70138"/>
                  <a:pt x="7312450" y="0"/>
                </a:cubicBezTo>
                <a:cubicBezTo>
                  <a:pt x="7618591" y="-70138"/>
                  <a:pt x="7628909" y="33165"/>
                  <a:pt x="7895579" y="0"/>
                </a:cubicBezTo>
                <a:cubicBezTo>
                  <a:pt x="8162249" y="-33165"/>
                  <a:pt x="8085681" y="18070"/>
                  <a:pt x="8163819" y="0"/>
                </a:cubicBezTo>
                <a:cubicBezTo>
                  <a:pt x="8241957" y="-18070"/>
                  <a:pt x="8630920" y="76262"/>
                  <a:pt x="8956876" y="0"/>
                </a:cubicBezTo>
                <a:cubicBezTo>
                  <a:pt x="9282832" y="-76262"/>
                  <a:pt x="9327979" y="38901"/>
                  <a:pt x="9435043" y="0"/>
                </a:cubicBezTo>
                <a:cubicBezTo>
                  <a:pt x="9542107" y="-38901"/>
                  <a:pt x="9639093" y="21758"/>
                  <a:pt x="9808246" y="0"/>
                </a:cubicBezTo>
                <a:cubicBezTo>
                  <a:pt x="9977399" y="-21758"/>
                  <a:pt x="10222408" y="76058"/>
                  <a:pt x="10496339" y="0"/>
                </a:cubicBezTo>
                <a:cubicBezTo>
                  <a:pt x="10535323" y="199636"/>
                  <a:pt x="10441704" y="359538"/>
                  <a:pt x="10496339" y="470564"/>
                </a:cubicBezTo>
                <a:cubicBezTo>
                  <a:pt x="10550974" y="581590"/>
                  <a:pt x="10424395" y="941434"/>
                  <a:pt x="10496339" y="1120391"/>
                </a:cubicBezTo>
                <a:cubicBezTo>
                  <a:pt x="10568283" y="1299348"/>
                  <a:pt x="10465401" y="1472531"/>
                  <a:pt x="10496339" y="1635771"/>
                </a:cubicBezTo>
                <a:cubicBezTo>
                  <a:pt x="10527277" y="1799011"/>
                  <a:pt x="10495328" y="1984544"/>
                  <a:pt x="10496339" y="2240783"/>
                </a:cubicBezTo>
                <a:cubicBezTo>
                  <a:pt x="10497350" y="2497022"/>
                  <a:pt x="10490193" y="2664239"/>
                  <a:pt x="10496339" y="2890609"/>
                </a:cubicBezTo>
                <a:cubicBezTo>
                  <a:pt x="10502485" y="3116979"/>
                  <a:pt x="10448245" y="3168190"/>
                  <a:pt x="10496339" y="3316358"/>
                </a:cubicBezTo>
                <a:cubicBezTo>
                  <a:pt x="10544433" y="3464526"/>
                  <a:pt x="10461707" y="3600783"/>
                  <a:pt x="10496339" y="3786922"/>
                </a:cubicBezTo>
                <a:cubicBezTo>
                  <a:pt x="10530971" y="3973061"/>
                  <a:pt x="10485366" y="4325485"/>
                  <a:pt x="10496339" y="4481565"/>
                </a:cubicBezTo>
                <a:cubicBezTo>
                  <a:pt x="10336193" y="4502576"/>
                  <a:pt x="10035719" y="4421449"/>
                  <a:pt x="9913209" y="4481565"/>
                </a:cubicBezTo>
                <a:cubicBezTo>
                  <a:pt x="9790699" y="4541681"/>
                  <a:pt x="9583866" y="4446741"/>
                  <a:pt x="9435043" y="4481565"/>
                </a:cubicBezTo>
                <a:cubicBezTo>
                  <a:pt x="9286220" y="4516389"/>
                  <a:pt x="8856790" y="4444209"/>
                  <a:pt x="8641986" y="4481565"/>
                </a:cubicBezTo>
                <a:cubicBezTo>
                  <a:pt x="8427182" y="4518921"/>
                  <a:pt x="8494631" y="4454096"/>
                  <a:pt x="8373746" y="4481565"/>
                </a:cubicBezTo>
                <a:cubicBezTo>
                  <a:pt x="8252861" y="4509034"/>
                  <a:pt x="7885558" y="4401987"/>
                  <a:pt x="7685653" y="4481565"/>
                </a:cubicBezTo>
                <a:cubicBezTo>
                  <a:pt x="7485748" y="4561143"/>
                  <a:pt x="7282826" y="4456712"/>
                  <a:pt x="6892596" y="4481565"/>
                </a:cubicBezTo>
                <a:cubicBezTo>
                  <a:pt x="6502366" y="4506418"/>
                  <a:pt x="6288170" y="4480396"/>
                  <a:pt x="6099539" y="4481565"/>
                </a:cubicBezTo>
                <a:cubicBezTo>
                  <a:pt x="5910908" y="4482734"/>
                  <a:pt x="5736550" y="4460810"/>
                  <a:pt x="5411446" y="4481565"/>
                </a:cubicBezTo>
                <a:cubicBezTo>
                  <a:pt x="5086342" y="4502320"/>
                  <a:pt x="4999320" y="4443514"/>
                  <a:pt x="4828316" y="4481565"/>
                </a:cubicBezTo>
                <a:cubicBezTo>
                  <a:pt x="4657312" y="4519616"/>
                  <a:pt x="4248272" y="4464261"/>
                  <a:pt x="4035259" y="4481565"/>
                </a:cubicBezTo>
                <a:cubicBezTo>
                  <a:pt x="3822246" y="4498869"/>
                  <a:pt x="3873881" y="4475294"/>
                  <a:pt x="3767019" y="4481565"/>
                </a:cubicBezTo>
                <a:cubicBezTo>
                  <a:pt x="3660157" y="4487836"/>
                  <a:pt x="3438752" y="4461245"/>
                  <a:pt x="3288853" y="4481565"/>
                </a:cubicBezTo>
                <a:cubicBezTo>
                  <a:pt x="3138954" y="4501885"/>
                  <a:pt x="2788868" y="4407706"/>
                  <a:pt x="2495796" y="4481565"/>
                </a:cubicBezTo>
                <a:cubicBezTo>
                  <a:pt x="2202724" y="4555424"/>
                  <a:pt x="2314377" y="4450138"/>
                  <a:pt x="2227556" y="4481565"/>
                </a:cubicBezTo>
                <a:cubicBezTo>
                  <a:pt x="2140735" y="4512992"/>
                  <a:pt x="1976427" y="4464742"/>
                  <a:pt x="1854353" y="4481565"/>
                </a:cubicBezTo>
                <a:cubicBezTo>
                  <a:pt x="1732279" y="4498388"/>
                  <a:pt x="1536561" y="4420937"/>
                  <a:pt x="1271223" y="4481565"/>
                </a:cubicBezTo>
                <a:cubicBezTo>
                  <a:pt x="1005885" y="4542193"/>
                  <a:pt x="826606" y="4420390"/>
                  <a:pt x="688093" y="4481565"/>
                </a:cubicBezTo>
                <a:cubicBezTo>
                  <a:pt x="549580" y="4542740"/>
                  <a:pt x="259619" y="4444465"/>
                  <a:pt x="0" y="4481565"/>
                </a:cubicBezTo>
                <a:cubicBezTo>
                  <a:pt x="-47691" y="4371317"/>
                  <a:pt x="56240" y="4140182"/>
                  <a:pt x="0" y="4011001"/>
                </a:cubicBezTo>
                <a:cubicBezTo>
                  <a:pt x="-56240" y="3881820"/>
                  <a:pt x="65791" y="3548080"/>
                  <a:pt x="0" y="3361174"/>
                </a:cubicBezTo>
                <a:cubicBezTo>
                  <a:pt x="-65791" y="3174268"/>
                  <a:pt x="47549" y="3095295"/>
                  <a:pt x="0" y="2935425"/>
                </a:cubicBezTo>
                <a:cubicBezTo>
                  <a:pt x="-47549" y="2775555"/>
                  <a:pt x="22639" y="2565984"/>
                  <a:pt x="0" y="2375229"/>
                </a:cubicBezTo>
                <a:cubicBezTo>
                  <a:pt x="-22639" y="2184474"/>
                  <a:pt x="43619" y="2006612"/>
                  <a:pt x="0" y="1904665"/>
                </a:cubicBezTo>
                <a:cubicBezTo>
                  <a:pt x="-43619" y="1802718"/>
                  <a:pt x="61272" y="1464831"/>
                  <a:pt x="0" y="1299654"/>
                </a:cubicBezTo>
                <a:cubicBezTo>
                  <a:pt x="-61272" y="1134477"/>
                  <a:pt x="48065" y="968286"/>
                  <a:pt x="0" y="694643"/>
                </a:cubicBezTo>
                <a:cubicBezTo>
                  <a:pt x="-48065" y="421000"/>
                  <a:pt x="55723" y="246066"/>
                  <a:pt x="0" y="0"/>
                </a:cubicBezTo>
                <a:close/>
              </a:path>
              <a:path w="10496339" h="4481565" stroke="0" extrusionOk="0">
                <a:moveTo>
                  <a:pt x="0" y="0"/>
                </a:moveTo>
                <a:cubicBezTo>
                  <a:pt x="116548" y="-5746"/>
                  <a:pt x="186760" y="29795"/>
                  <a:pt x="268240" y="0"/>
                </a:cubicBezTo>
                <a:cubicBezTo>
                  <a:pt x="349720" y="-29795"/>
                  <a:pt x="614750" y="12828"/>
                  <a:pt x="746406" y="0"/>
                </a:cubicBezTo>
                <a:cubicBezTo>
                  <a:pt x="878062" y="-12828"/>
                  <a:pt x="940145" y="18528"/>
                  <a:pt x="1014646" y="0"/>
                </a:cubicBezTo>
                <a:cubicBezTo>
                  <a:pt x="1089147" y="-18528"/>
                  <a:pt x="1508323" y="82845"/>
                  <a:pt x="1807703" y="0"/>
                </a:cubicBezTo>
                <a:cubicBezTo>
                  <a:pt x="2107083" y="-82845"/>
                  <a:pt x="2159019" y="47264"/>
                  <a:pt x="2285869" y="0"/>
                </a:cubicBezTo>
                <a:cubicBezTo>
                  <a:pt x="2412719" y="-47264"/>
                  <a:pt x="2494110" y="7453"/>
                  <a:pt x="2554109" y="0"/>
                </a:cubicBezTo>
                <a:cubicBezTo>
                  <a:pt x="2614108" y="-7453"/>
                  <a:pt x="2695996" y="324"/>
                  <a:pt x="2822349" y="0"/>
                </a:cubicBezTo>
                <a:cubicBezTo>
                  <a:pt x="2948702" y="-324"/>
                  <a:pt x="3361115" y="44223"/>
                  <a:pt x="3615406" y="0"/>
                </a:cubicBezTo>
                <a:cubicBezTo>
                  <a:pt x="3869697" y="-44223"/>
                  <a:pt x="3982151" y="36123"/>
                  <a:pt x="4198536" y="0"/>
                </a:cubicBezTo>
                <a:cubicBezTo>
                  <a:pt x="4414921" y="-36123"/>
                  <a:pt x="4476351" y="6357"/>
                  <a:pt x="4571739" y="0"/>
                </a:cubicBezTo>
                <a:cubicBezTo>
                  <a:pt x="4667127" y="-6357"/>
                  <a:pt x="5136350" y="35868"/>
                  <a:pt x="5364795" y="0"/>
                </a:cubicBezTo>
                <a:cubicBezTo>
                  <a:pt x="5593240" y="-35868"/>
                  <a:pt x="5783218" y="12866"/>
                  <a:pt x="5947925" y="0"/>
                </a:cubicBezTo>
                <a:cubicBezTo>
                  <a:pt x="6112632" y="-12866"/>
                  <a:pt x="6291459" y="27175"/>
                  <a:pt x="6531055" y="0"/>
                </a:cubicBezTo>
                <a:cubicBezTo>
                  <a:pt x="6770651" y="-27175"/>
                  <a:pt x="6977216" y="56563"/>
                  <a:pt x="7324112" y="0"/>
                </a:cubicBezTo>
                <a:cubicBezTo>
                  <a:pt x="7671008" y="-56563"/>
                  <a:pt x="7498194" y="11840"/>
                  <a:pt x="7592352" y="0"/>
                </a:cubicBezTo>
                <a:cubicBezTo>
                  <a:pt x="7686510" y="-11840"/>
                  <a:pt x="8035412" y="16984"/>
                  <a:pt x="8175482" y="0"/>
                </a:cubicBezTo>
                <a:cubicBezTo>
                  <a:pt x="8315552" y="-16984"/>
                  <a:pt x="8472022" y="23558"/>
                  <a:pt x="8548685" y="0"/>
                </a:cubicBezTo>
                <a:cubicBezTo>
                  <a:pt x="8625348" y="-23558"/>
                  <a:pt x="8907894" y="30991"/>
                  <a:pt x="9026852" y="0"/>
                </a:cubicBezTo>
                <a:cubicBezTo>
                  <a:pt x="9145810" y="-30991"/>
                  <a:pt x="9375450" y="4315"/>
                  <a:pt x="9505018" y="0"/>
                </a:cubicBezTo>
                <a:cubicBezTo>
                  <a:pt x="9634586" y="-4315"/>
                  <a:pt x="9758327" y="12689"/>
                  <a:pt x="9878221" y="0"/>
                </a:cubicBezTo>
                <a:cubicBezTo>
                  <a:pt x="9998115" y="-12689"/>
                  <a:pt x="10275102" y="7310"/>
                  <a:pt x="10496339" y="0"/>
                </a:cubicBezTo>
                <a:cubicBezTo>
                  <a:pt x="10500770" y="203087"/>
                  <a:pt x="10472537" y="278822"/>
                  <a:pt x="10496339" y="425749"/>
                </a:cubicBezTo>
                <a:cubicBezTo>
                  <a:pt x="10520141" y="572676"/>
                  <a:pt x="10455406" y="762832"/>
                  <a:pt x="10496339" y="1075576"/>
                </a:cubicBezTo>
                <a:cubicBezTo>
                  <a:pt x="10537272" y="1388320"/>
                  <a:pt x="10472645" y="1306247"/>
                  <a:pt x="10496339" y="1501324"/>
                </a:cubicBezTo>
                <a:cubicBezTo>
                  <a:pt x="10520033" y="1696401"/>
                  <a:pt x="10493685" y="1863888"/>
                  <a:pt x="10496339" y="2151151"/>
                </a:cubicBezTo>
                <a:cubicBezTo>
                  <a:pt x="10498993" y="2438414"/>
                  <a:pt x="10493222" y="2575282"/>
                  <a:pt x="10496339" y="2756162"/>
                </a:cubicBezTo>
                <a:cubicBezTo>
                  <a:pt x="10499456" y="2937042"/>
                  <a:pt x="10476192" y="3112630"/>
                  <a:pt x="10496339" y="3405989"/>
                </a:cubicBezTo>
                <a:cubicBezTo>
                  <a:pt x="10516486" y="3699348"/>
                  <a:pt x="10462918" y="3793229"/>
                  <a:pt x="10496339" y="3966185"/>
                </a:cubicBezTo>
                <a:cubicBezTo>
                  <a:pt x="10529760" y="4139141"/>
                  <a:pt x="10466070" y="4275765"/>
                  <a:pt x="10496339" y="4481565"/>
                </a:cubicBezTo>
                <a:cubicBezTo>
                  <a:pt x="10305806" y="4561531"/>
                  <a:pt x="10126625" y="4449431"/>
                  <a:pt x="9808246" y="4481565"/>
                </a:cubicBezTo>
                <a:cubicBezTo>
                  <a:pt x="9489867" y="4513699"/>
                  <a:pt x="9432544" y="4467492"/>
                  <a:pt x="9330079" y="4481565"/>
                </a:cubicBezTo>
                <a:cubicBezTo>
                  <a:pt x="9227614" y="4495638"/>
                  <a:pt x="9126993" y="4453216"/>
                  <a:pt x="9061839" y="4481565"/>
                </a:cubicBezTo>
                <a:cubicBezTo>
                  <a:pt x="8996685" y="4509914"/>
                  <a:pt x="8864345" y="4460403"/>
                  <a:pt x="8793600" y="4481565"/>
                </a:cubicBezTo>
                <a:cubicBezTo>
                  <a:pt x="8722855" y="4502727"/>
                  <a:pt x="8322480" y="4417797"/>
                  <a:pt x="8105506" y="4481565"/>
                </a:cubicBezTo>
                <a:cubicBezTo>
                  <a:pt x="7888532" y="4545333"/>
                  <a:pt x="7568719" y="4445080"/>
                  <a:pt x="7417413" y="4481565"/>
                </a:cubicBezTo>
                <a:cubicBezTo>
                  <a:pt x="7266107" y="4518050"/>
                  <a:pt x="7101988" y="4443138"/>
                  <a:pt x="6834283" y="4481565"/>
                </a:cubicBezTo>
                <a:cubicBezTo>
                  <a:pt x="6566578" y="4519992"/>
                  <a:pt x="6622442" y="4458282"/>
                  <a:pt x="6566043" y="4481565"/>
                </a:cubicBezTo>
                <a:cubicBezTo>
                  <a:pt x="6509644" y="4504848"/>
                  <a:pt x="6294014" y="4452274"/>
                  <a:pt x="6192840" y="4481565"/>
                </a:cubicBezTo>
                <a:cubicBezTo>
                  <a:pt x="6091666" y="4510856"/>
                  <a:pt x="5780980" y="4408574"/>
                  <a:pt x="5399783" y="4481565"/>
                </a:cubicBezTo>
                <a:cubicBezTo>
                  <a:pt x="5018586" y="4554556"/>
                  <a:pt x="5131427" y="4462097"/>
                  <a:pt x="5026580" y="4481565"/>
                </a:cubicBezTo>
                <a:cubicBezTo>
                  <a:pt x="4921733" y="4501033"/>
                  <a:pt x="4460229" y="4430085"/>
                  <a:pt x="4233523" y="4481565"/>
                </a:cubicBezTo>
                <a:cubicBezTo>
                  <a:pt x="4006817" y="4533045"/>
                  <a:pt x="4055137" y="4465178"/>
                  <a:pt x="3965284" y="4481565"/>
                </a:cubicBezTo>
                <a:cubicBezTo>
                  <a:pt x="3875431" y="4497952"/>
                  <a:pt x="3448414" y="4452428"/>
                  <a:pt x="3277190" y="4481565"/>
                </a:cubicBezTo>
                <a:cubicBezTo>
                  <a:pt x="3105966" y="4510702"/>
                  <a:pt x="2823258" y="4394620"/>
                  <a:pt x="2484134" y="4481565"/>
                </a:cubicBezTo>
                <a:cubicBezTo>
                  <a:pt x="2145010" y="4568510"/>
                  <a:pt x="2290502" y="4468217"/>
                  <a:pt x="2215894" y="4481565"/>
                </a:cubicBezTo>
                <a:cubicBezTo>
                  <a:pt x="2141286" y="4494913"/>
                  <a:pt x="1918885" y="4440564"/>
                  <a:pt x="1632764" y="4481565"/>
                </a:cubicBezTo>
                <a:cubicBezTo>
                  <a:pt x="1346643" y="4522566"/>
                  <a:pt x="1263249" y="4465318"/>
                  <a:pt x="1049634" y="4481565"/>
                </a:cubicBezTo>
                <a:cubicBezTo>
                  <a:pt x="836019" y="4497812"/>
                  <a:pt x="888773" y="4455413"/>
                  <a:pt x="781394" y="4481565"/>
                </a:cubicBezTo>
                <a:cubicBezTo>
                  <a:pt x="674015" y="4507717"/>
                  <a:pt x="297178" y="4398749"/>
                  <a:pt x="0" y="4481565"/>
                </a:cubicBezTo>
                <a:cubicBezTo>
                  <a:pt x="-47823" y="4374298"/>
                  <a:pt x="50680" y="4154270"/>
                  <a:pt x="0" y="4011001"/>
                </a:cubicBezTo>
                <a:cubicBezTo>
                  <a:pt x="-50680" y="3867732"/>
                  <a:pt x="24210" y="3675637"/>
                  <a:pt x="0" y="3540436"/>
                </a:cubicBezTo>
                <a:cubicBezTo>
                  <a:pt x="-24210" y="3405235"/>
                  <a:pt x="1148" y="3177968"/>
                  <a:pt x="0" y="2980241"/>
                </a:cubicBezTo>
                <a:cubicBezTo>
                  <a:pt x="-1148" y="2782515"/>
                  <a:pt x="59206" y="2674523"/>
                  <a:pt x="0" y="2375229"/>
                </a:cubicBezTo>
                <a:cubicBezTo>
                  <a:pt x="-59206" y="2075935"/>
                  <a:pt x="13763" y="2148271"/>
                  <a:pt x="0" y="1949481"/>
                </a:cubicBezTo>
                <a:cubicBezTo>
                  <a:pt x="-13763" y="1750691"/>
                  <a:pt x="60221" y="1650552"/>
                  <a:pt x="0" y="1434101"/>
                </a:cubicBezTo>
                <a:cubicBezTo>
                  <a:pt x="-60221" y="1217650"/>
                  <a:pt x="1267" y="1200152"/>
                  <a:pt x="0" y="1008352"/>
                </a:cubicBezTo>
                <a:cubicBezTo>
                  <a:pt x="-1267" y="816552"/>
                  <a:pt x="45221" y="730812"/>
                  <a:pt x="0" y="537788"/>
                </a:cubicBezTo>
                <a:cubicBezTo>
                  <a:pt x="-45221" y="344764"/>
                  <a:pt x="13607" y="192928"/>
                  <a:pt x="0" y="0"/>
                </a:cubicBezTo>
                <a:close/>
              </a:path>
            </a:pathLst>
          </a:custGeom>
          <a:solidFill>
            <a:schemeClr val="bg1"/>
          </a:solidFill>
          <a:ln>
            <a:noFill/>
            <a:extLst>
              <a:ext uri="{C807C97D-BFC1-408E-A445-0C87EB9F89A2}">
                <ask:lineSketchStyleProps xmlns:ask="http://schemas.microsoft.com/office/drawing/2018/sketchyshapes" sd="2606297529">
                  <a:prstGeom prst="rect">
                    <a:avLst/>
                  </a:prstGeom>
                  <ask:type>
                    <ask:lineSketchScribble/>
                  </ask:type>
                </ask:lineSketchStyleProps>
              </a:ext>
            </a:extLs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r"/>
            <a:endParaRPr lang="en-IN">
              <a:ln w="0"/>
              <a:solidFill>
                <a:schemeClr val="tx1"/>
              </a:solidFill>
              <a:effectLst>
                <a:outerShdw blurRad="38100" dist="19050" dir="2700000" algn="tl" rotWithShape="0">
                  <a:schemeClr val="dk1">
                    <a:alpha val="40000"/>
                  </a:schemeClr>
                </a:outerShdw>
              </a:effectLst>
            </a:endParaRPr>
          </a:p>
        </p:txBody>
      </p:sp>
      <p:sp>
        <p:nvSpPr>
          <p:cNvPr id="3" name="Content Placeholder 2"/>
          <p:cNvSpPr>
            <a:spLocks noGrp="1"/>
          </p:cNvSpPr>
          <p:nvPr>
            <p:ph idx="1"/>
          </p:nvPr>
        </p:nvSpPr>
        <p:spPr>
          <a:xfrm>
            <a:off x="130287" y="996174"/>
            <a:ext cx="11568283" cy="6662061"/>
          </a:xfrm>
          <a:ln>
            <a:solidFill>
              <a:schemeClr val="bg1"/>
            </a:solidFill>
          </a:ln>
          <a:effectLst>
            <a:outerShdw blurRad="152400" dist="317500" dir="5400000" sx="90000" sy="-19000" rotWithShape="0">
              <a:prstClr val="black">
                <a:alpha val="15000"/>
              </a:prstClr>
            </a:outerShdw>
          </a:effectLst>
        </p:spPr>
        <p:txBody>
          <a:bodyPr vert="horz" lIns="91440" tIns="45720" rIns="91440" bIns="45720" rtlCol="0" anchor="t">
            <a:normAutofit/>
          </a:bodyPr>
          <a:lstStyle/>
          <a:p>
            <a:pPr marL="0" indent="0" algn="just">
              <a:lnSpc>
                <a:spcPct val="100000"/>
              </a:lnSpc>
              <a:buNone/>
            </a:pPr>
            <a:r>
              <a:rPr lang="en-US" sz="3200" b="1" dirty="0"/>
              <a:t>🔹Overview of the Project</a:t>
            </a:r>
          </a:p>
          <a:p>
            <a:pPr marL="0" indent="0" algn="just">
              <a:buNone/>
            </a:pPr>
            <a:r>
              <a:rPr lang="en-US" sz="2000" dirty="0"/>
              <a:t>The project focuses on developing a Real-Time Facial Emotion Recognition System using Deep Learning techniques. It captures live video through a webcam, detects human faces, and classifies emotions such as angry, disgust, fear, happy, neutral, sad, and surprise using a Convolutional Neural Network (CNN). Additionally, the system is designed to continuously capture and store emotional data throughout the day for further analysis.</a:t>
            </a:r>
          </a:p>
          <a:p>
            <a:pPr marL="0" indent="0" algn="just">
              <a:buNone/>
            </a:pPr>
            <a:r>
              <a:rPr lang="en-US" sz="3200" b="1" dirty="0"/>
              <a:t>🔹Motivation / Background</a:t>
            </a:r>
          </a:p>
          <a:p>
            <a:pPr marL="0" indent="0" algn="just">
              <a:buNone/>
            </a:pPr>
            <a:r>
              <a:rPr lang="en-US" sz="2000" dirty="0"/>
              <a:t>Understanding human emotions plays a crucial role in improving communication, learning environments, and mental well-being. In settings like classrooms or workplaces, it is difficult for teachers or supervisors to manually monitor the emotional state of individuals in real time. This creates a need for an automated, intelligent system that can accurately analyze and track emotions without human intervention.</a:t>
            </a:r>
          </a:p>
          <a:p>
            <a:pPr marL="0" indent="0" algn="just">
              <a:buNone/>
            </a:pPr>
            <a:r>
              <a:rPr lang="en-US" sz="3200" b="1" dirty="0"/>
              <a:t>🔹 Problem Statement</a:t>
            </a:r>
          </a:p>
          <a:p>
            <a:pPr marL="0" indent="0" algn="just">
              <a:buNone/>
            </a:pPr>
            <a:r>
              <a:rPr lang="en-US" sz="2000" dirty="0"/>
              <a:t>Manual detection and interpretation of facial emotions in real-time scenarios is challenging, time-consuming, and often inaccurate. There is a need for a system that can not only detect emotions in real time but also continuously monitor, capture, and store emotional patterns throughout the day to help in tracking mental health, engagement levels, and behavioral trends.</a:t>
            </a:r>
            <a:r>
              <a:rPr lang="en-US" sz="2400" dirty="0"/>
              <a:t> </a:t>
            </a:r>
            <a:endParaRPr lang="en-IN" sz="2000" dirty="0"/>
          </a:p>
        </p:txBody>
      </p:sp>
      <p:pic>
        <p:nvPicPr>
          <p:cNvPr id="4" name="Picture 2" descr="Sister Nivedita University | Best Private College in Indi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2430" y="173038"/>
            <a:ext cx="2386815" cy="7340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3A44C26-A72D-247C-25C9-ABF6018CB574}"/>
              </a:ext>
            </a:extLst>
          </p:cNvPr>
          <p:cNvSpPr/>
          <p:nvPr/>
        </p:nvSpPr>
        <p:spPr>
          <a:xfrm>
            <a:off x="629920" y="2420102"/>
            <a:ext cx="11013440" cy="4225517"/>
          </a:xfrm>
          <a:prstGeom prst="rect">
            <a:avLst/>
          </a:prstGeom>
          <a:solidFill>
            <a:schemeClr val="bg1">
              <a:lumMod val="95000"/>
            </a:schemeClr>
          </a:solidFill>
          <a:ln>
            <a:solidFill>
              <a:schemeClr val="tx1"/>
            </a:solidFill>
          </a:ln>
          <a:effectLst>
            <a:glow rad="228600">
              <a:schemeClr val="accent3">
                <a:satMod val="175000"/>
                <a:alpha val="40000"/>
              </a:schemeClr>
            </a:glow>
          </a:effectLst>
          <a:scene3d>
            <a:camera prst="orthographicFront"/>
            <a:lightRig rig="threePt" dir="t"/>
          </a:scene3d>
          <a:sp3d>
            <a:bevelT w="152400" h="50800" prst="softRound"/>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548640" y="-96177"/>
            <a:ext cx="7717779" cy="1002637"/>
          </a:xfrm>
          <a:ln>
            <a:noFill/>
          </a:ln>
        </p:spPr>
        <p:txBody>
          <a:bodyPr>
            <a:normAutofit/>
          </a:bodyPr>
          <a:lstStyle/>
          <a:p>
            <a:r>
              <a:rPr sz="3200" dirty="0">
                <a:latin typeface="Arial"/>
                <a:cs typeface="Arial"/>
                <a:sym typeface="+mn-ea"/>
              </a:rPr>
              <a:t>P</a:t>
            </a:r>
            <a:r>
              <a:rPr lang="en-IN" sz="3200" dirty="0">
                <a:latin typeface="Arial"/>
                <a:cs typeface="Arial"/>
                <a:sym typeface="+mn-ea"/>
              </a:rPr>
              <a:t>ROBLEM  IDENTIFICATION </a:t>
            </a:r>
            <a:endParaRPr lang="en-IN" sz="3200" dirty="0">
              <a:latin typeface="Arial"/>
              <a:cs typeface="Arial"/>
            </a:endParaRPr>
          </a:p>
        </p:txBody>
      </p:sp>
      <p:sp>
        <p:nvSpPr>
          <p:cNvPr id="3" name="Content Placeholder 2"/>
          <p:cNvSpPr>
            <a:spLocks noGrp="1"/>
          </p:cNvSpPr>
          <p:nvPr>
            <p:ph type="body" sz="half" idx="2"/>
          </p:nvPr>
        </p:nvSpPr>
        <p:spPr>
          <a:xfrm>
            <a:off x="548639" y="969559"/>
            <a:ext cx="11268835" cy="1387444"/>
          </a:xfrm>
          <a:ln>
            <a:noFill/>
            <a:extLst>
              <a:ext uri="{C807C97D-BFC1-408E-A445-0C87EB9F89A2}">
                <ask:lineSketchStyleProps xmlns:ask="http://schemas.microsoft.com/office/drawing/2018/sketchyshapes">
                  <ask:type>
                    <ask:lineSketchNone/>
                  </ask:type>
                </ask:lineSketchStyleProps>
              </a:ext>
            </a:extLst>
          </a:ln>
          <a:effectLst/>
        </p:spPr>
        <p:txBody>
          <a:bodyPr vert="horz" lIns="91440" tIns="45720" rIns="91440" bIns="45720" rtlCol="0" anchor="t">
            <a:noAutofit/>
          </a:bodyPr>
          <a:lstStyle/>
          <a:p>
            <a:pPr algn="just"/>
            <a:r>
              <a:rPr lang="en-US" sz="2000" dirty="0"/>
              <a:t>The problem mainly lies in the difficulty of detecting and interpreting human emotions manually in real-time scenarios. Existing methods are time-consuming, less accurate, and lack automation. Moreover, current systems do not continuously capture, monitor, or store emotional data throughout the day, making it difficult to track mental health patterns and emotional trends effectively.</a:t>
            </a:r>
            <a:endParaRPr lang="en-US" sz="2000" dirty="0">
              <a:highlight>
                <a:srgbClr val="FFFFFF"/>
              </a:highlight>
            </a:endParaRPr>
          </a:p>
        </p:txBody>
      </p:sp>
      <p:pic>
        <p:nvPicPr>
          <p:cNvPr id="4"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3232" y="212381"/>
            <a:ext cx="2474243" cy="694079"/>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Rounded Corners 16">
            <a:extLst>
              <a:ext uri="{FF2B5EF4-FFF2-40B4-BE49-F238E27FC236}">
                <a16:creationId xmlns:a16="http://schemas.microsoft.com/office/drawing/2014/main" id="{A37084CA-5AF4-FCC5-45B9-3699E6D4509A}"/>
              </a:ext>
            </a:extLst>
          </p:cNvPr>
          <p:cNvSpPr/>
          <p:nvPr/>
        </p:nvSpPr>
        <p:spPr>
          <a:xfrm>
            <a:off x="7232037" y="2660741"/>
            <a:ext cx="4122230" cy="1339286"/>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Absence of Emotional Trend Analysis</a:t>
            </a:r>
            <a:br>
              <a:rPr lang="en-US" dirty="0">
                <a:solidFill>
                  <a:schemeClr val="tx1"/>
                </a:solidFill>
              </a:rPr>
            </a:br>
            <a:r>
              <a:rPr lang="en-US" dirty="0">
                <a:solidFill>
                  <a:schemeClr val="tx1"/>
                </a:solidFill>
              </a:rPr>
              <a:t>No proper mechanism to analyze stored emotional data for identifying patterns and mental state</a:t>
            </a:r>
            <a:endParaRPr lang="en-IN" b="1" dirty="0">
              <a:solidFill>
                <a:schemeClr val="tx1"/>
              </a:solidFill>
            </a:endParaRPr>
          </a:p>
        </p:txBody>
      </p:sp>
      <p:sp>
        <p:nvSpPr>
          <p:cNvPr id="18" name="Rectangle: Rounded Corners 17">
            <a:extLst>
              <a:ext uri="{FF2B5EF4-FFF2-40B4-BE49-F238E27FC236}">
                <a16:creationId xmlns:a16="http://schemas.microsoft.com/office/drawing/2014/main" id="{BE9B036E-E7EC-C20C-C26F-667F0461F4CF}"/>
              </a:ext>
            </a:extLst>
          </p:cNvPr>
          <p:cNvSpPr/>
          <p:nvPr/>
        </p:nvSpPr>
        <p:spPr>
          <a:xfrm>
            <a:off x="869231" y="2660741"/>
            <a:ext cx="4122230" cy="1339286"/>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Difficulty in Manual Emotion Detection</a:t>
            </a:r>
            <a:br>
              <a:rPr lang="en-US" dirty="0">
                <a:solidFill>
                  <a:schemeClr val="tx1"/>
                </a:solidFill>
              </a:rPr>
            </a:br>
            <a:r>
              <a:rPr lang="en-US" dirty="0">
                <a:solidFill>
                  <a:schemeClr val="tx1"/>
                </a:solidFill>
              </a:rPr>
              <a:t>Real-time detection and interpretation of facial emotions is complex, time-consuming, and error-prone</a:t>
            </a:r>
          </a:p>
        </p:txBody>
      </p:sp>
      <p:sp>
        <p:nvSpPr>
          <p:cNvPr id="22" name="Rectangle: Rounded Corners 21">
            <a:extLst>
              <a:ext uri="{FF2B5EF4-FFF2-40B4-BE49-F238E27FC236}">
                <a16:creationId xmlns:a16="http://schemas.microsoft.com/office/drawing/2014/main" id="{0BA661F2-B347-79C2-D879-53028F18DF35}"/>
              </a:ext>
            </a:extLst>
          </p:cNvPr>
          <p:cNvSpPr/>
          <p:nvPr/>
        </p:nvSpPr>
        <p:spPr>
          <a:xfrm>
            <a:off x="7186729" y="5118129"/>
            <a:ext cx="4122230" cy="1350665"/>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High Dependency on Complex Systems</a:t>
            </a:r>
            <a:br>
              <a:rPr lang="en-US" dirty="0">
                <a:solidFill>
                  <a:schemeClr val="tx1"/>
                </a:solidFill>
              </a:rPr>
            </a:br>
            <a:r>
              <a:rPr lang="en-US" dirty="0">
                <a:solidFill>
                  <a:schemeClr val="tx1"/>
                </a:solidFill>
              </a:rPr>
              <a:t>Many models require heavy infrastructure, making real-time local deployment difficult</a:t>
            </a:r>
          </a:p>
        </p:txBody>
      </p:sp>
      <p:sp>
        <p:nvSpPr>
          <p:cNvPr id="24" name="Rectangle: Rounded Corners 23">
            <a:extLst>
              <a:ext uri="{FF2B5EF4-FFF2-40B4-BE49-F238E27FC236}">
                <a16:creationId xmlns:a16="http://schemas.microsoft.com/office/drawing/2014/main" id="{BD4C130A-80BE-F1D1-7CB4-D2C3260510C3}"/>
              </a:ext>
            </a:extLst>
          </p:cNvPr>
          <p:cNvSpPr/>
          <p:nvPr/>
        </p:nvSpPr>
        <p:spPr>
          <a:xfrm>
            <a:off x="3401526" y="4275854"/>
            <a:ext cx="5388947" cy="566448"/>
          </a:xfrm>
          <a:prstGeom prst="roundRect">
            <a:avLst/>
          </a:prstGeom>
          <a:solidFill>
            <a:srgbClr val="00B0F0"/>
          </a:solidFill>
          <a:ln>
            <a:solidFill>
              <a:schemeClr val="tx1"/>
            </a:solidFill>
          </a:ln>
          <a:effectLst>
            <a:innerShdw blurRad="114300">
              <a:prstClr val="black"/>
            </a:innerShdw>
          </a:effectLst>
          <a:scene3d>
            <a:camera prst="orthographicFront"/>
            <a:lightRig rig="threePt" dir="t"/>
          </a:scene3d>
          <a:sp3d>
            <a:bevelT w="152400" h="50800" prst="softRoun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800" b="1" dirty="0">
                <a:solidFill>
                  <a:schemeClr val="tx1"/>
                </a:solidFill>
              </a:rPr>
              <a:t>PROBLEM STATEMENT</a:t>
            </a:r>
          </a:p>
        </p:txBody>
      </p:sp>
      <p:cxnSp>
        <p:nvCxnSpPr>
          <p:cNvPr id="33" name="Straight Arrow Connector 32">
            <a:extLst>
              <a:ext uri="{FF2B5EF4-FFF2-40B4-BE49-F238E27FC236}">
                <a16:creationId xmlns:a16="http://schemas.microsoft.com/office/drawing/2014/main" id="{37E04BFF-82E4-F401-8326-F2F455E6E781}"/>
              </a:ext>
            </a:extLst>
          </p:cNvPr>
          <p:cNvCxnSpPr>
            <a:cxnSpLocks/>
            <a:stCxn id="18" idx="2"/>
          </p:cNvCxnSpPr>
          <p:nvPr/>
        </p:nvCxnSpPr>
        <p:spPr>
          <a:xfrm>
            <a:off x="2930346" y="4000027"/>
            <a:ext cx="580864" cy="271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9EC303D-F0F8-091F-31E9-E132D4B2AA0C}"/>
              </a:ext>
            </a:extLst>
          </p:cNvPr>
          <p:cNvCxnSpPr>
            <a:cxnSpLocks/>
            <a:stCxn id="17" idx="2"/>
          </p:cNvCxnSpPr>
          <p:nvPr/>
        </p:nvCxnSpPr>
        <p:spPr>
          <a:xfrm flipH="1">
            <a:off x="8191176" y="4000027"/>
            <a:ext cx="1101976" cy="2625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1A723235-26F8-9305-13E7-04236695C827}"/>
              </a:ext>
            </a:extLst>
          </p:cNvPr>
          <p:cNvCxnSpPr>
            <a:cxnSpLocks/>
            <a:stCxn id="31" idx="0"/>
          </p:cNvCxnSpPr>
          <p:nvPr/>
        </p:nvCxnSpPr>
        <p:spPr>
          <a:xfrm flipV="1">
            <a:off x="2944156" y="4853987"/>
            <a:ext cx="567054" cy="264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4F75E581-12C2-608B-41CA-31C40FBFF4DB}"/>
              </a:ext>
            </a:extLst>
          </p:cNvPr>
          <p:cNvCxnSpPr>
            <a:cxnSpLocks/>
            <a:stCxn id="22" idx="0"/>
          </p:cNvCxnSpPr>
          <p:nvPr/>
        </p:nvCxnSpPr>
        <p:spPr>
          <a:xfrm flipH="1" flipV="1">
            <a:off x="8266419" y="4840689"/>
            <a:ext cx="981425" cy="277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Rectangle: Rounded Corners 30">
            <a:extLst>
              <a:ext uri="{FF2B5EF4-FFF2-40B4-BE49-F238E27FC236}">
                <a16:creationId xmlns:a16="http://schemas.microsoft.com/office/drawing/2014/main" id="{9598A7CC-0725-9DFB-2FAD-8EBDA63FB526}"/>
              </a:ext>
            </a:extLst>
          </p:cNvPr>
          <p:cNvSpPr/>
          <p:nvPr/>
        </p:nvSpPr>
        <p:spPr>
          <a:xfrm>
            <a:off x="883041" y="5118129"/>
            <a:ext cx="4122230" cy="1405481"/>
          </a:xfrm>
          <a:prstGeom prst="roundRect">
            <a:avLst/>
          </a:prstGeom>
          <a:gradFill flip="none" rotWithShape="1">
            <a:gsLst>
              <a:gs pos="0">
                <a:srgbClr val="FFC000">
                  <a:tint val="66000"/>
                  <a:satMod val="160000"/>
                </a:srgbClr>
              </a:gs>
              <a:gs pos="50000">
                <a:srgbClr val="FFC000">
                  <a:tint val="44500"/>
                  <a:satMod val="160000"/>
                </a:srgbClr>
              </a:gs>
              <a:gs pos="100000">
                <a:srgbClr val="FFC000">
                  <a:tint val="23500"/>
                  <a:satMod val="160000"/>
                </a:srgbClr>
              </a:gs>
            </a:gsLst>
            <a:lin ang="2700000" scaled="1"/>
            <a:tileRect/>
          </a:gra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Lack of Automation and Scalability</a:t>
            </a:r>
            <a:br>
              <a:rPr lang="en-US" dirty="0">
                <a:solidFill>
                  <a:schemeClr val="tx1"/>
                </a:solidFill>
              </a:rPr>
            </a:br>
            <a:r>
              <a:rPr lang="en-US" dirty="0">
                <a:solidFill>
                  <a:schemeClr val="tx1"/>
                </a:solidFill>
              </a:rPr>
              <a:t>Existing methods rely on manual or semi-automated approaches, making them inefficient for continuous monitoring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8F95A-48A6-6766-808F-271E2847AEA4}"/>
              </a:ext>
            </a:extLst>
          </p:cNvPr>
          <p:cNvSpPr>
            <a:spLocks noGrp="1"/>
          </p:cNvSpPr>
          <p:nvPr>
            <p:ph type="ctrTitle"/>
          </p:nvPr>
        </p:nvSpPr>
        <p:spPr>
          <a:xfrm>
            <a:off x="353622" y="144467"/>
            <a:ext cx="3751385" cy="837066"/>
          </a:xfrm>
        </p:spPr>
        <p:txBody>
          <a:bodyPr>
            <a:normAutofit fontScale="90000"/>
          </a:bodyPr>
          <a:lstStyle/>
          <a:p>
            <a:r>
              <a:rPr lang="en-IN" b="1" dirty="0"/>
              <a:t>OBJECTIVES</a:t>
            </a:r>
          </a:p>
        </p:txBody>
      </p:sp>
      <p:sp>
        <p:nvSpPr>
          <p:cNvPr id="3" name="Subtitle 2">
            <a:extLst>
              <a:ext uri="{FF2B5EF4-FFF2-40B4-BE49-F238E27FC236}">
                <a16:creationId xmlns:a16="http://schemas.microsoft.com/office/drawing/2014/main" id="{8018176E-74AE-F102-DF32-55222F7ECAC1}"/>
              </a:ext>
            </a:extLst>
          </p:cNvPr>
          <p:cNvSpPr>
            <a:spLocks noGrp="1"/>
          </p:cNvSpPr>
          <p:nvPr>
            <p:ph type="subTitle" idx="1"/>
          </p:nvPr>
        </p:nvSpPr>
        <p:spPr>
          <a:xfrm>
            <a:off x="322967" y="981533"/>
            <a:ext cx="11694862" cy="5895330"/>
          </a:xfrm>
        </p:spPr>
        <p:txBody>
          <a:bodyPr>
            <a:normAutofit fontScale="92500" lnSpcReduction="10000"/>
          </a:bodyPr>
          <a:lstStyle/>
          <a:p>
            <a:pPr algn="just"/>
            <a:r>
              <a:rPr lang="en-IN" sz="3200" b="1" dirty="0"/>
              <a:t>🔆</a:t>
            </a:r>
            <a:r>
              <a:rPr lang="en-US" sz="3200" b="1" dirty="0"/>
              <a:t> Primary and Secondary Objectives</a:t>
            </a:r>
          </a:p>
          <a:p>
            <a:pPr marL="342900" indent="-342900" algn="l">
              <a:buFont typeface="Wingdings" panose="05000000000000000000" pitchFamily="2" charset="2"/>
              <a:buChar char="q"/>
            </a:pPr>
            <a:r>
              <a:rPr lang="en-US" sz="2000" b="1" u="sng" dirty="0"/>
              <a:t>Primary Objective</a:t>
            </a:r>
            <a:r>
              <a:rPr lang="en-US" sz="2000" b="1" dirty="0"/>
              <a:t>:</a:t>
            </a:r>
            <a:br>
              <a:rPr lang="en-US" sz="2000" dirty="0"/>
            </a:br>
            <a:r>
              <a:rPr lang="en-US" sz="2200" dirty="0"/>
              <a:t>To develop a machine learning-based real-time facial emotion recognition system that can detect human faces and classify emotions such as angry, disgust, fear, happy, neutral, sad, and surprise using a CNN-based model with high accuracy.</a:t>
            </a:r>
          </a:p>
          <a:p>
            <a:pPr marL="342900" indent="-342900" algn="l">
              <a:buFont typeface="Wingdings" panose="05000000000000000000" pitchFamily="2" charset="2"/>
              <a:buChar char="q"/>
            </a:pPr>
            <a:r>
              <a:rPr lang="en-US" sz="2000" b="1" u="sng" dirty="0"/>
              <a:t>Secondary Objectives</a:t>
            </a:r>
            <a:r>
              <a:rPr lang="en-US" sz="2000" b="1" dirty="0"/>
              <a:t>:</a:t>
            </a:r>
            <a:endParaRPr lang="en-US" sz="2000" dirty="0"/>
          </a:p>
          <a:p>
            <a:pPr marL="342900" indent="-342900" algn="just">
              <a:buFont typeface="Arial" panose="020B0604020202020204" pitchFamily="34" charset="0"/>
              <a:buChar char="•"/>
            </a:pPr>
            <a:r>
              <a:rPr lang="en-US" sz="2200" dirty="0"/>
              <a:t>To implement face detection and preprocessing using OpenCV techniques </a:t>
            </a:r>
          </a:p>
          <a:p>
            <a:pPr marL="342900" indent="-342900" algn="l">
              <a:buFont typeface="Arial" panose="020B0604020202020204" pitchFamily="34" charset="0"/>
              <a:buChar char="•"/>
            </a:pPr>
            <a:r>
              <a:rPr lang="en-US" sz="2200" dirty="0"/>
              <a:t>To utilize a multi-layer Convolutional Neural Network (CNN) for efficient feature extraction and classification </a:t>
            </a:r>
          </a:p>
          <a:p>
            <a:pPr marL="342900" indent="-342900" algn="just">
              <a:buFont typeface="Arial" panose="020B0604020202020204" pitchFamily="34" charset="0"/>
              <a:buChar char="•"/>
            </a:pPr>
            <a:r>
              <a:rPr lang="en-US" sz="2200" dirty="0"/>
              <a:t>To enable real-time emotion detection using webcam input </a:t>
            </a:r>
          </a:p>
          <a:p>
            <a:pPr marL="342900" indent="-342900" algn="just">
              <a:buFont typeface="Arial" panose="020B0604020202020204" pitchFamily="34" charset="0"/>
              <a:buChar char="•"/>
            </a:pPr>
            <a:r>
              <a:rPr lang="en-US" sz="2200" dirty="0"/>
              <a:t>To continuously capture, monitor, and store emotional data throughout the day </a:t>
            </a:r>
          </a:p>
          <a:p>
            <a:pPr marL="342900" indent="-342900" algn="just">
              <a:buFont typeface="Arial" panose="020B0604020202020204" pitchFamily="34" charset="0"/>
              <a:buChar char="•"/>
            </a:pPr>
            <a:r>
              <a:rPr lang="en-US" sz="2200" dirty="0"/>
              <a:t>To analyze emotional patterns over time for tracking engagement and mental state </a:t>
            </a:r>
          </a:p>
          <a:p>
            <a:pPr marL="342900" indent="-342900" algn="just">
              <a:buFont typeface="Arial" panose="020B0604020202020204" pitchFamily="34" charset="0"/>
              <a:buChar char="•"/>
            </a:pPr>
            <a:r>
              <a:rPr lang="en-US" sz="2200" dirty="0"/>
              <a:t>To improve system performance using data augmentation and optimization techniques</a:t>
            </a:r>
            <a:endParaRPr lang="en-US" sz="2200" b="1" dirty="0"/>
          </a:p>
          <a:p>
            <a:pPr algn="just"/>
            <a:r>
              <a:rPr lang="en-IN" sz="3000" b="1" dirty="0"/>
              <a:t>🔆</a:t>
            </a:r>
            <a:r>
              <a:rPr lang="en-US" sz="3000" b="1" dirty="0"/>
              <a:t> Scope of the Project</a:t>
            </a:r>
          </a:p>
          <a:p>
            <a:pPr algn="just"/>
            <a:r>
              <a:rPr lang="en-US" sz="2200" dirty="0"/>
              <a:t>The system is designed to detect and classify facial emotions and also maintain a record of emotions throughout the day for trend analysis. However, the scope is limited to facial expressions only and does not include other behavioral factors such as voice, body language, or eye tracking. Large-scale deployment and full classroom integration are beyond the current scope.</a:t>
            </a:r>
            <a:endParaRPr lang="en-US" sz="2200" b="1" dirty="0"/>
          </a:p>
          <a:p>
            <a:pPr algn="l"/>
            <a:endParaRPr lang="en-IN" dirty="0"/>
          </a:p>
        </p:txBody>
      </p:sp>
      <p:sp>
        <p:nvSpPr>
          <p:cNvPr id="5" name="Rectangle 2">
            <a:extLst>
              <a:ext uri="{FF2B5EF4-FFF2-40B4-BE49-F238E27FC236}">
                <a16:creationId xmlns:a16="http://schemas.microsoft.com/office/drawing/2014/main" id="{F69C2D9F-F9AA-8649-EB2F-69207186D9F8}"/>
              </a:ext>
            </a:extLst>
          </p:cNvPr>
          <p:cNvSpPr>
            <a:spLocks noChangeArrowheads="1"/>
          </p:cNvSpPr>
          <p:nvPr/>
        </p:nvSpPr>
        <p:spPr bwMode="auto">
          <a:xfrm>
            <a:off x="353622" y="3718678"/>
            <a:ext cx="109928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2" descr="Sister Nivedita University | Best Private College in India ...">
            <a:extLst>
              <a:ext uri="{FF2B5EF4-FFF2-40B4-BE49-F238E27FC236}">
                <a16:creationId xmlns:a16="http://schemas.microsoft.com/office/drawing/2014/main" id="{0EC4B976-2360-1074-203D-68BD94DD1A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43232" y="212381"/>
            <a:ext cx="2474243" cy="694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570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2755" y="209713"/>
            <a:ext cx="8561195" cy="943040"/>
          </a:xfrm>
        </p:spPr>
        <p:txBody>
          <a:bodyPr>
            <a:noAutofit/>
          </a:bodyPr>
          <a:lstStyle/>
          <a:p>
            <a:r>
              <a:rPr lang="en-US" sz="4000" b="1" dirty="0">
                <a:cs typeface="Arial" panose="020B0604020202020204" pitchFamily="34" charset="0"/>
              </a:rPr>
              <a:t>LITERATURE</a:t>
            </a:r>
            <a:r>
              <a:rPr lang="en-IN" sz="4000" b="1" dirty="0">
                <a:solidFill>
                  <a:srgbClr val="000000"/>
                </a:solidFill>
                <a:cs typeface="Arial" panose="020B0604020202020204" pitchFamily="34" charset="0"/>
              </a:rPr>
              <a:t> REVIEW / EXISTING SYSTEM</a:t>
            </a:r>
            <a:endParaRPr lang="en-IN" altLang="en-US" sz="4000" b="1" dirty="0">
              <a:cs typeface="Arial" panose="020B0604020202020204" pitchFamily="34" charset="0"/>
            </a:endParaRPr>
          </a:p>
        </p:txBody>
      </p:sp>
      <p:sp>
        <p:nvSpPr>
          <p:cNvPr id="3" name="Content Placeholder 2"/>
          <p:cNvSpPr>
            <a:spLocks noGrp="1"/>
          </p:cNvSpPr>
          <p:nvPr>
            <p:ph idx="1"/>
          </p:nvPr>
        </p:nvSpPr>
        <p:spPr>
          <a:xfrm>
            <a:off x="170822" y="1111055"/>
            <a:ext cx="11668423" cy="5565281"/>
          </a:xfrm>
        </p:spPr>
        <p:txBody>
          <a:bodyPr>
            <a:normAutofit fontScale="92500" lnSpcReduction="20000"/>
          </a:bodyPr>
          <a:lstStyle/>
          <a:p>
            <a:pPr marL="457200" lvl="1" indent="0">
              <a:lnSpc>
                <a:spcPct val="120000"/>
              </a:lnSpc>
              <a:buNone/>
            </a:pPr>
            <a:r>
              <a:rPr lang="en-IN" sz="2600" b="1" dirty="0">
                <a:solidFill>
                  <a:srgbClr val="0D0D0D"/>
                </a:solidFill>
                <a:highlight>
                  <a:srgbClr val="FFFFFF"/>
                </a:highlight>
                <a:latin typeface="Arial" panose="020B0604020202020204" pitchFamily="34" charset="0"/>
                <a:cs typeface="Arial" panose="020B0604020202020204" pitchFamily="34" charset="0"/>
              </a:rPr>
              <a:t>🔎</a:t>
            </a:r>
            <a:r>
              <a:rPr lang="en-US" sz="2600" b="1" dirty="0">
                <a:highlight>
                  <a:srgbClr val="FFFFFF"/>
                </a:highlight>
                <a:latin typeface="Arial" panose="020B0604020202020204" pitchFamily="34" charset="0"/>
                <a:cs typeface="Arial" panose="020B0604020202020204" pitchFamily="34" charset="0"/>
              </a:rPr>
              <a:t>Summary of Existing Solutions or Related Work</a:t>
            </a:r>
          </a:p>
          <a:p>
            <a:pPr marL="457200" lvl="1" indent="0" algn="just">
              <a:lnSpc>
                <a:spcPct val="120000"/>
              </a:lnSpc>
              <a:buNone/>
            </a:pPr>
            <a:r>
              <a:rPr lang="en-US" sz="2200" dirty="0"/>
              <a:t>Traditional facial emotion recognition methods used handcrafted features like LBP and HOG with classifiers such as SVM, but they lacked accuracy in complex scenarios. With advancements in deep learning, Convolutional Neural Networks (CNNs) have significantly improved performance by automatically extracting features. Many systems use pre-trained models like VGGNet and ResNet for better accuracy. However, most existing solutions are trained on controlled datasets and struggle in real-world conditions.</a:t>
            </a:r>
          </a:p>
          <a:p>
            <a:pPr marL="457200" lvl="1" indent="0" algn="just">
              <a:lnSpc>
                <a:spcPct val="120000"/>
              </a:lnSpc>
              <a:buNone/>
            </a:pPr>
            <a:r>
              <a:rPr lang="en-IN" sz="2600" b="1" dirty="0">
                <a:solidFill>
                  <a:srgbClr val="0D0D0D"/>
                </a:solidFill>
                <a:highlight>
                  <a:srgbClr val="FFFFFF"/>
                </a:highlight>
                <a:latin typeface="Arial" panose="020B0604020202020204" pitchFamily="34" charset="0"/>
                <a:cs typeface="Arial" panose="020B0604020202020204" pitchFamily="34" charset="0"/>
              </a:rPr>
              <a:t>🔰</a:t>
            </a:r>
            <a:r>
              <a:rPr lang="en-IN" sz="2600" b="1" dirty="0">
                <a:highlight>
                  <a:srgbClr val="FFFFFF"/>
                </a:highlight>
                <a:latin typeface="Arial" panose="020B0604020202020204" pitchFamily="34" charset="0"/>
                <a:cs typeface="Arial" panose="020B0604020202020204" pitchFamily="34" charset="0"/>
              </a:rPr>
              <a:t>Gaps Identified</a:t>
            </a:r>
          </a:p>
          <a:p>
            <a:pPr marL="457200" lvl="1" indent="0" algn="just">
              <a:lnSpc>
                <a:spcPct val="120000"/>
              </a:lnSpc>
              <a:buNone/>
            </a:pPr>
            <a:r>
              <a:rPr lang="en-US" sz="2200" u="sng" dirty="0"/>
              <a:t>While the reviewed research showed promising results, several important gaps still remain:</a:t>
            </a:r>
          </a:p>
          <a:p>
            <a:pPr>
              <a:buFont typeface="Wingdings" panose="05000000000000000000" pitchFamily="2" charset="2"/>
              <a:buChar char="Ø"/>
            </a:pPr>
            <a:r>
              <a:rPr lang="en-US" sz="2200" dirty="0"/>
              <a:t>     </a:t>
            </a:r>
            <a:r>
              <a:rPr lang="en-US" sz="2400" dirty="0"/>
              <a:t>Limited real-time implementation in practical environments like classrooms.</a:t>
            </a:r>
            <a:r>
              <a:rPr lang="en-US" sz="2200" dirty="0"/>
              <a:t>  </a:t>
            </a:r>
          </a:p>
          <a:p>
            <a:pPr>
              <a:buFont typeface="Wingdings" panose="05000000000000000000" pitchFamily="2" charset="2"/>
              <a:buChar char="Ø"/>
            </a:pPr>
            <a:r>
              <a:rPr lang="en-US" sz="2200" dirty="0"/>
              <a:t>     Lack of true real-time monitoring capability </a:t>
            </a:r>
          </a:p>
          <a:p>
            <a:pPr>
              <a:buFont typeface="Wingdings" panose="05000000000000000000" pitchFamily="2" charset="2"/>
              <a:buChar char="Ø"/>
            </a:pPr>
            <a:r>
              <a:rPr lang="en-US" sz="2200" dirty="0"/>
              <a:t>     Identification limited to only one factor (e.g., only eye contact or only lip movement) </a:t>
            </a:r>
          </a:p>
          <a:p>
            <a:pPr>
              <a:buFont typeface="Wingdings" panose="05000000000000000000" pitchFamily="2" charset="2"/>
              <a:buChar char="Ø"/>
            </a:pPr>
            <a:r>
              <a:rPr lang="en-US" sz="2200" dirty="0"/>
              <a:t>     Use of high-complexity deep learning architectures that are not suitable for normal desktop system</a:t>
            </a:r>
          </a:p>
          <a:p>
            <a:pPr>
              <a:buFont typeface="Wingdings" panose="05000000000000000000" pitchFamily="2" charset="2"/>
              <a:buChar char="Ø"/>
            </a:pPr>
            <a:r>
              <a:rPr lang="en-US" sz="2200" dirty="0"/>
              <a:t>     Most systems do not store or track emotions over time for mental health analysis</a:t>
            </a:r>
          </a:p>
          <a:p>
            <a:pPr marL="0" indent="0" algn="ctr">
              <a:buNone/>
            </a:pPr>
            <a:br>
              <a:rPr lang="en-US" sz="1900" dirty="0"/>
            </a:br>
            <a:r>
              <a:rPr lang="en-US" sz="2000" b="1" i="1" dirty="0"/>
              <a:t>These limitations highlight the need for an automated, real-time system capable of accurately detecting, monitoring, and tracking emotions over time.</a:t>
            </a:r>
            <a:endParaRPr lang="en-US" sz="1900" b="1" i="1" dirty="0">
              <a:solidFill>
                <a:srgbClr val="0D0D0D"/>
              </a:solidFill>
              <a:highlight>
                <a:srgbClr val="FFFFFF"/>
              </a:highlight>
            </a:endParaRPr>
          </a:p>
        </p:txBody>
      </p:sp>
      <p:pic>
        <p:nvPicPr>
          <p:cNvPr id="4"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756" y="205340"/>
            <a:ext cx="2274277" cy="6994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1277" y="-79748"/>
            <a:ext cx="5986318" cy="1396720"/>
          </a:xfrm>
        </p:spPr>
        <p:txBody>
          <a:bodyPr>
            <a:normAutofit/>
          </a:bodyPr>
          <a:lstStyle/>
          <a:p>
            <a:r>
              <a:rPr lang="en-IN" sz="3200" dirty="0">
                <a:latin typeface="Arial" panose="020B0604020202020204" pitchFamily="34" charset="0"/>
                <a:cs typeface="Arial" panose="020B0604020202020204" pitchFamily="34" charset="0"/>
              </a:rPr>
              <a:t>PROPOSED METHODOLOGY</a:t>
            </a:r>
          </a:p>
        </p:txBody>
      </p:sp>
      <p:sp>
        <p:nvSpPr>
          <p:cNvPr id="3" name="Content Placeholder 2"/>
          <p:cNvSpPr>
            <a:spLocks noGrp="1"/>
          </p:cNvSpPr>
          <p:nvPr>
            <p:ph idx="1"/>
          </p:nvPr>
        </p:nvSpPr>
        <p:spPr>
          <a:xfrm>
            <a:off x="113787" y="921000"/>
            <a:ext cx="11528803" cy="6209881"/>
          </a:xfrm>
        </p:spPr>
        <p:txBody>
          <a:bodyPr>
            <a:normAutofit/>
          </a:bodyPr>
          <a:lstStyle/>
          <a:p>
            <a:pPr marL="0" indent="0" algn="just">
              <a:buNone/>
            </a:pPr>
            <a:r>
              <a:rPr lang="en-IN" dirty="0"/>
              <a:t>📌</a:t>
            </a:r>
            <a:r>
              <a:rPr lang="en-IN" sz="2400" b="1" dirty="0">
                <a:latin typeface="Arial" panose="020B0604020202020204" pitchFamily="34" charset="0"/>
                <a:cs typeface="Arial" panose="020B0604020202020204" pitchFamily="34" charset="0"/>
              </a:rPr>
              <a:t>Research Design </a:t>
            </a:r>
          </a:p>
          <a:p>
            <a:pPr marL="0" indent="0" algn="just">
              <a:buNone/>
            </a:pPr>
            <a:r>
              <a:rPr lang="en-US" sz="1800" dirty="0"/>
              <a:t>The project follows a Supervised machine learning approach to detect and classify facial emotions into seven categories using a CNN model, with real-time monitoring and emotion tracking.</a:t>
            </a:r>
          </a:p>
          <a:p>
            <a:pPr marL="0" indent="0" algn="just">
              <a:buNone/>
            </a:pPr>
            <a:r>
              <a:rPr lang="en-US" sz="2300" dirty="0">
                <a:effectLst>
                  <a:outerShdw blurRad="38100" dist="38100" dir="2700000" algn="tl">
                    <a:srgbClr val="000000">
                      <a:alpha val="43137"/>
                    </a:srgbClr>
                  </a:outerShdw>
                </a:effectLst>
              </a:rPr>
              <a:t>The design includes:</a:t>
            </a:r>
          </a:p>
          <a:p>
            <a:pPr marL="0" indent="0" algn="just">
              <a:buNone/>
            </a:pPr>
            <a:endParaRPr lang="en-US" sz="2300" b="1" dirty="0"/>
          </a:p>
          <a:p>
            <a:pPr marL="0" indent="0" algn="just">
              <a:buNone/>
            </a:pPr>
            <a:endParaRPr lang="en-US" sz="3100" dirty="0"/>
          </a:p>
          <a:p>
            <a:pPr marL="0" indent="0" algn="just">
              <a:buNone/>
            </a:pPr>
            <a:endParaRPr lang="en-US" sz="3100" dirty="0"/>
          </a:p>
          <a:p>
            <a:pPr marL="0" indent="0" algn="just">
              <a:buNone/>
            </a:pPr>
            <a:r>
              <a:rPr lang="en-IN" sz="2400" b="1" dirty="0">
                <a:latin typeface="Arial" panose="020B0604020202020204" pitchFamily="34" charset="0"/>
                <a:cs typeface="Arial" panose="020B0604020202020204" pitchFamily="34" charset="0"/>
              </a:rPr>
              <a:t>📌</a:t>
            </a:r>
            <a:r>
              <a:rPr lang="en-IN" sz="2400" i="1" u="sng" dirty="0">
                <a:latin typeface="Aptos" panose="020B0004020202020204" pitchFamily="34" charset="0"/>
                <a:cs typeface="Arial" panose="020B0604020202020204" pitchFamily="34" charset="0"/>
              </a:rPr>
              <a:t> STEP 1</a:t>
            </a:r>
            <a:r>
              <a:rPr lang="en-IN" sz="2400" i="1" dirty="0">
                <a:latin typeface="Aptos" panose="020B0004020202020204" pitchFamily="34" charset="0"/>
                <a:cs typeface="Arial" panose="020B0604020202020204" pitchFamily="34" charset="0"/>
              </a:rPr>
              <a:t> </a:t>
            </a:r>
            <a:r>
              <a:rPr lang="en-IN" sz="2400" dirty="0">
                <a:latin typeface="Aptos" panose="020B0004020202020204" pitchFamily="34" charset="0"/>
                <a:cs typeface="Arial" panose="020B0604020202020204" pitchFamily="34" charset="0"/>
              </a:rPr>
              <a:t>:</a:t>
            </a:r>
            <a:r>
              <a:rPr lang="en-IN" sz="2400" i="1" dirty="0">
                <a:latin typeface="Aptos" panose="020B0004020202020204" pitchFamily="34" charset="0"/>
                <a:cs typeface="Arial" panose="020B0604020202020204" pitchFamily="34" charset="0"/>
              </a:rPr>
              <a:t> </a:t>
            </a:r>
            <a:r>
              <a:rPr lang="en-IN" sz="2400" b="1" dirty="0">
                <a:latin typeface="Arial" panose="020B0604020202020204" pitchFamily="34" charset="0"/>
                <a:cs typeface="Arial" panose="020B0604020202020204" pitchFamily="34" charset="0"/>
              </a:rPr>
              <a:t>Data Collection Method </a:t>
            </a:r>
          </a:p>
          <a:p>
            <a:pPr marL="0" indent="0" algn="just">
              <a:buNone/>
            </a:pPr>
            <a:r>
              <a:rPr lang="en-US" sz="1800" dirty="0"/>
              <a:t>The data was collected from a publicly available dataset:</a:t>
            </a:r>
          </a:p>
          <a:p>
            <a:pPr marL="0" indent="0" algn="just">
              <a:buNone/>
            </a:pPr>
            <a:r>
              <a:rPr lang="en-US" sz="1800" b="1" u="sng" dirty="0"/>
              <a:t>Dataset</a:t>
            </a:r>
            <a:r>
              <a:rPr lang="en-US" sz="1800" dirty="0"/>
              <a:t>: Face Emotion Detection Dataset</a:t>
            </a:r>
          </a:p>
          <a:p>
            <a:pPr marL="0" indent="0" algn="just">
              <a:buNone/>
            </a:pPr>
            <a:r>
              <a:rPr lang="en-US" sz="1800" b="1" u="sng" dirty="0"/>
              <a:t>Classes:</a:t>
            </a:r>
            <a:r>
              <a:rPr lang="en-US" sz="1800" b="1" dirty="0"/>
              <a:t> </a:t>
            </a:r>
            <a:r>
              <a:rPr lang="en-US" sz="1800" dirty="0"/>
              <a:t>angry, disgust, fear, happy, neutral, sad, surprise </a:t>
            </a:r>
          </a:p>
          <a:p>
            <a:pPr marL="0" indent="0" algn="just">
              <a:buNone/>
            </a:pPr>
            <a:r>
              <a:rPr lang="en-US" sz="1600" i="1" dirty="0"/>
              <a:t>(Each class contains 400+ images)</a:t>
            </a:r>
          </a:p>
          <a:p>
            <a:pPr marL="0" indent="0" algn="just">
              <a:buNone/>
            </a:pPr>
            <a:r>
              <a:rPr lang="en-US" sz="1800" b="1" u="sng" dirty="0"/>
              <a:t>Source</a:t>
            </a:r>
            <a:r>
              <a:rPr lang="en-US" sz="1800" dirty="0"/>
              <a:t>: Kaggle</a:t>
            </a:r>
          </a:p>
          <a:p>
            <a:pPr marL="0" indent="0" algn="just">
              <a:buNone/>
            </a:pPr>
            <a:r>
              <a:rPr lang="en-US" sz="1800" b="1" u="sng" dirty="0"/>
              <a:t>URL</a:t>
            </a:r>
            <a:r>
              <a:rPr lang="en-US" sz="1800" dirty="0"/>
              <a:t>: </a:t>
            </a:r>
            <a:r>
              <a:rPr lang="en-US" sz="1600" dirty="0">
                <a:hlinkClick r:id="rId2"/>
              </a:rPr>
              <a:t>https://www.kaggle.com/datasets/biswas2022/face-emotion-detection/settings</a:t>
            </a:r>
            <a:r>
              <a:rPr lang="en-IN" dirty="0"/>
              <a:t>       </a:t>
            </a:r>
          </a:p>
        </p:txBody>
      </p:sp>
      <p:pic>
        <p:nvPicPr>
          <p:cNvPr id="4" name="Picture 2" descr="Sister Nivedita University | Best Private College in Indi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2997" y="257808"/>
            <a:ext cx="2624908" cy="80731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7C6B2CF-34EA-FA82-11B4-BB2D5F4875EE}"/>
              </a:ext>
            </a:extLst>
          </p:cNvPr>
          <p:cNvSpPr/>
          <p:nvPr/>
        </p:nvSpPr>
        <p:spPr>
          <a:xfrm>
            <a:off x="241277" y="2626113"/>
            <a:ext cx="1467059" cy="1233447"/>
          </a:xfrm>
          <a:prstGeom prst="rect">
            <a:avLst/>
          </a:prstGeom>
          <a:solidFill>
            <a:schemeClr val="bg2"/>
          </a:solidFill>
          <a:ln>
            <a:solidFill>
              <a:srgbClr val="00B05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Dataset Acquisition </a:t>
            </a:r>
          </a:p>
          <a:p>
            <a:pPr algn="ctr"/>
            <a:r>
              <a:rPr lang="en-US" sz="1050" dirty="0">
                <a:solidFill>
                  <a:schemeClr val="tx1"/>
                </a:solidFill>
              </a:rPr>
              <a:t>(Load raw dataset, analyze classes)</a:t>
            </a:r>
            <a:endParaRPr lang="en-IN" sz="1050" i="1" dirty="0">
              <a:solidFill>
                <a:schemeClr val="tx1"/>
              </a:solidFill>
            </a:endParaRPr>
          </a:p>
        </p:txBody>
      </p:sp>
      <p:sp>
        <p:nvSpPr>
          <p:cNvPr id="6" name="Rectangle 5">
            <a:extLst>
              <a:ext uri="{FF2B5EF4-FFF2-40B4-BE49-F238E27FC236}">
                <a16:creationId xmlns:a16="http://schemas.microsoft.com/office/drawing/2014/main" id="{FD1AC73D-6185-B1EC-486F-14939FBC4F5E}"/>
              </a:ext>
            </a:extLst>
          </p:cNvPr>
          <p:cNvSpPr/>
          <p:nvPr/>
        </p:nvSpPr>
        <p:spPr>
          <a:xfrm>
            <a:off x="1922652" y="2626112"/>
            <a:ext cx="1521992" cy="1233447"/>
          </a:xfrm>
          <a:prstGeom prst="rect">
            <a:avLst/>
          </a:prstGeom>
          <a:solidFill>
            <a:schemeClr val="bg2"/>
          </a:solidFill>
          <a:ln>
            <a:solidFill>
              <a:srgbClr val="FFC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Preprocessing &amp; Cleaning</a:t>
            </a:r>
          </a:p>
          <a:p>
            <a:pPr algn="ctr"/>
            <a:r>
              <a:rPr lang="en-US" sz="1050" dirty="0">
                <a:solidFill>
                  <a:schemeClr val="tx1"/>
                </a:solidFill>
              </a:rPr>
              <a:t>(Face detection, cropping, resizing, normalization)</a:t>
            </a:r>
            <a:endParaRPr lang="en-IN" sz="1050" i="1" dirty="0">
              <a:solidFill>
                <a:schemeClr val="tx1"/>
              </a:solidFill>
            </a:endParaRPr>
          </a:p>
        </p:txBody>
      </p:sp>
      <p:sp>
        <p:nvSpPr>
          <p:cNvPr id="7" name="Rectangle 6">
            <a:extLst>
              <a:ext uri="{FF2B5EF4-FFF2-40B4-BE49-F238E27FC236}">
                <a16:creationId xmlns:a16="http://schemas.microsoft.com/office/drawing/2014/main" id="{A34360CC-4164-16E6-2139-7C23887CA212}"/>
              </a:ext>
            </a:extLst>
          </p:cNvPr>
          <p:cNvSpPr/>
          <p:nvPr/>
        </p:nvSpPr>
        <p:spPr>
          <a:xfrm>
            <a:off x="3627132" y="2626111"/>
            <a:ext cx="1421841" cy="1233447"/>
          </a:xfrm>
          <a:prstGeom prst="rect">
            <a:avLst/>
          </a:prstGeom>
          <a:solidFill>
            <a:schemeClr val="bg2"/>
          </a:solid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Dataset Preparation</a:t>
            </a:r>
          </a:p>
          <a:p>
            <a:pPr algn="ctr"/>
            <a:r>
              <a:rPr lang="en-IN" sz="1050" dirty="0">
                <a:solidFill>
                  <a:schemeClr val="tx1"/>
                </a:solidFill>
              </a:rPr>
              <a:t>(Balancing, splitting train/validation, augmentation)</a:t>
            </a:r>
            <a:endParaRPr lang="en-IN" sz="1050" i="1" dirty="0">
              <a:solidFill>
                <a:schemeClr val="tx1"/>
              </a:solidFill>
            </a:endParaRPr>
          </a:p>
        </p:txBody>
      </p:sp>
      <p:sp>
        <p:nvSpPr>
          <p:cNvPr id="8" name="Rectangle 7">
            <a:extLst>
              <a:ext uri="{FF2B5EF4-FFF2-40B4-BE49-F238E27FC236}">
                <a16:creationId xmlns:a16="http://schemas.microsoft.com/office/drawing/2014/main" id="{F8E20BAD-9AC4-F2E6-0781-BAAA86A73DA1}"/>
              </a:ext>
            </a:extLst>
          </p:cNvPr>
          <p:cNvSpPr/>
          <p:nvPr/>
        </p:nvSpPr>
        <p:spPr>
          <a:xfrm>
            <a:off x="5222844" y="2626110"/>
            <a:ext cx="1467059" cy="1233448"/>
          </a:xfrm>
          <a:prstGeom prst="rect">
            <a:avLst/>
          </a:prstGeom>
          <a:solidFill>
            <a:schemeClr val="bg2"/>
          </a:solidFill>
          <a:ln>
            <a:solidFill>
              <a:schemeClr val="accent1"/>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i="1" dirty="0">
                <a:solidFill>
                  <a:srgbClr val="081012"/>
                </a:solidFill>
              </a:rPr>
              <a:t>Model Building(CNN architecture)</a:t>
            </a:r>
          </a:p>
          <a:p>
            <a:pPr algn="ctr"/>
            <a:r>
              <a:rPr lang="en-IN" sz="1100" dirty="0">
                <a:solidFill>
                  <a:schemeClr val="tx1"/>
                </a:solidFill>
              </a:rPr>
              <a:t>(custom layers)</a:t>
            </a:r>
            <a:endParaRPr lang="en-IN" sz="1100" i="1" dirty="0">
              <a:solidFill>
                <a:schemeClr val="tx1"/>
              </a:solidFill>
            </a:endParaRPr>
          </a:p>
        </p:txBody>
      </p:sp>
      <p:sp>
        <p:nvSpPr>
          <p:cNvPr id="9" name="Rectangle 8">
            <a:extLst>
              <a:ext uri="{FF2B5EF4-FFF2-40B4-BE49-F238E27FC236}">
                <a16:creationId xmlns:a16="http://schemas.microsoft.com/office/drawing/2014/main" id="{090F1AD3-133A-ED23-8E29-64989BA89821}"/>
              </a:ext>
            </a:extLst>
          </p:cNvPr>
          <p:cNvSpPr/>
          <p:nvPr/>
        </p:nvSpPr>
        <p:spPr>
          <a:xfrm>
            <a:off x="6882179" y="2626110"/>
            <a:ext cx="1467060" cy="1233448"/>
          </a:xfrm>
          <a:prstGeom prst="rect">
            <a:avLst/>
          </a:prstGeom>
          <a:solidFill>
            <a:schemeClr val="bg2"/>
          </a:solidFill>
          <a:ln>
            <a:solidFill>
              <a:srgbClr val="FF0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Training &amp; Validation</a:t>
            </a:r>
          </a:p>
          <a:p>
            <a:pPr algn="ctr"/>
            <a:r>
              <a:rPr lang="en-US" sz="1100" dirty="0">
                <a:solidFill>
                  <a:schemeClr val="tx1"/>
                </a:solidFill>
              </a:rPr>
              <a:t>(Early stopping, checkpoint, LR reduction)</a:t>
            </a:r>
            <a:endParaRPr lang="en-IN" sz="1100" i="1" dirty="0">
              <a:solidFill>
                <a:schemeClr val="tx1"/>
              </a:solidFill>
            </a:endParaRPr>
          </a:p>
        </p:txBody>
      </p:sp>
      <p:sp>
        <p:nvSpPr>
          <p:cNvPr id="10" name="Rectangle 9">
            <a:extLst>
              <a:ext uri="{FF2B5EF4-FFF2-40B4-BE49-F238E27FC236}">
                <a16:creationId xmlns:a16="http://schemas.microsoft.com/office/drawing/2014/main" id="{31B279DA-206A-226E-222C-1947B4F2BD12}"/>
              </a:ext>
            </a:extLst>
          </p:cNvPr>
          <p:cNvSpPr/>
          <p:nvPr/>
        </p:nvSpPr>
        <p:spPr>
          <a:xfrm>
            <a:off x="8541515" y="2626109"/>
            <a:ext cx="1467060" cy="1233448"/>
          </a:xfrm>
          <a:prstGeom prst="rect">
            <a:avLst/>
          </a:prstGeom>
          <a:solidFill>
            <a:schemeClr val="bg2"/>
          </a:solidFill>
          <a:ln>
            <a:solidFill>
              <a:srgbClr val="FFC00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Evaluation</a:t>
            </a:r>
            <a:r>
              <a:rPr lang="en-IN" sz="1400" i="1" dirty="0">
                <a:solidFill>
                  <a:srgbClr val="081012"/>
                </a:solidFill>
              </a:rPr>
              <a:t> </a:t>
            </a:r>
            <a:r>
              <a:rPr lang="en-IN" sz="1200" dirty="0">
                <a:solidFill>
                  <a:srgbClr val="081012"/>
                </a:solidFill>
              </a:rPr>
              <a:t>(Accuracy, Loss, Confusion Matrix)</a:t>
            </a:r>
          </a:p>
        </p:txBody>
      </p:sp>
      <p:sp>
        <p:nvSpPr>
          <p:cNvPr id="11" name="Rectangle 10">
            <a:extLst>
              <a:ext uri="{FF2B5EF4-FFF2-40B4-BE49-F238E27FC236}">
                <a16:creationId xmlns:a16="http://schemas.microsoft.com/office/drawing/2014/main" id="{90A9E531-2788-30EF-A35E-3A203B41F308}"/>
              </a:ext>
            </a:extLst>
          </p:cNvPr>
          <p:cNvSpPr/>
          <p:nvPr/>
        </p:nvSpPr>
        <p:spPr>
          <a:xfrm>
            <a:off x="10200851" y="2620481"/>
            <a:ext cx="1534479" cy="1233448"/>
          </a:xfrm>
          <a:prstGeom prst="rect">
            <a:avLst/>
          </a:prstGeom>
          <a:solidFill>
            <a:schemeClr val="bg2"/>
          </a:solidFill>
          <a:ln>
            <a:solidFill>
              <a:srgbClr val="00B050"/>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i="1" dirty="0">
                <a:solidFill>
                  <a:srgbClr val="081012"/>
                </a:solidFill>
              </a:rPr>
              <a:t>Result</a:t>
            </a:r>
          </a:p>
          <a:p>
            <a:pPr algn="ctr"/>
            <a:r>
              <a:rPr lang="en-IN" i="1" dirty="0">
                <a:solidFill>
                  <a:srgbClr val="081012"/>
                </a:solidFill>
              </a:rPr>
              <a:t> Interpretation</a:t>
            </a:r>
          </a:p>
          <a:p>
            <a:pPr algn="ctr"/>
            <a:r>
              <a:rPr lang="en-IN" sz="1200" dirty="0">
                <a:solidFill>
                  <a:schemeClr val="tx1"/>
                </a:solidFill>
              </a:rPr>
              <a:t>(Graphs, predictions, insights)</a:t>
            </a:r>
            <a:endParaRPr lang="en-IN" sz="1200" i="1" dirty="0">
              <a:solidFill>
                <a:schemeClr val="tx1"/>
              </a:solidFill>
            </a:endParaRPr>
          </a:p>
        </p:txBody>
      </p:sp>
      <p:cxnSp>
        <p:nvCxnSpPr>
          <p:cNvPr id="15" name="Straight Arrow Connector 14">
            <a:extLst>
              <a:ext uri="{FF2B5EF4-FFF2-40B4-BE49-F238E27FC236}">
                <a16:creationId xmlns:a16="http://schemas.microsoft.com/office/drawing/2014/main" id="{C8B657E8-D88D-C5F0-2AE1-3B8943441153}"/>
              </a:ext>
            </a:extLst>
          </p:cNvPr>
          <p:cNvCxnSpPr>
            <a:cxnSpLocks/>
            <a:stCxn id="5" idx="3"/>
            <a:endCxn id="6" idx="1"/>
          </p:cNvCxnSpPr>
          <p:nvPr/>
        </p:nvCxnSpPr>
        <p:spPr>
          <a:xfrm flipV="1">
            <a:off x="1708336" y="3242836"/>
            <a:ext cx="21431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ED6B620-A612-D45B-7A5F-A0215BBF08C7}"/>
              </a:ext>
            </a:extLst>
          </p:cNvPr>
          <p:cNvCxnSpPr>
            <a:cxnSpLocks/>
            <a:stCxn id="6" idx="3"/>
            <a:endCxn id="7" idx="1"/>
          </p:cNvCxnSpPr>
          <p:nvPr/>
        </p:nvCxnSpPr>
        <p:spPr>
          <a:xfrm flipV="1">
            <a:off x="3444644" y="3242835"/>
            <a:ext cx="18248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FF3B023-C813-B955-D347-F1059B026773}"/>
              </a:ext>
            </a:extLst>
          </p:cNvPr>
          <p:cNvCxnSpPr>
            <a:cxnSpLocks/>
            <a:stCxn id="7" idx="3"/>
            <a:endCxn id="8" idx="1"/>
          </p:cNvCxnSpPr>
          <p:nvPr/>
        </p:nvCxnSpPr>
        <p:spPr>
          <a:xfrm flipV="1">
            <a:off x="5048973" y="3242834"/>
            <a:ext cx="17387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BFF639A-582B-D6F4-2F2F-2D5825B28E5F}"/>
              </a:ext>
            </a:extLst>
          </p:cNvPr>
          <p:cNvCxnSpPr>
            <a:cxnSpLocks/>
            <a:stCxn id="8" idx="3"/>
            <a:endCxn id="9" idx="1"/>
          </p:cNvCxnSpPr>
          <p:nvPr/>
        </p:nvCxnSpPr>
        <p:spPr>
          <a:xfrm>
            <a:off x="6689903" y="3242834"/>
            <a:ext cx="1922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F3B35B7-DC49-D585-8251-7388B9AACB50}"/>
              </a:ext>
            </a:extLst>
          </p:cNvPr>
          <p:cNvCxnSpPr>
            <a:cxnSpLocks/>
            <a:stCxn id="9" idx="3"/>
            <a:endCxn id="10" idx="1"/>
          </p:cNvCxnSpPr>
          <p:nvPr/>
        </p:nvCxnSpPr>
        <p:spPr>
          <a:xfrm flipV="1">
            <a:off x="8349239" y="3242833"/>
            <a:ext cx="19227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F004C5E-280D-D943-3923-79D521FF5D5E}"/>
              </a:ext>
            </a:extLst>
          </p:cNvPr>
          <p:cNvCxnSpPr>
            <a:cxnSpLocks/>
            <a:stCxn id="10" idx="3"/>
            <a:endCxn id="11" idx="1"/>
          </p:cNvCxnSpPr>
          <p:nvPr/>
        </p:nvCxnSpPr>
        <p:spPr>
          <a:xfrm flipV="1">
            <a:off x="10008575" y="3237205"/>
            <a:ext cx="192276" cy="5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9C1A1A8A-B7B3-A16A-810F-1B2E4A6C5389}"/>
              </a:ext>
            </a:extLst>
          </p:cNvPr>
          <p:cNvSpPr/>
          <p:nvPr/>
        </p:nvSpPr>
        <p:spPr>
          <a:xfrm>
            <a:off x="8065603" y="4295042"/>
            <a:ext cx="3792302" cy="2348666"/>
          </a:xfrm>
          <a:prstGeom prst="rect">
            <a:avLst/>
          </a:prstGeom>
          <a:solidFill>
            <a:schemeClr val="bg1"/>
          </a:solidFill>
          <a:ln>
            <a:solidFill>
              <a:schemeClr val="bg1"/>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dataset</a:t>
            </a:r>
          </a:p>
        </p:txBody>
      </p:sp>
      <p:pic>
        <p:nvPicPr>
          <p:cNvPr id="14" name="Picture 13">
            <a:extLst>
              <a:ext uri="{FF2B5EF4-FFF2-40B4-BE49-F238E27FC236}">
                <a16:creationId xmlns:a16="http://schemas.microsoft.com/office/drawing/2014/main" id="{0940CE39-D218-5E31-E3D0-F31D1FB06522}"/>
              </a:ext>
            </a:extLst>
          </p:cNvPr>
          <p:cNvPicPr>
            <a:picLocks noChangeAspect="1"/>
          </p:cNvPicPr>
          <p:nvPr/>
        </p:nvPicPr>
        <p:blipFill>
          <a:blip r:embed="rId4"/>
          <a:stretch>
            <a:fillRect/>
          </a:stretch>
        </p:blipFill>
        <p:spPr>
          <a:xfrm>
            <a:off x="8098070" y="4327693"/>
            <a:ext cx="3692523" cy="2265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BC20-6BFD-1099-461A-7557BEF0186A}"/>
              </a:ext>
            </a:extLst>
          </p:cNvPr>
          <p:cNvSpPr>
            <a:spLocks noGrp="1"/>
          </p:cNvSpPr>
          <p:nvPr>
            <p:ph type="title"/>
          </p:nvPr>
        </p:nvSpPr>
        <p:spPr>
          <a:xfrm>
            <a:off x="292833" y="58640"/>
            <a:ext cx="10157454" cy="1210827"/>
          </a:xfrm>
        </p:spPr>
        <p:txBody>
          <a:bodyPr>
            <a:normAutofit/>
          </a:bodyPr>
          <a:lstStyle/>
          <a:p>
            <a:r>
              <a:rPr lang="en-IN" sz="2800" dirty="0">
                <a:latin typeface="Arial" panose="020B0604020202020204" pitchFamily="34" charset="0"/>
                <a:cs typeface="Arial" panose="020B0604020202020204" pitchFamily="34" charset="0"/>
              </a:rPr>
              <a:t>📌 </a:t>
            </a:r>
            <a:r>
              <a:rPr lang="en-IN" sz="2800" i="1" u="sng" dirty="0">
                <a:latin typeface="Aptos" panose="020B0004020202020204" pitchFamily="34" charset="0"/>
                <a:cs typeface="Arial" panose="020B0604020202020204" pitchFamily="34" charset="0"/>
              </a:rPr>
              <a:t>STEP 2</a:t>
            </a:r>
            <a:r>
              <a:rPr lang="en-IN" sz="2800" i="1" dirty="0">
                <a:latin typeface="Aptos" panose="020B0004020202020204" pitchFamily="34" charset="0"/>
                <a:cs typeface="Arial" panose="020B0604020202020204" pitchFamily="34" charset="0"/>
              </a:rPr>
              <a:t> </a:t>
            </a:r>
            <a:r>
              <a:rPr lang="en-IN" sz="2800" dirty="0">
                <a:latin typeface="Arial" panose="020B0604020202020204" pitchFamily="34" charset="0"/>
                <a:cs typeface="Arial" panose="020B0604020202020204" pitchFamily="34" charset="0"/>
              </a:rPr>
              <a:t>: </a:t>
            </a:r>
            <a:r>
              <a:rPr lang="en-IN" sz="2400" b="1" dirty="0">
                <a:latin typeface="Arial" panose="020B0604020202020204" pitchFamily="34" charset="0"/>
                <a:cs typeface="Arial" panose="020B0604020202020204" pitchFamily="34" charset="0"/>
              </a:rPr>
              <a:t>Data Preprocessing and Augmentation</a:t>
            </a:r>
            <a:br>
              <a:rPr lang="en-IN" sz="1800" b="1" dirty="0">
                <a:latin typeface="+mn-lt"/>
              </a:rPr>
            </a:br>
            <a:endParaRPr lang="en-IN" sz="1800" b="1" i="1" dirty="0">
              <a:latin typeface="+mn-lt"/>
            </a:endParaRPr>
          </a:p>
        </p:txBody>
      </p:sp>
      <p:sp>
        <p:nvSpPr>
          <p:cNvPr id="3" name="Content Placeholder 2">
            <a:extLst>
              <a:ext uri="{FF2B5EF4-FFF2-40B4-BE49-F238E27FC236}">
                <a16:creationId xmlns:a16="http://schemas.microsoft.com/office/drawing/2014/main" id="{B7F2555C-BDB2-860E-AFA0-C8F55153B9BB}"/>
              </a:ext>
            </a:extLst>
          </p:cNvPr>
          <p:cNvSpPr>
            <a:spLocks noGrp="1"/>
          </p:cNvSpPr>
          <p:nvPr>
            <p:ph idx="1"/>
          </p:nvPr>
        </p:nvSpPr>
        <p:spPr>
          <a:xfrm>
            <a:off x="385187" y="2893931"/>
            <a:ext cx="11413009" cy="535070"/>
          </a:xfrm>
        </p:spPr>
        <p:txBody>
          <a:bodyPr>
            <a:normAutofit/>
          </a:bodyPr>
          <a:lstStyle/>
          <a:p>
            <a:pPr marL="0" indent="0" algn="just">
              <a:buNone/>
            </a:pPr>
            <a:r>
              <a:rPr lang="en-IN" b="1" dirty="0"/>
              <a:t>📌</a:t>
            </a:r>
            <a:r>
              <a:rPr lang="en-IN" b="1" dirty="0">
                <a:latin typeface="Aptos" panose="020B0004020202020204" pitchFamily="34" charset="0"/>
                <a:cs typeface="Arial" panose="020B0604020202020204" pitchFamily="34" charset="0"/>
              </a:rPr>
              <a:t> </a:t>
            </a:r>
            <a:r>
              <a:rPr lang="en-IN" i="1" u="sng" dirty="0">
                <a:latin typeface="Aptos" panose="020B0004020202020204" pitchFamily="34" charset="0"/>
                <a:cs typeface="Arial" panose="020B0604020202020204" pitchFamily="34" charset="0"/>
              </a:rPr>
              <a:t>STEP 3</a:t>
            </a:r>
            <a:r>
              <a:rPr lang="en-IN" i="1" dirty="0">
                <a:latin typeface="Aptos" panose="020B0004020202020204" pitchFamily="34" charset="0"/>
                <a:cs typeface="Arial" panose="020B0604020202020204" pitchFamily="34" charset="0"/>
              </a:rPr>
              <a:t> </a:t>
            </a:r>
            <a:r>
              <a:rPr lang="en-IN" sz="2400" dirty="0">
                <a:latin typeface="Aptos" panose="020B0004020202020204" pitchFamily="34" charset="0"/>
                <a:cs typeface="Arial" panose="020B0604020202020204" pitchFamily="34" charset="0"/>
              </a:rPr>
              <a:t>:</a:t>
            </a:r>
            <a:r>
              <a:rPr lang="en-IN" sz="2400" i="1" dirty="0">
                <a:latin typeface="Aptos" panose="020B0004020202020204" pitchFamily="34" charset="0"/>
                <a:cs typeface="Arial" panose="020B0604020202020204" pitchFamily="34" charset="0"/>
              </a:rPr>
              <a:t> </a:t>
            </a:r>
            <a:r>
              <a:rPr lang="en-IN" sz="2400" b="1" dirty="0">
                <a:latin typeface="Arial" panose="020B0604020202020204" pitchFamily="34" charset="0"/>
                <a:cs typeface="Arial" panose="020B0604020202020204" pitchFamily="34" charset="0"/>
              </a:rPr>
              <a:t>Model Building (CNN) and Training</a:t>
            </a:r>
            <a:endParaRPr lang="en-US" sz="2400" dirty="0">
              <a:latin typeface="Arial" panose="020B0604020202020204" pitchFamily="34" charset="0"/>
              <a:cs typeface="Arial" panose="020B0604020202020204" pitchFamily="34" charset="0"/>
            </a:endParaRPr>
          </a:p>
          <a:p>
            <a:pPr marL="0" indent="0" algn="just">
              <a:buNone/>
            </a:pPr>
            <a:endParaRPr lang="en-US" sz="2000" dirty="0"/>
          </a:p>
          <a:p>
            <a:pPr marL="0" indent="0" algn="just">
              <a:buNone/>
            </a:pPr>
            <a:endParaRPr lang="en-IN" sz="3200" b="1" dirty="0"/>
          </a:p>
        </p:txBody>
      </p:sp>
      <p:pic>
        <p:nvPicPr>
          <p:cNvPr id="4" name="Picture 2" descr="Sister Nivedita University | Best Private College in India ...">
            <a:extLst>
              <a:ext uri="{FF2B5EF4-FFF2-40B4-BE49-F238E27FC236}">
                <a16:creationId xmlns:a16="http://schemas.microsoft.com/office/drawing/2014/main" id="{F5BE8FFB-94A9-531E-9705-D35354846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7481" y="155749"/>
            <a:ext cx="2130251" cy="6551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47B9E48-C1AF-A899-C4F5-D257C087FBCE}"/>
              </a:ext>
            </a:extLst>
          </p:cNvPr>
          <p:cNvSpPr/>
          <p:nvPr/>
        </p:nvSpPr>
        <p:spPr>
          <a:xfrm>
            <a:off x="213589" y="723062"/>
            <a:ext cx="5878102" cy="20543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b="1" u="sng" dirty="0">
                <a:latin typeface="Arial" panose="020B0604020202020204" pitchFamily="34" charset="0"/>
                <a:cs typeface="Arial" panose="020B0604020202020204" pitchFamily="34" charset="0"/>
              </a:rPr>
              <a:t>Preprocessing </a:t>
            </a:r>
          </a:p>
          <a:p>
            <a:pPr marL="285750" indent="-285750" algn="just">
              <a:buFont typeface="Arial" panose="020B0604020202020204" pitchFamily="34" charset="0"/>
              <a:buChar char="•"/>
            </a:pPr>
            <a:r>
              <a:rPr lang="en-US" b="1" dirty="0"/>
              <a:t>Image Resizing : </a:t>
            </a:r>
            <a:r>
              <a:rPr lang="en-US" dirty="0"/>
              <a:t>All images are resized to a fixed dimension (96×96) to ensure uniform input for the model.</a:t>
            </a:r>
          </a:p>
          <a:p>
            <a:pPr marL="285750" indent="-285750" algn="just">
              <a:buFont typeface="Arial" panose="020B0604020202020204" pitchFamily="34" charset="0"/>
              <a:buChar char="•"/>
            </a:pPr>
            <a:r>
              <a:rPr lang="en-US" b="1" dirty="0"/>
              <a:t>Normalization : </a:t>
            </a:r>
            <a:r>
              <a:rPr lang="en-US" dirty="0"/>
              <a:t>Pixel values are scaled from 0–255 to 0–1 to improve model performance and faster convergence.</a:t>
            </a:r>
          </a:p>
          <a:p>
            <a:pPr marL="285750" indent="-285750" algn="just">
              <a:buFont typeface="Arial" panose="020B0604020202020204" pitchFamily="34" charset="0"/>
              <a:buChar char="•"/>
            </a:pPr>
            <a:r>
              <a:rPr lang="en-US" b="1" dirty="0"/>
              <a:t>Dataset Splitting : </a:t>
            </a:r>
            <a:r>
              <a:rPr lang="en-US" dirty="0"/>
              <a:t>The dataset is divided into training and validation sets to evaluate model accuracy.</a:t>
            </a:r>
          </a:p>
        </p:txBody>
      </p:sp>
      <p:sp>
        <p:nvSpPr>
          <p:cNvPr id="6" name="Rectangle 5">
            <a:extLst>
              <a:ext uri="{FF2B5EF4-FFF2-40B4-BE49-F238E27FC236}">
                <a16:creationId xmlns:a16="http://schemas.microsoft.com/office/drawing/2014/main" id="{DF0EFEFE-65D0-AC73-AB4E-FA2125BF4AF2}"/>
              </a:ext>
            </a:extLst>
          </p:cNvPr>
          <p:cNvSpPr/>
          <p:nvPr/>
        </p:nvSpPr>
        <p:spPr>
          <a:xfrm>
            <a:off x="6243376" y="882424"/>
            <a:ext cx="5716020" cy="205438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285750" indent="-285750">
              <a:buFont typeface="Arial" panose="020B0604020202020204" pitchFamily="34" charset="0"/>
              <a:buChar char="•"/>
            </a:pPr>
            <a:endParaRPr lang="en-IN" dirty="0"/>
          </a:p>
        </p:txBody>
      </p:sp>
      <p:sp>
        <p:nvSpPr>
          <p:cNvPr id="12" name="Rectangle 3">
            <a:extLst>
              <a:ext uri="{FF2B5EF4-FFF2-40B4-BE49-F238E27FC236}">
                <a16:creationId xmlns:a16="http://schemas.microsoft.com/office/drawing/2014/main" id="{7E40582A-18EE-EBEF-AF92-627282E17C95}"/>
              </a:ext>
            </a:extLst>
          </p:cNvPr>
          <p:cNvSpPr>
            <a:spLocks noChangeArrowheads="1"/>
          </p:cNvSpPr>
          <p:nvPr/>
        </p:nvSpPr>
        <p:spPr bwMode="auto">
          <a:xfrm>
            <a:off x="6440993" y="734593"/>
            <a:ext cx="528226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IN" b="1" u="sng" dirty="0">
                <a:latin typeface="Arial" panose="020B0604020202020204" pitchFamily="34" charset="0"/>
                <a:cs typeface="Arial" panose="020B0604020202020204" pitchFamily="34" charset="0"/>
              </a:rPr>
              <a:t>Augmentation </a:t>
            </a:r>
          </a:p>
          <a:p>
            <a:pPr marL="285750" lvl="0" indent="-285750" algn="just" eaLnBrk="0" fontAlgn="base" hangingPunct="0">
              <a:spcBef>
                <a:spcPct val="0"/>
              </a:spcBef>
              <a:spcAft>
                <a:spcPct val="0"/>
              </a:spcAft>
              <a:buFont typeface="Arial" panose="020B0604020202020204" pitchFamily="34" charset="0"/>
              <a:buChar char="•"/>
            </a:pPr>
            <a:r>
              <a:rPr kumimoji="0" lang="en-US" altLang="en-US" b="1" i="0" u="none" strike="noStrike" cap="none" normalizeH="0" baseline="0" dirty="0">
                <a:ln>
                  <a:noFill/>
                </a:ln>
                <a:solidFill>
                  <a:schemeClr val="tx1"/>
                </a:solidFill>
                <a:effectLst/>
              </a:rPr>
              <a:t>Rotation &amp; Zoom</a:t>
            </a:r>
            <a:r>
              <a:rPr lang="en-US" altLang="en-US" dirty="0"/>
              <a:t> : </a:t>
            </a:r>
            <a:r>
              <a:rPr kumimoji="0" lang="en-US" altLang="en-US" b="0" i="0" u="none" strike="noStrike" cap="none" normalizeH="0" baseline="0" dirty="0">
                <a:ln>
                  <a:noFill/>
                </a:ln>
                <a:solidFill>
                  <a:schemeClr val="tx1"/>
                </a:solidFill>
                <a:effectLst/>
              </a:rPr>
              <a:t>Images are rotated and zoomed to handle different angles and scales.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rPr>
              <a:t>Horizontal Flip</a:t>
            </a:r>
            <a:r>
              <a:rPr lang="en-US" altLang="en-US" dirty="0"/>
              <a:t> : </a:t>
            </a:r>
            <a:r>
              <a:rPr kumimoji="0" lang="en-US" altLang="en-US" b="0" i="0" u="none" strike="noStrike" cap="none" normalizeH="0" baseline="0" dirty="0">
                <a:ln>
                  <a:noFill/>
                </a:ln>
                <a:solidFill>
                  <a:schemeClr val="tx1"/>
                </a:solidFill>
                <a:effectLst/>
              </a:rPr>
              <a:t>Flipping increases data variation and improves generalization.</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rPr>
              <a:t>Reduce Overfitting</a:t>
            </a:r>
            <a:r>
              <a:rPr lang="en-US" altLang="en-US" dirty="0"/>
              <a:t> : </a:t>
            </a:r>
            <a:r>
              <a:rPr kumimoji="0" lang="en-US" altLang="en-US" b="0" i="0" u="none" strike="noStrike" cap="none" normalizeH="0" baseline="0" dirty="0">
                <a:ln>
                  <a:noFill/>
                </a:ln>
                <a:solidFill>
                  <a:schemeClr val="tx1"/>
                </a:solidFill>
                <a:effectLst/>
              </a:rPr>
              <a:t>Helps the model learn better and perform well on unseen data. </a:t>
            </a:r>
          </a:p>
        </p:txBody>
      </p:sp>
      <p:sp>
        <p:nvSpPr>
          <p:cNvPr id="14" name="TextBox 13">
            <a:extLst>
              <a:ext uri="{FF2B5EF4-FFF2-40B4-BE49-F238E27FC236}">
                <a16:creationId xmlns:a16="http://schemas.microsoft.com/office/drawing/2014/main" id="{1EDA85A1-7DC8-5B3A-12A5-73D00FC21EC0}"/>
              </a:ext>
            </a:extLst>
          </p:cNvPr>
          <p:cNvSpPr txBox="1"/>
          <p:nvPr/>
        </p:nvSpPr>
        <p:spPr>
          <a:xfrm>
            <a:off x="186617" y="3273998"/>
            <a:ext cx="6094324" cy="369332"/>
          </a:xfrm>
          <a:prstGeom prst="rect">
            <a:avLst/>
          </a:prstGeom>
          <a:noFill/>
        </p:spPr>
        <p:txBody>
          <a:bodyPr wrap="square">
            <a:spAutoFit/>
          </a:bodyPr>
          <a:lstStyle/>
          <a:p>
            <a:pPr algn="ctr"/>
            <a:r>
              <a:rPr lang="en-IN" b="1" u="sng" dirty="0">
                <a:latin typeface="Arial" panose="020B0604020202020204" pitchFamily="34" charset="0"/>
                <a:cs typeface="Arial" panose="020B0604020202020204" pitchFamily="34" charset="0"/>
              </a:rPr>
              <a:t> </a:t>
            </a:r>
          </a:p>
        </p:txBody>
      </p:sp>
      <p:sp>
        <p:nvSpPr>
          <p:cNvPr id="15" name="TextBox 14">
            <a:extLst>
              <a:ext uri="{FF2B5EF4-FFF2-40B4-BE49-F238E27FC236}">
                <a16:creationId xmlns:a16="http://schemas.microsoft.com/office/drawing/2014/main" id="{0B7C3E6F-7355-5E96-663D-1E3CF235CAC7}"/>
              </a:ext>
            </a:extLst>
          </p:cNvPr>
          <p:cNvSpPr txBox="1"/>
          <p:nvPr/>
        </p:nvSpPr>
        <p:spPr>
          <a:xfrm>
            <a:off x="6479511" y="3245992"/>
            <a:ext cx="5479885" cy="2000548"/>
          </a:xfrm>
          <a:prstGeom prst="rect">
            <a:avLst/>
          </a:prstGeom>
          <a:noFill/>
        </p:spPr>
        <p:txBody>
          <a:bodyPr wrap="square">
            <a:spAutoFit/>
          </a:bodyPr>
          <a:lstStyle/>
          <a:p>
            <a:pPr algn="ctr"/>
            <a:r>
              <a:rPr lang="en-IN" sz="1600" b="1" u="sng" dirty="0">
                <a:latin typeface="Arial" panose="020B0604020202020204" pitchFamily="34" charset="0"/>
                <a:cs typeface="Arial" panose="020B0604020202020204" pitchFamily="34" charset="0"/>
              </a:rPr>
              <a:t>Training </a:t>
            </a:r>
          </a:p>
          <a:p>
            <a:pPr marL="285750" indent="-285750">
              <a:buFont typeface="Arial" panose="020B0604020202020204" pitchFamily="34" charset="0"/>
              <a:buChar char="•"/>
            </a:pPr>
            <a:r>
              <a:rPr lang="en-IN" b="1" dirty="0"/>
              <a:t>Loss Function : </a:t>
            </a:r>
            <a:r>
              <a:rPr lang="en-IN" dirty="0"/>
              <a:t>Categorical Crossentropy for multi-class classification.</a:t>
            </a:r>
          </a:p>
          <a:p>
            <a:pPr marL="285750" indent="-285750">
              <a:buFont typeface="Arial" panose="020B0604020202020204" pitchFamily="34" charset="0"/>
              <a:buChar char="•"/>
            </a:pPr>
            <a:r>
              <a:rPr lang="en-IN" b="1" dirty="0"/>
              <a:t>Optimizer &amp; Metrics : </a:t>
            </a:r>
            <a:r>
              <a:rPr lang="en-IN" dirty="0"/>
              <a:t>Adam optimizer with accuracy as evaluation metric.</a:t>
            </a:r>
          </a:p>
          <a:p>
            <a:pPr marL="285750" indent="-285750">
              <a:buFont typeface="Arial" panose="020B0604020202020204" pitchFamily="34" charset="0"/>
              <a:buChar char="•"/>
            </a:pPr>
            <a:r>
              <a:rPr lang="en-IN" b="1" dirty="0"/>
              <a:t>Training Process : </a:t>
            </a:r>
            <a:r>
              <a:rPr lang="en-IN" dirty="0"/>
              <a:t>Model trained for approximately 100–150 epochs.</a:t>
            </a:r>
          </a:p>
        </p:txBody>
      </p:sp>
      <p:sp>
        <p:nvSpPr>
          <p:cNvPr id="21" name="Rectangle 8">
            <a:extLst>
              <a:ext uri="{FF2B5EF4-FFF2-40B4-BE49-F238E27FC236}">
                <a16:creationId xmlns:a16="http://schemas.microsoft.com/office/drawing/2014/main" id="{3B0C4A41-BD7E-5018-A52B-AEA06EB4020C}"/>
              </a:ext>
            </a:extLst>
          </p:cNvPr>
          <p:cNvSpPr>
            <a:spLocks noChangeArrowheads="1"/>
          </p:cNvSpPr>
          <p:nvPr/>
        </p:nvSpPr>
        <p:spPr bwMode="auto">
          <a:xfrm>
            <a:off x="292833" y="3280974"/>
            <a:ext cx="608046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100000"/>
              </a:lnSpc>
              <a:spcBef>
                <a:spcPct val="0"/>
              </a:spcBef>
              <a:spcAft>
                <a:spcPct val="0"/>
              </a:spcAft>
              <a:buClrTx/>
              <a:buSzTx/>
              <a:tabLst/>
            </a:pPr>
            <a:r>
              <a:rPr kumimoji="0" lang="en-US" altLang="en-US" b="1" i="0" u="sng" strike="noStrike" cap="none" normalizeH="0" baseline="0" dirty="0">
                <a:ln>
                  <a:noFill/>
                </a:ln>
                <a:solidFill>
                  <a:schemeClr val="tx1"/>
                </a:solidFill>
                <a:effectLst/>
              </a:rPr>
              <a:t>Building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rPr>
              <a:t>CNN Architecture</a:t>
            </a:r>
            <a:r>
              <a:rPr lang="en-US" altLang="en-US" dirty="0"/>
              <a:t> : </a:t>
            </a:r>
            <a:r>
              <a:rPr kumimoji="0" lang="en-US" altLang="en-US" b="0" i="0" u="none" strike="noStrike" cap="none" normalizeH="0" baseline="0" dirty="0">
                <a:ln>
                  <a:noFill/>
                </a:ln>
                <a:solidFill>
                  <a:schemeClr val="tx1"/>
                </a:solidFill>
                <a:effectLst/>
              </a:rPr>
              <a:t>Custom CNN with 3 Conv + MaxPooling layers (32, 64, 128 filters)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rPr>
              <a:t>Feature &amp; Classification Layers</a:t>
            </a:r>
            <a:r>
              <a:rPr lang="en-US" altLang="en-US" dirty="0"/>
              <a:t> : </a:t>
            </a:r>
            <a:r>
              <a:rPr kumimoji="0" lang="en-US" altLang="en-US" b="0" i="0" u="none" strike="noStrike" cap="none" normalizeH="0" baseline="0" dirty="0">
                <a:ln>
                  <a:noFill/>
                </a:ln>
                <a:solidFill>
                  <a:schemeClr val="tx1"/>
                </a:solidFill>
                <a:effectLst/>
              </a:rPr>
              <a:t>Flatten layer with Dense (128, ReLU) and Dropout (0.4).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b="1" i="0" u="none" strike="noStrike" cap="none" normalizeH="0" baseline="0" dirty="0">
                <a:ln>
                  <a:noFill/>
                </a:ln>
                <a:solidFill>
                  <a:schemeClr val="tx1"/>
                </a:solidFill>
                <a:effectLst/>
              </a:rPr>
              <a:t>Output &amp; Optimization</a:t>
            </a:r>
            <a:r>
              <a:rPr lang="en-US" altLang="en-US" dirty="0"/>
              <a:t> : </a:t>
            </a:r>
            <a:r>
              <a:rPr kumimoji="0" lang="en-US" altLang="en-US" b="0" i="0" u="none" strike="noStrike" cap="none" normalizeH="0" baseline="0" dirty="0">
                <a:ln>
                  <a:noFill/>
                </a:ln>
                <a:solidFill>
                  <a:schemeClr val="tx1"/>
                </a:solidFill>
                <a:effectLst/>
              </a:rPr>
              <a:t>Softmax layer (7 classes) with Adam optimizer and EarlyStopping. </a:t>
            </a:r>
          </a:p>
        </p:txBody>
      </p:sp>
      <p:sp>
        <p:nvSpPr>
          <p:cNvPr id="22" name="TextBox 21">
            <a:extLst>
              <a:ext uri="{FF2B5EF4-FFF2-40B4-BE49-F238E27FC236}">
                <a16:creationId xmlns:a16="http://schemas.microsoft.com/office/drawing/2014/main" id="{5F0BD317-809F-84D0-5D02-52FB321332D6}"/>
              </a:ext>
            </a:extLst>
          </p:cNvPr>
          <p:cNvSpPr txBox="1"/>
          <p:nvPr/>
        </p:nvSpPr>
        <p:spPr>
          <a:xfrm>
            <a:off x="213589" y="5312299"/>
            <a:ext cx="5903732" cy="523220"/>
          </a:xfrm>
          <a:prstGeom prst="rect">
            <a:avLst/>
          </a:prstGeom>
          <a:noFill/>
        </p:spPr>
        <p:txBody>
          <a:bodyPr wrap="none" rtlCol="0">
            <a:spAutoFit/>
          </a:bodyPr>
          <a:lstStyle/>
          <a:p>
            <a:pPr algn="just"/>
            <a:r>
              <a:rPr lang="en-IN" sz="2800" b="1" dirty="0">
                <a:latin typeface="Aptos" panose="020B0004020202020204" pitchFamily="34" charset="0"/>
              </a:rPr>
              <a:t>📌</a:t>
            </a:r>
            <a:r>
              <a:rPr lang="en-IN" sz="2800" b="1" dirty="0">
                <a:latin typeface="Aptos" panose="020B0004020202020204" pitchFamily="34" charset="0"/>
                <a:cs typeface="Arial" panose="020B0604020202020204" pitchFamily="34" charset="0"/>
              </a:rPr>
              <a:t> </a:t>
            </a:r>
            <a:r>
              <a:rPr lang="en-IN" sz="2800" i="1" u="sng" dirty="0">
                <a:latin typeface="Aptos" panose="020B0004020202020204" pitchFamily="34" charset="0"/>
                <a:cs typeface="Arial" panose="020B0604020202020204" pitchFamily="34" charset="0"/>
              </a:rPr>
              <a:t>STEP 4</a:t>
            </a:r>
            <a:r>
              <a:rPr lang="en-IN" sz="2800" i="1" dirty="0">
                <a:latin typeface="Aptos" panose="020B0004020202020204" pitchFamily="34" charset="0"/>
                <a:cs typeface="Arial" panose="020B0604020202020204" pitchFamily="34" charset="0"/>
              </a:rPr>
              <a:t> </a:t>
            </a:r>
            <a:r>
              <a:rPr lang="en-IN" dirty="0">
                <a:latin typeface="Aptos" panose="020B0004020202020204" pitchFamily="34" charset="0"/>
                <a:cs typeface="Arial" panose="020B0604020202020204" pitchFamily="34" charset="0"/>
              </a:rPr>
              <a:t>:</a:t>
            </a:r>
            <a:r>
              <a:rPr lang="en-IN" i="1" dirty="0">
                <a:latin typeface="Aptos" panose="020B0004020202020204" pitchFamily="34" charset="0"/>
                <a:cs typeface="Arial" panose="020B0604020202020204" pitchFamily="34" charset="0"/>
              </a:rPr>
              <a:t> </a:t>
            </a:r>
            <a:r>
              <a:rPr lang="en-IN" sz="2400" b="1" dirty="0">
                <a:latin typeface="Arial" panose="020B0604020202020204" pitchFamily="34" charset="0"/>
                <a:cs typeface="Arial" panose="020B0604020202020204" pitchFamily="34" charset="0"/>
              </a:rPr>
              <a:t>Model Evaluation &amp; Saving</a:t>
            </a:r>
            <a:endParaRPr lang="en-US" sz="2400" b="1" dirty="0">
              <a:latin typeface="Arial" panose="020B0604020202020204" pitchFamily="34" charset="0"/>
              <a:cs typeface="Arial" panose="020B0604020202020204" pitchFamily="34" charset="0"/>
            </a:endParaRPr>
          </a:p>
        </p:txBody>
      </p:sp>
      <p:sp>
        <p:nvSpPr>
          <p:cNvPr id="23" name="Rectangle 9">
            <a:extLst>
              <a:ext uri="{FF2B5EF4-FFF2-40B4-BE49-F238E27FC236}">
                <a16:creationId xmlns:a16="http://schemas.microsoft.com/office/drawing/2014/main" id="{70D636C4-BD8F-56AA-DF2D-FAA72D4822C1}"/>
              </a:ext>
            </a:extLst>
          </p:cNvPr>
          <p:cNvSpPr>
            <a:spLocks noChangeArrowheads="1"/>
          </p:cNvSpPr>
          <p:nvPr/>
        </p:nvSpPr>
        <p:spPr bwMode="auto">
          <a:xfrm>
            <a:off x="226987" y="5778921"/>
            <a:ext cx="1173240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Performance Evaluation</a:t>
            </a:r>
            <a:r>
              <a:rPr lang="en-US" altLang="en-US" dirty="0">
                <a:latin typeface="Arial" panose="020B0604020202020204" pitchFamily="34" charset="0"/>
              </a:rPr>
              <a:t> : </a:t>
            </a:r>
            <a:r>
              <a:rPr kumimoji="0" lang="en-US" altLang="en-US" sz="1800" b="0" i="0" u="none" strike="noStrike" cap="none" normalizeH="0" baseline="0" dirty="0">
                <a:ln>
                  <a:noFill/>
                </a:ln>
                <a:solidFill>
                  <a:schemeClr val="tx1"/>
                </a:solidFill>
                <a:effectLst/>
                <a:latin typeface="Arial" panose="020B0604020202020204" pitchFamily="34" charset="0"/>
              </a:rPr>
              <a:t>Generated </a:t>
            </a:r>
            <a:r>
              <a:rPr kumimoji="0" lang="en-US" altLang="en-US" sz="1800" b="1" i="0" u="none" strike="noStrike" cap="none" normalizeH="0" baseline="0" dirty="0">
                <a:ln>
                  <a:noFill/>
                </a:ln>
                <a:solidFill>
                  <a:schemeClr val="tx1"/>
                </a:solidFill>
                <a:effectLst/>
                <a:latin typeface="Arial" panose="020B0604020202020204" pitchFamily="34" charset="0"/>
              </a:rPr>
              <a:t>accuracy &amp; loss graphs </a:t>
            </a:r>
            <a:r>
              <a:rPr kumimoji="0" lang="en-US" altLang="en-US" sz="1800" b="0" i="0" u="none" strike="noStrike" cap="none" normalizeH="0" baseline="0" dirty="0">
                <a:ln>
                  <a:noFill/>
                </a:ln>
                <a:solidFill>
                  <a:schemeClr val="tx1"/>
                </a:solidFill>
                <a:effectLst/>
                <a:latin typeface="Arial" panose="020B0604020202020204" pitchFamily="34" charset="0"/>
              </a:rPr>
              <a:t>and used </a:t>
            </a:r>
            <a:r>
              <a:rPr kumimoji="0" lang="en-US" altLang="en-US" sz="1800" b="1" i="0" u="none" strike="noStrike" cap="none" normalizeH="0" baseline="0" dirty="0">
                <a:ln>
                  <a:noFill/>
                </a:ln>
                <a:solidFill>
                  <a:schemeClr val="tx1"/>
                </a:solidFill>
                <a:effectLst/>
                <a:latin typeface="Arial" panose="020B0604020202020204" pitchFamily="34" charset="0"/>
              </a:rPr>
              <a:t>confusion matrix </a:t>
            </a:r>
            <a:r>
              <a:rPr kumimoji="0" lang="en-US" altLang="en-US" sz="1800" b="0" i="0" u="none" strike="noStrike" cap="none" normalizeH="0" baseline="0" dirty="0">
                <a:ln>
                  <a:noFill/>
                </a:ln>
                <a:solidFill>
                  <a:schemeClr val="tx1"/>
                </a:solidFill>
                <a:effectLst/>
                <a:latin typeface="Arial" panose="020B0604020202020204" pitchFamily="34" charset="0"/>
              </a:rPr>
              <a:t>to analyze model performance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 Saving</a:t>
            </a:r>
            <a:r>
              <a:rPr lang="en-US" altLang="en-US"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Saved the best-performing model (</a:t>
            </a:r>
            <a:r>
              <a:rPr kumimoji="0" lang="en-US" altLang="en-US" sz="1800" b="0" i="1" u="none" strike="noStrike" cap="none" normalizeH="0" baseline="0" dirty="0">
                <a:ln>
                  <a:noFill/>
                </a:ln>
                <a:solidFill>
                  <a:schemeClr val="tx1"/>
                </a:solidFill>
                <a:effectLst/>
                <a:latin typeface="Arial" panose="020B0604020202020204" pitchFamily="34" charset="0"/>
              </a:rPr>
              <a:t>best_model.h5</a:t>
            </a:r>
            <a:r>
              <a:rPr kumimoji="0" lang="en-US" altLang="en-US" sz="1800" b="0" i="0" u="none" strike="noStrike" cap="none" normalizeH="0" baseline="0" dirty="0">
                <a:ln>
                  <a:noFill/>
                </a:ln>
                <a:solidFill>
                  <a:schemeClr val="tx1"/>
                </a:solidFill>
                <a:effectLst/>
                <a:latin typeface="Arial" panose="020B0604020202020204" pitchFamily="34" charset="0"/>
              </a:rPr>
              <a:t>) for real-time prediction. </a:t>
            </a:r>
          </a:p>
        </p:txBody>
      </p:sp>
    </p:spTree>
    <p:extLst>
      <p:ext uri="{BB962C8B-B14F-4D97-AF65-F5344CB8AC3E}">
        <p14:creationId xmlns:p14="http://schemas.microsoft.com/office/powerpoint/2010/main" val="1292915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96F59DA-5634-0728-A3FF-CAB741983691}"/>
              </a:ext>
            </a:extLst>
          </p:cNvPr>
          <p:cNvSpPr>
            <a:spLocks noGrp="1"/>
          </p:cNvSpPr>
          <p:nvPr>
            <p:ph type="title"/>
          </p:nvPr>
        </p:nvSpPr>
        <p:spPr>
          <a:xfrm>
            <a:off x="277977" y="2487807"/>
            <a:ext cx="8071233" cy="824646"/>
          </a:xfrm>
        </p:spPr>
        <p:txBody>
          <a:bodyPr>
            <a:normAutofit/>
          </a:bodyPr>
          <a:lstStyle/>
          <a:p>
            <a:r>
              <a:rPr lang="en-IN" b="1" dirty="0"/>
              <a:t>📌</a:t>
            </a:r>
            <a:r>
              <a:rPr lang="en-IN" sz="2400" b="1" dirty="0">
                <a:latin typeface="Arial" panose="020B0604020202020204" pitchFamily="34" charset="0"/>
                <a:cs typeface="Arial" panose="020B0604020202020204" pitchFamily="34" charset="0"/>
              </a:rPr>
              <a:t>Techniques/Technologies Used</a:t>
            </a:r>
          </a:p>
        </p:txBody>
      </p:sp>
      <p:pic>
        <p:nvPicPr>
          <p:cNvPr id="16" name="Picture 2" descr="Sister Nivedita University | Best Private College in India ...">
            <a:extLst>
              <a:ext uri="{FF2B5EF4-FFF2-40B4-BE49-F238E27FC236}">
                <a16:creationId xmlns:a16="http://schemas.microsoft.com/office/drawing/2014/main" id="{2EE071A2-42DE-FE7A-8CDA-F51B22D751A1}"/>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l="-4457" t="5817" r="-4127" b="-2"/>
          <a:stretch>
            <a:fillRect/>
          </a:stretch>
        </p:blipFill>
        <p:spPr bwMode="auto">
          <a:xfrm>
            <a:off x="9887577" y="46574"/>
            <a:ext cx="2304423" cy="615009"/>
          </a:xfrm>
          <a:prstGeom prst="rect">
            <a:avLst/>
          </a:prstGeom>
          <a:noFill/>
          <a:extLst>
            <a:ext uri="{909E8E84-426E-40DD-AFC4-6F175D3DCCD1}">
              <a14:hiddenFill xmlns:a14="http://schemas.microsoft.com/office/drawing/2010/main">
                <a:solidFill>
                  <a:srgbClr val="FFFFFF"/>
                </a:solidFill>
              </a14:hiddenFill>
            </a:ext>
          </a:extLst>
        </p:spPr>
      </p:pic>
      <p:sp>
        <p:nvSpPr>
          <p:cNvPr id="27" name="Oval 26">
            <a:extLst>
              <a:ext uri="{FF2B5EF4-FFF2-40B4-BE49-F238E27FC236}">
                <a16:creationId xmlns:a16="http://schemas.microsoft.com/office/drawing/2014/main" id="{D6F47A75-6B56-8655-F765-8676636F3E95}"/>
              </a:ext>
            </a:extLst>
          </p:cNvPr>
          <p:cNvSpPr/>
          <p:nvPr/>
        </p:nvSpPr>
        <p:spPr>
          <a:xfrm>
            <a:off x="239561" y="940309"/>
            <a:ext cx="1678075" cy="1637881"/>
          </a:xfrm>
          <a:prstGeom prst="ellipse">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b="1" dirty="0">
                <a:solidFill>
                  <a:srgbClr val="081012"/>
                </a:solidFill>
              </a:rPr>
              <a:t> Dataset Collection      (Kaggle FED Dataset)</a:t>
            </a:r>
            <a:endParaRPr lang="en-IN" b="1" dirty="0">
              <a:solidFill>
                <a:srgbClr val="081012"/>
              </a:solidFill>
            </a:endParaRPr>
          </a:p>
        </p:txBody>
      </p:sp>
      <p:sp>
        <p:nvSpPr>
          <p:cNvPr id="28" name="Rectangle 27">
            <a:extLst>
              <a:ext uri="{FF2B5EF4-FFF2-40B4-BE49-F238E27FC236}">
                <a16:creationId xmlns:a16="http://schemas.microsoft.com/office/drawing/2014/main" id="{AC5AB17C-8ABB-8768-1595-C657DC808369}"/>
              </a:ext>
            </a:extLst>
          </p:cNvPr>
          <p:cNvSpPr/>
          <p:nvPr/>
        </p:nvSpPr>
        <p:spPr>
          <a:xfrm>
            <a:off x="2046734" y="933959"/>
            <a:ext cx="2176736" cy="1595442"/>
          </a:xfrm>
          <a:prstGeom prst="rect">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sz="1200" b="1" dirty="0">
              <a:ln w="0"/>
              <a:solidFill>
                <a:schemeClr val="tx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A0519949-F5B4-C740-0841-4194F261EDDC}"/>
              </a:ext>
            </a:extLst>
          </p:cNvPr>
          <p:cNvSpPr/>
          <p:nvPr/>
        </p:nvSpPr>
        <p:spPr>
          <a:xfrm>
            <a:off x="4458475" y="903401"/>
            <a:ext cx="1893891" cy="1637881"/>
          </a:xfrm>
          <a:prstGeom prst="rect">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dirty="0">
                <a:solidFill>
                  <a:schemeClr val="tx1"/>
                </a:solidFill>
              </a:rPr>
              <a:t>Model Design (CNN + Transfer Learning)</a:t>
            </a:r>
          </a:p>
          <a:p>
            <a:pPr marL="171450" indent="-171450" algn="ctr">
              <a:buFont typeface="Arial" panose="020B0604020202020204" pitchFamily="34" charset="0"/>
              <a:buChar char="•"/>
            </a:pPr>
            <a:r>
              <a:rPr lang="en-US" sz="1200" b="1" dirty="0">
                <a:solidFill>
                  <a:schemeClr val="tx1"/>
                </a:solidFill>
              </a:rPr>
              <a:t>Freeze Initial Layers </a:t>
            </a:r>
          </a:p>
          <a:p>
            <a:pPr algn="ctr"/>
            <a:r>
              <a:rPr lang="en-US" sz="1200" b="1" dirty="0">
                <a:solidFill>
                  <a:schemeClr val="tx1"/>
                </a:solidFill>
              </a:rPr>
              <a:t>BatchNorm &amp; Dropout Layers </a:t>
            </a:r>
          </a:p>
          <a:p>
            <a:pPr marL="171450" indent="-171450" algn="ctr">
              <a:buFont typeface="Arial" panose="020B0604020202020204" pitchFamily="34" charset="0"/>
              <a:buChar char="•"/>
            </a:pPr>
            <a:r>
              <a:rPr lang="en-US" sz="1200" b="1" dirty="0">
                <a:solidFill>
                  <a:schemeClr val="tx1"/>
                </a:solidFill>
              </a:rPr>
              <a:t>Custom Dense Layers (7 Classes)</a:t>
            </a:r>
          </a:p>
        </p:txBody>
      </p:sp>
      <p:sp>
        <p:nvSpPr>
          <p:cNvPr id="30" name="Oval 29">
            <a:extLst>
              <a:ext uri="{FF2B5EF4-FFF2-40B4-BE49-F238E27FC236}">
                <a16:creationId xmlns:a16="http://schemas.microsoft.com/office/drawing/2014/main" id="{DD592ACB-C3A9-C379-AEED-FB9588D8DA3D}"/>
              </a:ext>
            </a:extLst>
          </p:cNvPr>
          <p:cNvSpPr/>
          <p:nvPr/>
        </p:nvSpPr>
        <p:spPr>
          <a:xfrm>
            <a:off x="6546107" y="673465"/>
            <a:ext cx="1780916" cy="2165628"/>
          </a:xfrm>
          <a:prstGeom prst="ellipse">
            <a:avLst/>
          </a:prstGeom>
          <a:noFill/>
          <a:effectLst>
            <a:glow rad="1016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200" b="1" dirty="0">
                <a:solidFill>
                  <a:schemeClr val="tx1"/>
                </a:solidFill>
              </a:rPr>
              <a:t>Model Training</a:t>
            </a:r>
          </a:p>
          <a:p>
            <a:pPr marL="171450" indent="-171450" algn="ctr">
              <a:buFont typeface="Wingdings" panose="05000000000000000000" pitchFamily="2" charset="2"/>
              <a:buChar char="q"/>
            </a:pPr>
            <a:r>
              <a:rPr lang="en-IN" sz="1200" b="1" dirty="0">
                <a:solidFill>
                  <a:schemeClr val="tx1"/>
                </a:solidFill>
              </a:rPr>
              <a:t>Adam Optimizer (Low LR) </a:t>
            </a:r>
          </a:p>
          <a:p>
            <a:pPr marL="171450" indent="-171450" algn="ctr">
              <a:buFont typeface="Wingdings" panose="05000000000000000000" pitchFamily="2" charset="2"/>
              <a:buChar char="q"/>
            </a:pPr>
            <a:r>
              <a:rPr lang="en-IN" sz="1200" b="1" dirty="0">
                <a:solidFill>
                  <a:schemeClr val="tx1"/>
                </a:solidFill>
              </a:rPr>
              <a:t>Sparse Categorical Crossentropy </a:t>
            </a:r>
          </a:p>
          <a:p>
            <a:pPr marL="171450" indent="-171450" algn="ctr">
              <a:buFont typeface="Wingdings" panose="05000000000000000000" pitchFamily="2" charset="2"/>
              <a:buChar char="q"/>
            </a:pPr>
            <a:r>
              <a:rPr lang="en-IN" sz="1200" b="1" dirty="0">
                <a:solidFill>
                  <a:schemeClr val="tx1"/>
                </a:solidFill>
              </a:rPr>
              <a:t>EarlyStopping &amp; Checkpoint </a:t>
            </a:r>
          </a:p>
        </p:txBody>
      </p:sp>
      <p:sp>
        <p:nvSpPr>
          <p:cNvPr id="31" name="Rectangle 30">
            <a:extLst>
              <a:ext uri="{FF2B5EF4-FFF2-40B4-BE49-F238E27FC236}">
                <a16:creationId xmlns:a16="http://schemas.microsoft.com/office/drawing/2014/main" id="{C68C24D9-8469-7AA8-690F-843A797BA370}"/>
              </a:ext>
            </a:extLst>
          </p:cNvPr>
          <p:cNvSpPr/>
          <p:nvPr/>
        </p:nvSpPr>
        <p:spPr>
          <a:xfrm>
            <a:off x="8519888" y="933959"/>
            <a:ext cx="1668027" cy="1644231"/>
          </a:xfrm>
          <a:prstGeom prst="rect">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b="1" dirty="0">
                <a:solidFill>
                  <a:schemeClr val="tx1"/>
                </a:solidFill>
              </a:rPr>
              <a:t>Evaluation &amp; Validation</a:t>
            </a:r>
          </a:p>
          <a:p>
            <a:pPr marL="285750" indent="-285750" algn="ctr">
              <a:buFont typeface="Wingdings" panose="05000000000000000000" pitchFamily="2" charset="2"/>
              <a:buChar char="q"/>
            </a:pPr>
            <a:r>
              <a:rPr lang="en-US" sz="1400" dirty="0">
                <a:solidFill>
                  <a:schemeClr val="tx1"/>
                </a:solidFill>
              </a:rPr>
              <a:t>Accuracy &amp; Loss Curves </a:t>
            </a:r>
          </a:p>
          <a:p>
            <a:pPr marL="285750" indent="-285750" algn="ctr">
              <a:buFont typeface="Wingdings" panose="05000000000000000000" pitchFamily="2" charset="2"/>
              <a:buChar char="q"/>
            </a:pPr>
            <a:r>
              <a:rPr lang="en-US" sz="1400" dirty="0">
                <a:solidFill>
                  <a:schemeClr val="tx1"/>
                </a:solidFill>
              </a:rPr>
              <a:t>Top-K Accuracy </a:t>
            </a:r>
          </a:p>
          <a:p>
            <a:pPr marL="285750" indent="-285750" algn="ctr">
              <a:buFont typeface="Wingdings" panose="05000000000000000000" pitchFamily="2" charset="2"/>
              <a:buChar char="q"/>
            </a:pPr>
            <a:r>
              <a:rPr lang="en-US" sz="1400" dirty="0">
                <a:solidFill>
                  <a:schemeClr val="tx1"/>
                </a:solidFill>
              </a:rPr>
              <a:t>Confusion Matrix</a:t>
            </a:r>
          </a:p>
        </p:txBody>
      </p:sp>
      <p:sp>
        <p:nvSpPr>
          <p:cNvPr id="32" name="Oval 31">
            <a:extLst>
              <a:ext uri="{FF2B5EF4-FFF2-40B4-BE49-F238E27FC236}">
                <a16:creationId xmlns:a16="http://schemas.microsoft.com/office/drawing/2014/main" id="{18FE1FD0-EE4B-2F3F-65F7-E0B4F453A217}"/>
              </a:ext>
            </a:extLst>
          </p:cNvPr>
          <p:cNvSpPr/>
          <p:nvPr/>
        </p:nvSpPr>
        <p:spPr>
          <a:xfrm>
            <a:off x="10380780" y="933960"/>
            <a:ext cx="1668026" cy="1492499"/>
          </a:xfrm>
          <a:prstGeom prst="ellipse">
            <a:avLst/>
          </a:prstGeom>
          <a:noFill/>
          <a:effectLst>
            <a:glow rad="139700">
              <a:schemeClr val="accent3">
                <a:satMod val="175000"/>
                <a:alpha val="40000"/>
              </a:schemeClr>
            </a:glow>
            <a:outerShdw blurRad="63500" sx="102000" sy="102000" algn="ctr"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sz="1200" b="1" dirty="0">
                <a:solidFill>
                  <a:schemeClr val="tx1"/>
                </a:solidFill>
              </a:rPr>
              <a:t> </a:t>
            </a:r>
            <a:r>
              <a:rPr lang="en-US" sz="1200" b="1" dirty="0">
                <a:solidFill>
                  <a:schemeClr val="tx1"/>
                </a:solidFill>
              </a:rPr>
              <a:t>Emotion Classification</a:t>
            </a:r>
            <a:br>
              <a:rPr lang="en-US" sz="1200" b="1" dirty="0">
                <a:solidFill>
                  <a:schemeClr val="tx1"/>
                </a:solidFill>
              </a:rPr>
            </a:br>
            <a:r>
              <a:rPr lang="en-US" sz="1200" b="1" dirty="0">
                <a:solidFill>
                  <a:schemeClr val="tx1"/>
                </a:solidFill>
              </a:rPr>
              <a:t>(7 Classes Prediction)</a:t>
            </a:r>
            <a:br>
              <a:rPr lang="en-US" sz="1200" b="1" dirty="0">
                <a:solidFill>
                  <a:schemeClr val="tx1"/>
                </a:solidFill>
              </a:rPr>
            </a:br>
            <a:r>
              <a:rPr lang="en-US" sz="1200" b="1" dirty="0">
                <a:solidFill>
                  <a:schemeClr val="tx1"/>
                </a:solidFill>
              </a:rPr>
              <a:t>Real-Time Deployment Ready</a:t>
            </a:r>
            <a:endParaRPr lang="en-IN" sz="1200" b="1" dirty="0">
              <a:solidFill>
                <a:schemeClr val="tx1"/>
              </a:solidFill>
            </a:endParaRPr>
          </a:p>
        </p:txBody>
      </p:sp>
      <p:cxnSp>
        <p:nvCxnSpPr>
          <p:cNvPr id="38" name="Connector: Elbow 37">
            <a:extLst>
              <a:ext uri="{FF2B5EF4-FFF2-40B4-BE49-F238E27FC236}">
                <a16:creationId xmlns:a16="http://schemas.microsoft.com/office/drawing/2014/main" id="{487782C7-9CED-5FB8-7ABE-8AB7537EDE46}"/>
              </a:ext>
            </a:extLst>
          </p:cNvPr>
          <p:cNvCxnSpPr>
            <a:cxnSpLocks/>
            <a:stCxn id="27" idx="0"/>
            <a:endCxn id="28" idx="0"/>
          </p:cNvCxnSpPr>
          <p:nvPr/>
        </p:nvCxnSpPr>
        <p:spPr>
          <a:xfrm rot="5400000" flipH="1" flipV="1">
            <a:off x="2103675" y="-91117"/>
            <a:ext cx="6350" cy="2056503"/>
          </a:xfrm>
          <a:prstGeom prst="bentConnector3">
            <a:avLst>
              <a:gd name="adj1" fmla="val 37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CF908C03-805D-65E6-8F02-E09D326B03D7}"/>
              </a:ext>
            </a:extLst>
          </p:cNvPr>
          <p:cNvCxnSpPr>
            <a:cxnSpLocks/>
            <a:stCxn id="28" idx="2"/>
            <a:endCxn id="29" idx="2"/>
          </p:cNvCxnSpPr>
          <p:nvPr/>
        </p:nvCxnSpPr>
        <p:spPr>
          <a:xfrm rot="16200000" flipH="1">
            <a:off x="4264321" y="1400181"/>
            <a:ext cx="11881" cy="2270319"/>
          </a:xfrm>
          <a:prstGeom prst="bentConnector3">
            <a:avLst>
              <a:gd name="adj1" fmla="val 202408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5332964B-D88C-28D7-8BFE-7EB494304FC8}"/>
              </a:ext>
            </a:extLst>
          </p:cNvPr>
          <p:cNvCxnSpPr>
            <a:cxnSpLocks/>
            <a:stCxn id="29" idx="0"/>
            <a:endCxn id="30" idx="0"/>
          </p:cNvCxnSpPr>
          <p:nvPr/>
        </p:nvCxnSpPr>
        <p:spPr>
          <a:xfrm rot="5400000" flipH="1" flipV="1">
            <a:off x="6306025" y="-227139"/>
            <a:ext cx="229936" cy="2031144"/>
          </a:xfrm>
          <a:prstGeom prst="bentConnector3">
            <a:avLst>
              <a:gd name="adj1" fmla="val 19941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0C814829-F6D4-8666-9F3E-7088A05C412E}"/>
              </a:ext>
            </a:extLst>
          </p:cNvPr>
          <p:cNvCxnSpPr>
            <a:cxnSpLocks/>
            <a:stCxn id="30" idx="4"/>
            <a:endCxn id="31" idx="2"/>
          </p:cNvCxnSpPr>
          <p:nvPr/>
        </p:nvCxnSpPr>
        <p:spPr>
          <a:xfrm rot="5400000" flipH="1" flipV="1">
            <a:off x="8264781" y="1749973"/>
            <a:ext cx="260903" cy="1917337"/>
          </a:xfrm>
          <a:prstGeom prst="bentConnector3">
            <a:avLst>
              <a:gd name="adj1" fmla="val -87619"/>
            </a:avLst>
          </a:prstGeom>
          <a:ln>
            <a:solidFill>
              <a:schemeClr val="tx1"/>
            </a:solidFill>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3F4A541F-D8DA-B946-0369-357B2AFCF832}"/>
              </a:ext>
            </a:extLst>
          </p:cNvPr>
          <p:cNvCxnSpPr>
            <a:cxnSpLocks/>
            <a:stCxn id="31" idx="0"/>
            <a:endCxn id="32" idx="0"/>
          </p:cNvCxnSpPr>
          <p:nvPr/>
        </p:nvCxnSpPr>
        <p:spPr>
          <a:xfrm rot="16200000" flipH="1">
            <a:off x="10284346" y="3514"/>
            <a:ext cx="1" cy="1860891"/>
          </a:xfrm>
          <a:prstGeom prst="bentConnector3">
            <a:avLst>
              <a:gd name="adj1" fmla="val -228600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511A859C-C620-043C-8BCA-C2BF1DFDC878}"/>
              </a:ext>
            </a:extLst>
          </p:cNvPr>
          <p:cNvSpPr txBox="1"/>
          <p:nvPr/>
        </p:nvSpPr>
        <p:spPr>
          <a:xfrm>
            <a:off x="319557" y="-28563"/>
            <a:ext cx="6885956" cy="584775"/>
          </a:xfrm>
          <a:prstGeom prst="rect">
            <a:avLst/>
          </a:prstGeom>
          <a:noFill/>
        </p:spPr>
        <p:txBody>
          <a:bodyPr wrap="square" rtlCol="0">
            <a:spAutoFit/>
          </a:bodyPr>
          <a:lstStyle/>
          <a:p>
            <a:r>
              <a:rPr lang="en-IN" sz="3200" b="1" dirty="0"/>
              <a:t>📌</a:t>
            </a:r>
            <a:r>
              <a:rPr lang="en-IN" sz="2400" b="1" dirty="0">
                <a:latin typeface="Arial" panose="020B0604020202020204" pitchFamily="34" charset="0"/>
                <a:cs typeface="Arial" panose="020B0604020202020204" pitchFamily="34" charset="0"/>
              </a:rPr>
              <a:t>High-Level Workflow Diagram</a:t>
            </a:r>
          </a:p>
        </p:txBody>
      </p:sp>
      <p:sp>
        <p:nvSpPr>
          <p:cNvPr id="2" name="Text Placeholder 1">
            <a:extLst>
              <a:ext uri="{FF2B5EF4-FFF2-40B4-BE49-F238E27FC236}">
                <a16:creationId xmlns:a16="http://schemas.microsoft.com/office/drawing/2014/main" id="{10EF75C6-CEB6-C8CA-F4E6-6B0D51185440}"/>
              </a:ext>
            </a:extLst>
          </p:cNvPr>
          <p:cNvSpPr>
            <a:spLocks noGrp="1" noChangeArrowheads="1"/>
          </p:cNvSpPr>
          <p:nvPr>
            <p:ph type="body" sz="half" idx="2"/>
          </p:nvPr>
        </p:nvSpPr>
        <p:spPr bwMode="auto">
          <a:xfrm>
            <a:off x="300053" y="3266378"/>
            <a:ext cx="11432794" cy="92333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Programming &amp; Model</a:t>
            </a:r>
            <a:r>
              <a:rPr lang="en-US" altLang="en-US" sz="1800" dirty="0"/>
              <a:t> : </a:t>
            </a:r>
            <a:r>
              <a:rPr kumimoji="0" lang="en-US" altLang="en-US" sz="1800" b="0" i="0" u="none" strike="noStrike" cap="none" normalizeH="0" baseline="0" dirty="0">
                <a:ln>
                  <a:noFill/>
                </a:ln>
                <a:solidFill>
                  <a:schemeClr val="tx1"/>
                </a:solidFill>
                <a:effectLst/>
              </a:rPr>
              <a:t>Python, CNN (Convolutional Neural Network), Transfer Learning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Libraries</a:t>
            </a:r>
            <a:r>
              <a:rPr lang="en-US" altLang="en-US" sz="1800" dirty="0"/>
              <a:t> : </a:t>
            </a:r>
            <a:r>
              <a:rPr kumimoji="0" lang="en-US" altLang="en-US" sz="1800" b="0" i="0" u="none" strike="noStrike" cap="none" normalizeH="0" baseline="0" dirty="0">
                <a:ln>
                  <a:noFill/>
                </a:ln>
                <a:solidFill>
                  <a:schemeClr val="tx1"/>
                </a:solidFill>
                <a:effectLst/>
              </a:rPr>
              <a:t>TensorFlow/Keras, OpenCV, NumPy, Matplotlib </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rPr>
              <a:t>Platform</a:t>
            </a:r>
            <a:r>
              <a:rPr lang="en-US" altLang="en-US" sz="1800" dirty="0"/>
              <a:t> : </a:t>
            </a:r>
            <a:r>
              <a:rPr kumimoji="0" lang="en-US" altLang="en-US" sz="1800" b="0" i="0" u="none" strike="noStrike" cap="none" normalizeH="0" baseline="0" dirty="0">
                <a:ln>
                  <a:noFill/>
                </a:ln>
                <a:solidFill>
                  <a:schemeClr val="tx1"/>
                </a:solidFill>
                <a:effectLst/>
              </a:rPr>
              <a:t>Google Colab (training), VS Code (deployment) </a:t>
            </a:r>
          </a:p>
        </p:txBody>
      </p:sp>
      <p:sp>
        <p:nvSpPr>
          <p:cNvPr id="7" name="Rectangle 2">
            <a:extLst>
              <a:ext uri="{FF2B5EF4-FFF2-40B4-BE49-F238E27FC236}">
                <a16:creationId xmlns:a16="http://schemas.microsoft.com/office/drawing/2014/main" id="{766DB569-12E2-5F18-0841-88341FA7D1F5}"/>
              </a:ext>
            </a:extLst>
          </p:cNvPr>
          <p:cNvSpPr>
            <a:spLocks noChangeArrowheads="1"/>
          </p:cNvSpPr>
          <p:nvPr/>
        </p:nvSpPr>
        <p:spPr bwMode="auto">
          <a:xfrm>
            <a:off x="2088874" y="1013250"/>
            <a:ext cx="2176736" cy="1415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eaLnBrk="0" fontAlgn="base" hangingPunct="0">
              <a:spcBef>
                <a:spcPct val="0"/>
              </a:spcBef>
              <a:spcAft>
                <a:spcPct val="0"/>
              </a:spcAft>
            </a:pPr>
            <a:r>
              <a:rPr lang="en-IN" sz="1400" dirty="0">
                <a:ln w="0"/>
                <a:effectLst>
                  <a:outerShdw blurRad="38100" dist="19050" dir="2700000" algn="tl" rotWithShape="0">
                    <a:schemeClr val="dk1">
                      <a:alpha val="40000"/>
                    </a:schemeClr>
                  </a:outerShdw>
                </a:effectLst>
              </a:rPr>
              <a:t> </a:t>
            </a:r>
            <a:r>
              <a:rPr lang="en-IN" sz="1200" b="1" dirty="0">
                <a:ln w="0"/>
                <a:effectLst>
                  <a:outerShdw blurRad="38100" dist="19050" dir="2700000" algn="tl" rotWithShape="0">
                    <a:schemeClr val="dk1">
                      <a:alpha val="40000"/>
                    </a:schemeClr>
                  </a:outerShdw>
                </a:effectLst>
              </a:rPr>
              <a:t>Data Preprocessing</a:t>
            </a:r>
            <a:endParaRPr kumimoji="0" lang="en-US" altLang="en-US" sz="12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rPr>
              <a:t>Face Detection (Haar Cascade)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rPr>
              <a:t>Cropping &amp; Resizing (224×224)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rPr>
              <a:t>Normalization &amp; Augmentation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chemeClr val="tx1"/>
                </a:solidFill>
                <a:effectLst/>
              </a:rPr>
              <a:t>Train/Validation Split </a:t>
            </a:r>
          </a:p>
        </p:txBody>
      </p:sp>
      <p:sp>
        <p:nvSpPr>
          <p:cNvPr id="63" name="Rectangle 3">
            <a:extLst>
              <a:ext uri="{FF2B5EF4-FFF2-40B4-BE49-F238E27FC236}">
                <a16:creationId xmlns:a16="http://schemas.microsoft.com/office/drawing/2014/main" id="{253B260E-D6A2-738B-F731-609D15EAF30E}"/>
              </a:ext>
            </a:extLst>
          </p:cNvPr>
          <p:cNvSpPr>
            <a:spLocks noChangeArrowheads="1"/>
          </p:cNvSpPr>
          <p:nvPr/>
        </p:nvSpPr>
        <p:spPr bwMode="auto">
          <a:xfrm>
            <a:off x="0" y="-269305"/>
            <a:ext cx="184731"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1012EB4F-5A86-10DF-A09B-853B761FD5F5}"/>
              </a:ext>
            </a:extLst>
          </p:cNvPr>
          <p:cNvSpPr txBox="1"/>
          <p:nvPr/>
        </p:nvSpPr>
        <p:spPr>
          <a:xfrm>
            <a:off x="319557" y="4220475"/>
            <a:ext cx="5776444" cy="523220"/>
          </a:xfrm>
          <a:prstGeom prst="rect">
            <a:avLst/>
          </a:prstGeom>
          <a:noFill/>
        </p:spPr>
        <p:txBody>
          <a:bodyPr wrap="square">
            <a:spAutoFit/>
          </a:bodyPr>
          <a:lstStyle/>
          <a:p>
            <a:pPr algn="ctr"/>
            <a:r>
              <a:rPr lang="en-US" sz="2800" dirty="0">
                <a:solidFill>
                  <a:srgbClr val="0D0D0D"/>
                </a:solidFill>
                <a:highlight>
                  <a:srgbClr val="FFFFFF"/>
                </a:highlight>
                <a:latin typeface="Arial" panose="020B0604020202020204" pitchFamily="34" charset="0"/>
                <a:cs typeface="Arial" panose="020B0604020202020204" pitchFamily="34" charset="0"/>
              </a:rPr>
              <a:t>CHALLENGES FACED</a:t>
            </a:r>
            <a:endParaRPr lang="en-IN" sz="2800" dirty="0"/>
          </a:p>
        </p:txBody>
      </p:sp>
      <p:sp>
        <p:nvSpPr>
          <p:cNvPr id="9" name="TextBox 8">
            <a:extLst>
              <a:ext uri="{FF2B5EF4-FFF2-40B4-BE49-F238E27FC236}">
                <a16:creationId xmlns:a16="http://schemas.microsoft.com/office/drawing/2014/main" id="{40EAC5E9-EB18-1BD3-7326-8976670D5528}"/>
              </a:ext>
            </a:extLst>
          </p:cNvPr>
          <p:cNvSpPr txBox="1"/>
          <p:nvPr/>
        </p:nvSpPr>
        <p:spPr>
          <a:xfrm>
            <a:off x="277977" y="4747216"/>
            <a:ext cx="5868211" cy="1815882"/>
          </a:xfrm>
          <a:prstGeom prst="rect">
            <a:avLst/>
          </a:prstGeom>
          <a:noFill/>
        </p:spPr>
        <p:txBody>
          <a:bodyPr wrap="square">
            <a:sp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rPr>
              <a:t>  Overfitting</a:t>
            </a:r>
            <a:r>
              <a:rPr lang="en-US" altLang="en-US" sz="1600" dirty="0"/>
              <a:t> : </a:t>
            </a:r>
            <a:r>
              <a:rPr kumimoji="0" lang="en-US" altLang="en-US" sz="1600" b="0" i="0" u="none" strike="noStrike" cap="none" normalizeH="0" baseline="0" dirty="0">
                <a:ln>
                  <a:noFill/>
                </a:ln>
                <a:solidFill>
                  <a:schemeClr val="tx1"/>
                </a:solidFill>
                <a:effectLst/>
              </a:rPr>
              <a:t>High training accuracy but lower validation accuracy.</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600" b="1" dirty="0"/>
              <a:t>  </a:t>
            </a:r>
            <a:r>
              <a:rPr kumimoji="0" lang="en-US" altLang="en-US" sz="1600" b="1" i="0" u="none" strike="noStrike" cap="none" normalizeH="0" baseline="0" dirty="0">
                <a:ln>
                  <a:noFill/>
                </a:ln>
                <a:solidFill>
                  <a:schemeClr val="tx1"/>
                </a:solidFill>
                <a:effectLst/>
              </a:rPr>
              <a:t>Misclassification</a:t>
            </a:r>
            <a:r>
              <a:rPr lang="en-US" altLang="en-US" sz="1600" dirty="0"/>
              <a:t> : </a:t>
            </a:r>
            <a:r>
              <a:rPr kumimoji="0" lang="en-US" altLang="en-US" sz="1600" b="0" i="0" u="none" strike="noStrike" cap="none" normalizeH="0" baseline="0" dirty="0">
                <a:ln>
                  <a:noFill/>
                </a:ln>
                <a:solidFill>
                  <a:schemeClr val="tx1"/>
                </a:solidFill>
                <a:effectLst/>
              </a:rPr>
              <a:t>Confusion between emotions like Neutral, Fear, and Surprise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600" b="1" dirty="0"/>
              <a:t>  </a:t>
            </a:r>
            <a:r>
              <a:rPr kumimoji="0" lang="en-US" altLang="en-US" sz="1600" b="1" i="0" u="none" strike="noStrike" cap="none" normalizeH="0" baseline="0" dirty="0">
                <a:ln>
                  <a:noFill/>
                </a:ln>
                <a:solidFill>
                  <a:schemeClr val="tx1"/>
                </a:solidFill>
                <a:effectLst/>
              </a:rPr>
              <a:t>Real-T</a:t>
            </a:r>
            <a:r>
              <a:rPr lang="en-US" altLang="en-US" sz="1600" b="1" dirty="0"/>
              <a:t>i</a:t>
            </a:r>
            <a:r>
              <a:rPr kumimoji="0" lang="en-US" altLang="en-US" sz="1600" b="1" i="0" u="none" strike="noStrike" cap="none" normalizeH="0" baseline="0" dirty="0">
                <a:ln>
                  <a:noFill/>
                </a:ln>
                <a:solidFill>
                  <a:schemeClr val="tx1"/>
                </a:solidFill>
                <a:effectLst/>
              </a:rPr>
              <a:t>me Prediction Issue : </a:t>
            </a:r>
            <a:r>
              <a:rPr kumimoji="0" lang="en-US" altLang="en-US" sz="1600" b="0" i="0" u="none" strike="noStrike" cap="none" normalizeH="0" baseline="0" dirty="0">
                <a:ln>
                  <a:noFill/>
                </a:ln>
                <a:solidFill>
                  <a:schemeClr val="tx1"/>
                </a:solidFill>
                <a:effectLst/>
              </a:rPr>
              <a:t>Model performed well on images but less accurate on webcam .</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1" i="0" u="none" strike="noStrike" cap="none" normalizeH="0" baseline="0" dirty="0">
                <a:ln>
                  <a:noFill/>
                </a:ln>
                <a:solidFill>
                  <a:schemeClr val="tx1"/>
                </a:solidFill>
                <a:effectLst/>
              </a:rPr>
              <a:t>  Lighting &amp; Detection Issues</a:t>
            </a:r>
            <a:r>
              <a:rPr lang="en-US" altLang="en-US" sz="1600" dirty="0"/>
              <a:t> : </a:t>
            </a:r>
            <a:r>
              <a:rPr kumimoji="0" lang="en-US" altLang="en-US" sz="1600" b="0" i="0" u="none" strike="noStrike" cap="none" normalizeH="0" baseline="0" dirty="0">
                <a:ln>
                  <a:noFill/>
                </a:ln>
                <a:solidFill>
                  <a:schemeClr val="tx1"/>
                </a:solidFill>
                <a:effectLst/>
              </a:rPr>
              <a:t>Poor lighting and face detection affected prediction quality. </a:t>
            </a:r>
            <a:endParaRPr lang="en-IN" sz="1600" dirty="0"/>
          </a:p>
        </p:txBody>
      </p:sp>
      <p:sp>
        <p:nvSpPr>
          <p:cNvPr id="11" name="TextBox 10">
            <a:extLst>
              <a:ext uri="{FF2B5EF4-FFF2-40B4-BE49-F238E27FC236}">
                <a16:creationId xmlns:a16="http://schemas.microsoft.com/office/drawing/2014/main" id="{62008220-9287-D4D5-A1E0-42449A659DA7}"/>
              </a:ext>
            </a:extLst>
          </p:cNvPr>
          <p:cNvSpPr txBox="1"/>
          <p:nvPr/>
        </p:nvSpPr>
        <p:spPr>
          <a:xfrm>
            <a:off x="6114581" y="4198447"/>
            <a:ext cx="5868211" cy="523220"/>
          </a:xfrm>
          <a:prstGeom prst="rect">
            <a:avLst/>
          </a:prstGeom>
          <a:noFill/>
        </p:spPr>
        <p:txBody>
          <a:bodyPr wrap="square">
            <a:spAutoFit/>
          </a:bodyPr>
          <a:lstStyle/>
          <a:p>
            <a:pPr algn="ctr"/>
            <a:r>
              <a:rPr lang="en-IN" sz="2800" dirty="0">
                <a:latin typeface="Arial" panose="020B0604020202020204" pitchFamily="34" charset="0"/>
                <a:cs typeface="Arial" panose="020B0604020202020204" pitchFamily="34" charset="0"/>
              </a:rPr>
              <a:t>SOLUTIONS IMPLEMENTED</a:t>
            </a:r>
          </a:p>
        </p:txBody>
      </p:sp>
      <p:sp>
        <p:nvSpPr>
          <p:cNvPr id="14" name="TextBox 13">
            <a:extLst>
              <a:ext uri="{FF2B5EF4-FFF2-40B4-BE49-F238E27FC236}">
                <a16:creationId xmlns:a16="http://schemas.microsoft.com/office/drawing/2014/main" id="{6F917D06-FB6F-A745-D906-9FEF64379F07}"/>
              </a:ext>
            </a:extLst>
          </p:cNvPr>
          <p:cNvSpPr txBox="1"/>
          <p:nvPr/>
        </p:nvSpPr>
        <p:spPr>
          <a:xfrm>
            <a:off x="6250277" y="4639493"/>
            <a:ext cx="5798529" cy="2062103"/>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tx1"/>
                </a:solidFill>
                <a:effectLst/>
              </a:rPr>
              <a:t>Overfitting Solution</a:t>
            </a:r>
            <a:r>
              <a:rPr lang="en-US" altLang="en-US" sz="1600" dirty="0"/>
              <a:t> : </a:t>
            </a:r>
            <a:r>
              <a:rPr kumimoji="0" lang="en-US" altLang="en-US" sz="1600" b="0" i="0" u="none" strike="noStrike" cap="none" normalizeH="0" baseline="0" dirty="0">
                <a:ln>
                  <a:noFill/>
                </a:ln>
                <a:solidFill>
                  <a:schemeClr val="tx1"/>
                </a:solidFill>
                <a:effectLst/>
              </a:rPr>
              <a:t>Used Dropout layers, Data Augmentation, and optimized learning rate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600" b="1" i="0" u="none" strike="noStrike" cap="none" normalizeH="0" baseline="0" dirty="0">
                <a:ln>
                  <a:noFill/>
                </a:ln>
                <a:solidFill>
                  <a:schemeClr val="tx1"/>
                </a:solidFill>
                <a:effectLst/>
              </a:rPr>
              <a:t>Misclassification Fix</a:t>
            </a:r>
            <a:r>
              <a:rPr lang="en-US" altLang="en-US" sz="1600" dirty="0"/>
              <a:t> : </a:t>
            </a:r>
            <a:r>
              <a:rPr kumimoji="0" lang="en-US" altLang="en-US" sz="1600" b="0" i="0" u="none" strike="noStrike" cap="none" normalizeH="0" baseline="0" dirty="0">
                <a:ln>
                  <a:noFill/>
                </a:ln>
                <a:solidFill>
                  <a:schemeClr val="tx1"/>
                </a:solidFill>
                <a:effectLst/>
              </a:rPr>
              <a:t>Analyzed confusion matrix, balanced dataset, and improved preprocessing .</a:t>
            </a:r>
          </a:p>
          <a:p>
            <a:pPr marL="342900" lvl="0" indent="-342900" eaLnBrk="0" fontAlgn="base" hangingPunct="0">
              <a:spcBef>
                <a:spcPct val="0"/>
              </a:spcBef>
              <a:spcAft>
                <a:spcPct val="0"/>
              </a:spcAft>
              <a:buFont typeface="Wingdings" panose="05000000000000000000" pitchFamily="2" charset="2"/>
              <a:buChar char="ü"/>
            </a:pPr>
            <a:r>
              <a:rPr kumimoji="0" lang="en-US" altLang="en-US" sz="1600" b="1" i="0" u="none" strike="noStrike" cap="none" normalizeH="0" baseline="0" dirty="0">
                <a:ln>
                  <a:noFill/>
                </a:ln>
                <a:solidFill>
                  <a:schemeClr val="tx1"/>
                </a:solidFill>
                <a:effectLst/>
              </a:rPr>
              <a:t>Real-Time Issue Fix</a:t>
            </a:r>
            <a:r>
              <a:rPr lang="en-US" altLang="en-US" sz="1600" dirty="0"/>
              <a:t> : </a:t>
            </a:r>
            <a:r>
              <a:rPr lang="en-US" sz="1600" dirty="0"/>
              <a:t>Ensured same preprocessing as training (resize 96×96, normalization) for accurate webcam prediction.</a:t>
            </a:r>
          </a:p>
          <a:p>
            <a:pPr marL="342900" lvl="0" indent="-342900" eaLnBrk="0" fontAlgn="base" hangingPunct="0">
              <a:spcBef>
                <a:spcPct val="0"/>
              </a:spcBef>
              <a:spcAft>
                <a:spcPct val="0"/>
              </a:spcAft>
              <a:buFont typeface="Wingdings" panose="05000000000000000000" pitchFamily="2" charset="2"/>
              <a:buChar char="ü"/>
            </a:pPr>
            <a:r>
              <a:rPr kumimoji="0" lang="en-US" altLang="en-US" sz="1600" b="1" i="0" u="none" strike="noStrike" cap="none" normalizeH="0" baseline="0" dirty="0">
                <a:ln>
                  <a:noFill/>
                </a:ln>
                <a:solidFill>
                  <a:schemeClr val="tx1"/>
                </a:solidFill>
                <a:effectLst/>
              </a:rPr>
              <a:t>Lighting Problem Fix</a:t>
            </a:r>
            <a:r>
              <a:rPr lang="en-US" altLang="en-US" sz="1600" dirty="0"/>
              <a:t> : </a:t>
            </a:r>
            <a:r>
              <a:rPr kumimoji="0" lang="en-US" altLang="en-US" sz="1600" b="0" i="0" u="none" strike="noStrike" cap="none" normalizeH="0" baseline="0" dirty="0">
                <a:ln>
                  <a:noFill/>
                </a:ln>
                <a:solidFill>
                  <a:schemeClr val="tx1"/>
                </a:solidFill>
                <a:effectLst/>
              </a:rPr>
              <a:t>Improved lighting conditions and accurate face cropping. </a:t>
            </a:r>
          </a:p>
        </p:txBody>
      </p:sp>
    </p:spTree>
    <p:extLst>
      <p:ext uri="{BB962C8B-B14F-4D97-AF65-F5344CB8AC3E}">
        <p14:creationId xmlns:p14="http://schemas.microsoft.com/office/powerpoint/2010/main" val="3305960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89236-4A37-B5DC-448E-BA13472C0987}"/>
              </a:ext>
            </a:extLst>
          </p:cNvPr>
          <p:cNvSpPr>
            <a:spLocks noGrp="1"/>
          </p:cNvSpPr>
          <p:nvPr>
            <p:ph type="title"/>
          </p:nvPr>
        </p:nvSpPr>
        <p:spPr>
          <a:xfrm>
            <a:off x="406122" y="471714"/>
            <a:ext cx="10515600" cy="679904"/>
          </a:xfrm>
        </p:spPr>
        <p:txBody>
          <a:bodyPr>
            <a:normAutofit fontScale="90000"/>
          </a:bodyPr>
          <a:lstStyle/>
          <a:p>
            <a:r>
              <a:rPr lang="en-IN" dirty="0">
                <a:solidFill>
                  <a:srgbClr val="000000"/>
                </a:solidFill>
                <a:latin typeface="Arial" panose="020B0604020202020204" pitchFamily="34" charset="0"/>
                <a:cs typeface="Arial" panose="020B0604020202020204" pitchFamily="34" charset="0"/>
              </a:rPr>
              <a:t>IMPLEMENTATION</a:t>
            </a:r>
            <a:br>
              <a:rPr lang="en-IN" b="1" dirty="0">
                <a:solidFill>
                  <a:srgbClr val="000000"/>
                </a:solidFill>
              </a:rPr>
            </a:br>
            <a:endParaRPr lang="en-IN" dirty="0"/>
          </a:p>
        </p:txBody>
      </p:sp>
      <p:sp>
        <p:nvSpPr>
          <p:cNvPr id="15" name="Content Placeholder 14">
            <a:extLst>
              <a:ext uri="{FF2B5EF4-FFF2-40B4-BE49-F238E27FC236}">
                <a16:creationId xmlns:a16="http://schemas.microsoft.com/office/drawing/2014/main" id="{BE5F5D8C-DAA5-BE84-9B90-7418E1BB41B7}"/>
              </a:ext>
            </a:extLst>
          </p:cNvPr>
          <p:cNvSpPr>
            <a:spLocks noGrp="1"/>
          </p:cNvSpPr>
          <p:nvPr>
            <p:ph idx="1"/>
          </p:nvPr>
        </p:nvSpPr>
        <p:spPr>
          <a:xfrm>
            <a:off x="299358" y="914460"/>
            <a:ext cx="11631803" cy="5581301"/>
          </a:xfrm>
        </p:spPr>
        <p:txBody>
          <a:bodyPr>
            <a:normAutofit/>
          </a:bodyPr>
          <a:lstStyle/>
          <a:p>
            <a:pPr marL="0" indent="0">
              <a:buNone/>
            </a:pPr>
            <a:r>
              <a:rPr lang="en-US" dirty="0"/>
              <a:t>🟣 </a:t>
            </a:r>
            <a:r>
              <a:rPr lang="en-US" b="1" u="sng" dirty="0"/>
              <a:t>Model Development, Training &amp; Evaluation</a:t>
            </a:r>
          </a:p>
          <a:p>
            <a:pPr marL="0" indent="0">
              <a:buNone/>
            </a:pPr>
            <a:r>
              <a:rPr lang="en-US" sz="2400" b="1" dirty="0"/>
              <a:t>CNN Model Development</a:t>
            </a:r>
          </a:p>
          <a:p>
            <a:r>
              <a:rPr lang="en-US" sz="2000" dirty="0"/>
              <a:t>Built a CNN using Conv2D and MaxPooling layers for feature extraction</a:t>
            </a:r>
          </a:p>
          <a:p>
            <a:r>
              <a:rPr lang="en-US" sz="2000" dirty="0"/>
              <a:t>Used Dense layers for classification of 7 emotion classes, </a:t>
            </a:r>
          </a:p>
          <a:p>
            <a:r>
              <a:rPr lang="en-US" sz="2000" dirty="0"/>
              <a:t>Applied Dropout and regularization to reduce overfitting.</a:t>
            </a:r>
          </a:p>
          <a:p>
            <a:pPr marL="0" indent="0">
              <a:buNone/>
            </a:pPr>
            <a:r>
              <a:rPr lang="en-US" sz="2400" b="1" dirty="0"/>
              <a:t>Model Training</a:t>
            </a:r>
          </a:p>
          <a:p>
            <a:r>
              <a:rPr lang="en-US" sz="2000" dirty="0"/>
              <a:t>Trained the model on training and validation datasets </a:t>
            </a:r>
          </a:p>
          <a:p>
            <a:r>
              <a:rPr lang="en-US" sz="2000" dirty="0"/>
              <a:t>Epochs: 120, Batch size: 32 </a:t>
            </a:r>
          </a:p>
          <a:p>
            <a:r>
              <a:rPr lang="en-US" sz="2000" dirty="0"/>
              <a:t>Used Adam optimizer and monitored training &amp; validation accuracy</a:t>
            </a:r>
          </a:p>
          <a:p>
            <a:pPr marL="0" indent="0">
              <a:buNone/>
            </a:pPr>
            <a:r>
              <a:rPr lang="en-US" sz="2400" b="1" dirty="0"/>
              <a:t>Model Evaluation</a:t>
            </a:r>
          </a:p>
          <a:p>
            <a:r>
              <a:rPr lang="en-US" sz="2000" dirty="0"/>
              <a:t>Evaluated performance using accuracy and loss curves </a:t>
            </a:r>
          </a:p>
          <a:p>
            <a:r>
              <a:rPr lang="en-US" sz="2000" dirty="0"/>
              <a:t>Used Top-K accuracy to check if correct label is within top predictions </a:t>
            </a:r>
          </a:p>
          <a:p>
            <a:r>
              <a:rPr lang="en-US" sz="2000" dirty="0"/>
              <a:t>Analyzed model performance for reliability and generalization</a:t>
            </a:r>
          </a:p>
          <a:p>
            <a:pPr marL="0" indent="0">
              <a:buNone/>
            </a:pPr>
            <a:endParaRPr lang="en-US" sz="2000" dirty="0"/>
          </a:p>
          <a:p>
            <a:pPr marL="0" indent="0">
              <a:buNone/>
            </a:pPr>
            <a:endParaRPr lang="en-IN" b="1" u="sng" dirty="0"/>
          </a:p>
        </p:txBody>
      </p:sp>
      <p:pic>
        <p:nvPicPr>
          <p:cNvPr id="4" name="Picture 3">
            <a:extLst>
              <a:ext uri="{FF2B5EF4-FFF2-40B4-BE49-F238E27FC236}">
                <a16:creationId xmlns:a16="http://schemas.microsoft.com/office/drawing/2014/main" id="{1B694426-F56F-F421-6D65-02BFD9CC9E9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rcRect r="20180"/>
          <a:stretch>
            <a:fillRect/>
          </a:stretch>
        </p:blipFill>
        <p:spPr>
          <a:xfrm>
            <a:off x="8088923" y="3429000"/>
            <a:ext cx="3842238" cy="3066761"/>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CFAA364A-4C7E-A583-51EF-FE6A284A8C6B}"/>
              </a:ext>
            </a:extLst>
          </p:cNvPr>
          <p:cNvSpPr txBox="1"/>
          <p:nvPr/>
        </p:nvSpPr>
        <p:spPr>
          <a:xfrm>
            <a:off x="8695592" y="1009915"/>
            <a:ext cx="2628898" cy="369332"/>
          </a:xfrm>
          <a:prstGeom prst="rect">
            <a:avLst/>
          </a:prstGeom>
          <a:noFill/>
          <a:ln>
            <a:solidFill>
              <a:schemeClr val="tx1"/>
            </a:solidFill>
          </a:ln>
          <a:effectLst>
            <a:glow rad="101600">
              <a:schemeClr val="accent3">
                <a:satMod val="175000"/>
                <a:alpha val="40000"/>
              </a:schemeClr>
            </a:glow>
            <a:innerShdw blurRad="114300">
              <a:prstClr val="black"/>
            </a:innerShdw>
          </a:effectLst>
        </p:spPr>
        <p:txBody>
          <a:bodyPr wrap="square" rtlCol="0">
            <a:spAutoFit/>
          </a:bodyPr>
          <a:lstStyle/>
          <a:p>
            <a:r>
              <a:rPr lang="en-IN" dirty="0"/>
              <a:t>Custom CNN Architecture</a:t>
            </a:r>
            <a:endParaRPr lang="en-IN" dirty="0">
              <a:latin typeface="Arial" panose="020B0604020202020204" pitchFamily="34" charset="0"/>
              <a:cs typeface="Arial" panose="020B0604020202020204" pitchFamily="34" charset="0"/>
            </a:endParaRPr>
          </a:p>
        </p:txBody>
      </p:sp>
      <p:sp>
        <p:nvSpPr>
          <p:cNvPr id="8" name="Rectangle 2">
            <a:extLst>
              <a:ext uri="{FF2B5EF4-FFF2-40B4-BE49-F238E27FC236}">
                <a16:creationId xmlns:a16="http://schemas.microsoft.com/office/drawing/2014/main" id="{200C7D1C-365A-8F75-6C2A-CB4508E04BC7}"/>
              </a:ext>
            </a:extLst>
          </p:cNvPr>
          <p:cNvSpPr>
            <a:spLocks noChangeArrowheads="1"/>
          </p:cNvSpPr>
          <p:nvPr/>
        </p:nvSpPr>
        <p:spPr bwMode="auto">
          <a:xfrm>
            <a:off x="8088922" y="1474701"/>
            <a:ext cx="3842239" cy="181588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3 Conv layers (32, 64, 128) for feature extraction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MaxPooling for dimensionality reduction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Dense + Dropout (0.4) to reduce overfitting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rPr>
              <a:t>Softmax layer for 7-class emotion classification </a:t>
            </a:r>
          </a:p>
        </p:txBody>
      </p:sp>
      <p:pic>
        <p:nvPicPr>
          <p:cNvPr id="3" name="Picture 2" descr="Sister Nivedita University | Best Private College in India ...">
            <a:extLst>
              <a:ext uri="{FF2B5EF4-FFF2-40B4-BE49-F238E27FC236}">
                <a16:creationId xmlns:a16="http://schemas.microsoft.com/office/drawing/2014/main" id="{6FB2180C-585A-0200-D238-C68543EB87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9765" y="161238"/>
            <a:ext cx="2241396" cy="628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695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13" y="285559"/>
            <a:ext cx="10310961" cy="778351"/>
          </a:xfrm>
        </p:spPr>
        <p:txBody>
          <a:bodyPr>
            <a:noAutofit/>
          </a:bodyPr>
          <a:lstStyle/>
          <a:p>
            <a:r>
              <a:rPr lang="en-US" sz="3600" dirty="0">
                <a:latin typeface="Arial" panose="020B0604020202020204" pitchFamily="34" charset="0"/>
                <a:cs typeface="Arial" panose="020B0604020202020204" pitchFamily="34" charset="0"/>
              </a:rPr>
              <a:t>OUTCOME</a:t>
            </a:r>
            <a:br>
              <a:rPr lang="en-US" sz="3200" b="0" i="0" dirty="0">
                <a:solidFill>
                  <a:srgbClr val="0D0D0D"/>
                </a:solidFill>
                <a:effectLst/>
                <a:highlight>
                  <a:srgbClr val="FFFFFF"/>
                </a:highlight>
                <a:latin typeface="Arial" panose="020B0604020202020204" pitchFamily="34" charset="0"/>
                <a:cs typeface="Arial" panose="020B0604020202020204" pitchFamily="34" charset="0"/>
              </a:rPr>
            </a:br>
            <a:endParaRPr lang="en-IN" sz="3200" dirty="0">
              <a:latin typeface="Arial" panose="020B0604020202020204" pitchFamily="34" charset="0"/>
              <a:cs typeface="Arial" panose="020B0604020202020204" pitchFamily="34" charset="0"/>
            </a:endParaRPr>
          </a:p>
        </p:txBody>
      </p:sp>
      <p:pic>
        <p:nvPicPr>
          <p:cNvPr id="4"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4409" y="11290"/>
            <a:ext cx="1615189" cy="496769"/>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AEB0F60A-CE07-079E-008A-28470FD6FE1A}"/>
              </a:ext>
            </a:extLst>
          </p:cNvPr>
          <p:cNvSpPr/>
          <p:nvPr/>
        </p:nvSpPr>
        <p:spPr>
          <a:xfrm>
            <a:off x="2632668" y="1147609"/>
            <a:ext cx="2863780" cy="6209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Rectangle 4">
            <a:extLst>
              <a:ext uri="{FF2B5EF4-FFF2-40B4-BE49-F238E27FC236}">
                <a16:creationId xmlns:a16="http://schemas.microsoft.com/office/drawing/2014/main" id="{067FA0A3-AC0F-0F3A-67A7-262E7A3ED06E}"/>
              </a:ext>
            </a:extLst>
          </p:cNvPr>
          <p:cNvSpPr/>
          <p:nvPr/>
        </p:nvSpPr>
        <p:spPr>
          <a:xfrm>
            <a:off x="214366" y="675455"/>
            <a:ext cx="7420874" cy="3032387"/>
          </a:xfrm>
          <a:prstGeom prst="rect">
            <a:avLst/>
          </a:prstGeom>
          <a:solidFill>
            <a:schemeClr val="bg1"/>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rgbClr val="0D0D0D"/>
                </a:solidFill>
                <a:highlight>
                  <a:srgbClr val="FFFFFF"/>
                </a:highlight>
                <a:latin typeface="Arial" panose="020B0604020202020204" pitchFamily="34" charset="0"/>
                <a:cs typeface="Arial" panose="020B0604020202020204" pitchFamily="34" charset="0"/>
              </a:rPr>
              <a:t>🔎</a:t>
            </a:r>
            <a:r>
              <a:rPr lang="en-US" sz="2400" b="1" dirty="0">
                <a:solidFill>
                  <a:srgbClr val="0D0D0D"/>
                </a:solidFill>
                <a:highlight>
                  <a:srgbClr val="FFFFFF"/>
                </a:highlight>
                <a:latin typeface="Arial" panose="020B0604020202020204" pitchFamily="34" charset="0"/>
                <a:cs typeface="Arial" panose="020B0604020202020204" pitchFamily="34" charset="0"/>
              </a:rPr>
              <a:t>Expected Results</a:t>
            </a:r>
            <a:r>
              <a:rPr lang="en-US" sz="2400" dirty="0">
                <a:solidFill>
                  <a:srgbClr val="0D0D0D"/>
                </a:solidFill>
                <a:highlight>
                  <a:srgbClr val="FFFFFF"/>
                </a:highlight>
                <a:latin typeface="Arial" panose="020B0604020202020204" pitchFamily="34" charset="0"/>
                <a:cs typeface="Arial" panose="020B0604020202020204" pitchFamily="34" charset="0"/>
              </a:rPr>
              <a:t>: </a:t>
            </a:r>
            <a:r>
              <a:rPr lang="en-US" dirty="0">
                <a:solidFill>
                  <a:srgbClr val="0D0D0D"/>
                </a:solidFill>
              </a:rPr>
              <a:t>Based on the experiments conducted:</a:t>
            </a:r>
          </a:p>
          <a:p>
            <a:pPr algn="just"/>
            <a:r>
              <a:rPr lang="en-US" u="sng" dirty="0">
                <a:solidFill>
                  <a:srgbClr val="0D0D0D"/>
                </a:solidFill>
              </a:rPr>
              <a:t>Final Training Accuracy</a:t>
            </a:r>
            <a:r>
              <a:rPr lang="en-US" dirty="0">
                <a:solidFill>
                  <a:srgbClr val="0D0D0D"/>
                </a:solidFill>
              </a:rPr>
              <a:t> : </a:t>
            </a:r>
            <a:r>
              <a:rPr lang="en-US" b="1" dirty="0">
                <a:solidFill>
                  <a:srgbClr val="0D0D0D"/>
                </a:solidFill>
              </a:rPr>
              <a:t>0.9123</a:t>
            </a:r>
          </a:p>
          <a:p>
            <a:pPr algn="just"/>
            <a:r>
              <a:rPr lang="en-US" u="sng" dirty="0">
                <a:solidFill>
                  <a:srgbClr val="0D0D0D"/>
                </a:solidFill>
              </a:rPr>
              <a:t>Final Validation Accuracy</a:t>
            </a:r>
            <a:r>
              <a:rPr lang="en-US" dirty="0">
                <a:solidFill>
                  <a:srgbClr val="0D0D0D"/>
                </a:solidFill>
              </a:rPr>
              <a:t> : </a:t>
            </a:r>
            <a:r>
              <a:rPr lang="en-US" b="1" dirty="0">
                <a:solidFill>
                  <a:srgbClr val="0D0D0D"/>
                </a:solidFill>
              </a:rPr>
              <a:t>0.840</a:t>
            </a:r>
          </a:p>
          <a:p>
            <a:pPr algn="just"/>
            <a:r>
              <a:rPr lang="en-US" dirty="0">
                <a:solidFill>
                  <a:srgbClr val="0D0D0D"/>
                </a:solidFill>
              </a:rPr>
              <a:t>📊 TRAIN ACCURACY</a:t>
            </a:r>
          </a:p>
          <a:p>
            <a:pPr algn="just"/>
            <a:r>
              <a:rPr lang="en-US" dirty="0">
                <a:solidFill>
                  <a:srgbClr val="0D0D0D"/>
                </a:solidFill>
              </a:rPr>
              <a:t>Top-2 Accuracy (Train): 99.32%</a:t>
            </a:r>
          </a:p>
          <a:p>
            <a:pPr algn="just"/>
            <a:r>
              <a:rPr lang="en-US" dirty="0">
                <a:solidFill>
                  <a:srgbClr val="0D0D0D"/>
                </a:solidFill>
              </a:rPr>
              <a:t>Top-3 Accuracy (Train): 99.91%</a:t>
            </a:r>
          </a:p>
          <a:p>
            <a:pPr algn="just"/>
            <a:r>
              <a:rPr lang="en-US" i="1" u="sng" dirty="0">
                <a:solidFill>
                  <a:srgbClr val="0D0D0D"/>
                </a:solidFill>
              </a:rPr>
              <a:t>Expected trends</a:t>
            </a:r>
            <a:r>
              <a:rPr lang="en-US" i="1" dirty="0">
                <a:solidFill>
                  <a:srgbClr val="0D0D0D"/>
                </a:solidFill>
              </a:rPr>
              <a:t>: </a:t>
            </a:r>
          </a:p>
          <a:p>
            <a:pPr marL="285750" indent="-285750">
              <a:buFont typeface="Arial" panose="020B0604020202020204" pitchFamily="34" charset="0"/>
              <a:buChar char="•"/>
            </a:pPr>
            <a:r>
              <a:rPr lang="en-US" sz="1600" i="1" dirty="0">
                <a:solidFill>
                  <a:srgbClr val="0D0D0D"/>
                </a:solidFill>
              </a:rPr>
              <a:t>Data augmentation and preprocessing improve model generalization and reduce overfitting.</a:t>
            </a:r>
          </a:p>
          <a:p>
            <a:pPr marL="285750" indent="-285750">
              <a:buFont typeface="Arial" panose="020B0604020202020204" pitchFamily="34" charset="0"/>
              <a:buChar char="•"/>
            </a:pPr>
            <a:r>
              <a:rPr lang="en-US" sz="1600" i="1" dirty="0">
                <a:solidFill>
                  <a:srgbClr val="0D0D0D"/>
                </a:solidFill>
              </a:rPr>
              <a:t>The model shows stable learning with consistent accuracy after sufficient training epochs.</a:t>
            </a:r>
          </a:p>
        </p:txBody>
      </p:sp>
      <p:pic>
        <p:nvPicPr>
          <p:cNvPr id="9" name="Picture 8">
            <a:extLst>
              <a:ext uri="{FF2B5EF4-FFF2-40B4-BE49-F238E27FC236}">
                <a16:creationId xmlns:a16="http://schemas.microsoft.com/office/drawing/2014/main" id="{E9C95002-B221-89DB-AF6A-1C68521BF6E3}"/>
              </a:ext>
            </a:extLst>
          </p:cNvPr>
          <p:cNvPicPr>
            <a:picLocks noChangeAspect="1"/>
          </p:cNvPicPr>
          <p:nvPr/>
        </p:nvPicPr>
        <p:blipFill>
          <a:blip r:embed="rId3"/>
          <a:stretch>
            <a:fillRect/>
          </a:stretch>
        </p:blipFill>
        <p:spPr>
          <a:xfrm>
            <a:off x="7892947" y="675456"/>
            <a:ext cx="4026651" cy="2877054"/>
          </a:xfrm>
          <a:prstGeom prst="rect">
            <a:avLst/>
          </a:prstGeom>
          <a:ln>
            <a:no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F8423946-622F-96C5-AA63-B0773F00477D}"/>
              </a:ext>
            </a:extLst>
          </p:cNvPr>
          <p:cNvSpPr txBox="1"/>
          <p:nvPr/>
        </p:nvSpPr>
        <p:spPr>
          <a:xfrm>
            <a:off x="4108698" y="1683562"/>
            <a:ext cx="3082691" cy="923330"/>
          </a:xfrm>
          <a:prstGeom prst="rect">
            <a:avLst/>
          </a:prstGeom>
          <a:noFill/>
        </p:spPr>
        <p:txBody>
          <a:bodyPr wrap="square">
            <a:spAutoFit/>
          </a:bodyPr>
          <a:lstStyle/>
          <a:p>
            <a:r>
              <a:rPr lang="en-IN" dirty="0"/>
              <a:t>📊 VALIDATION ACCURACY</a:t>
            </a:r>
          </a:p>
          <a:p>
            <a:r>
              <a:rPr lang="en-IN" dirty="0"/>
              <a:t>Top-2 Accuracy (Val): 95.41%</a:t>
            </a:r>
          </a:p>
          <a:p>
            <a:r>
              <a:rPr lang="en-IN" dirty="0"/>
              <a:t>Top-3 Accuracy (Val): 98.47%</a:t>
            </a:r>
          </a:p>
        </p:txBody>
      </p:sp>
      <p:pic>
        <p:nvPicPr>
          <p:cNvPr id="25" name="Content Placeholder 24">
            <a:extLst>
              <a:ext uri="{FF2B5EF4-FFF2-40B4-BE49-F238E27FC236}">
                <a16:creationId xmlns:a16="http://schemas.microsoft.com/office/drawing/2014/main" id="{77ABE1B8-E75C-3861-1BB2-9A770481966E}"/>
              </a:ext>
            </a:extLst>
          </p:cNvPr>
          <p:cNvPicPr>
            <a:picLocks noGrp="1" noChangeAspect="1"/>
          </p:cNvPicPr>
          <p:nvPr>
            <p:ph idx="1"/>
          </p:nvPr>
        </p:nvPicPr>
        <p:blipFill>
          <a:blip r:embed="rId4"/>
          <a:stretch>
            <a:fillRect/>
          </a:stretch>
        </p:blipFill>
        <p:spPr>
          <a:xfrm>
            <a:off x="8155039" y="3922773"/>
            <a:ext cx="3822595" cy="2492453"/>
          </a:xfrm>
          <a:prstGeom prst="rect">
            <a:avLst/>
          </a:prstGeom>
          <a:ln>
            <a:noFill/>
          </a:ln>
          <a:effectLst>
            <a:outerShdw blurRad="292100" dist="139700" dir="2700000" algn="tl" rotWithShape="0">
              <a:srgbClr val="333333">
                <a:alpha val="65000"/>
              </a:srgbClr>
            </a:outerShdw>
          </a:effectLst>
        </p:spPr>
      </p:pic>
      <p:pic>
        <p:nvPicPr>
          <p:cNvPr id="27" name="Content Placeholder 3">
            <a:extLst>
              <a:ext uri="{FF2B5EF4-FFF2-40B4-BE49-F238E27FC236}">
                <a16:creationId xmlns:a16="http://schemas.microsoft.com/office/drawing/2014/main" id="{E3F5FFC4-FF6A-1EAD-E951-899297C020F9}"/>
              </a:ext>
            </a:extLst>
          </p:cNvPr>
          <p:cNvPicPr>
            <a:picLocks noChangeAspect="1"/>
          </p:cNvPicPr>
          <p:nvPr/>
        </p:nvPicPr>
        <p:blipFill>
          <a:blip r:embed="rId5"/>
          <a:stretch>
            <a:fillRect/>
          </a:stretch>
        </p:blipFill>
        <p:spPr>
          <a:xfrm>
            <a:off x="3410712" y="3922773"/>
            <a:ext cx="4542404" cy="2492453"/>
          </a:xfrm>
          <a:prstGeom prst="rect">
            <a:avLst/>
          </a:prstGeom>
          <a:ln>
            <a:noFill/>
          </a:ln>
          <a:effectLst>
            <a:outerShdw blurRad="292100" dist="139700" dir="2700000" algn="tl" rotWithShape="0">
              <a:srgbClr val="333333">
                <a:alpha val="65000"/>
              </a:srgbClr>
            </a:outerShdw>
          </a:effectLst>
        </p:spPr>
      </p:pic>
      <p:pic>
        <p:nvPicPr>
          <p:cNvPr id="28" name="Picture 27">
            <a:extLst>
              <a:ext uri="{FF2B5EF4-FFF2-40B4-BE49-F238E27FC236}">
                <a16:creationId xmlns:a16="http://schemas.microsoft.com/office/drawing/2014/main" id="{7A701DCF-2048-73B0-3B30-452E77D71494}"/>
              </a:ext>
            </a:extLst>
          </p:cNvPr>
          <p:cNvPicPr>
            <a:picLocks noChangeAspect="1"/>
          </p:cNvPicPr>
          <p:nvPr/>
        </p:nvPicPr>
        <p:blipFill>
          <a:blip r:embed="rId6"/>
          <a:stretch>
            <a:fillRect/>
          </a:stretch>
        </p:blipFill>
        <p:spPr>
          <a:xfrm>
            <a:off x="214366" y="3922773"/>
            <a:ext cx="2996143" cy="2492454"/>
          </a:xfrm>
          <a:prstGeom prst="rect">
            <a:avLst/>
          </a:prstGeom>
          <a:ln>
            <a:noFill/>
          </a:ln>
          <a:effectLst>
            <a:outerShdw blurRad="292100" dist="139700" dir="2700000" algn="tl" rotWithShape="0">
              <a:srgbClr val="333333">
                <a:alpha val="65000"/>
              </a:srgbClr>
            </a:outerShdw>
          </a:effectLst>
        </p:spPr>
      </p:pic>
      <p:sp>
        <p:nvSpPr>
          <p:cNvPr id="29" name="TextBox 28">
            <a:extLst>
              <a:ext uri="{FF2B5EF4-FFF2-40B4-BE49-F238E27FC236}">
                <a16:creationId xmlns:a16="http://schemas.microsoft.com/office/drawing/2014/main" id="{D3069155-EDDF-8B98-8AA7-1845082635EB}"/>
              </a:ext>
            </a:extLst>
          </p:cNvPr>
          <p:cNvSpPr txBox="1"/>
          <p:nvPr/>
        </p:nvSpPr>
        <p:spPr>
          <a:xfrm>
            <a:off x="519009" y="6446469"/>
            <a:ext cx="2354362" cy="307777"/>
          </a:xfrm>
          <a:prstGeom prst="rect">
            <a:avLst/>
          </a:prstGeom>
          <a:noFill/>
          <a:ln>
            <a:solidFill>
              <a:srgbClr val="002060"/>
            </a:solidFill>
          </a:ln>
        </p:spPr>
        <p:txBody>
          <a:bodyPr wrap="none" rtlCol="0">
            <a:spAutoFit/>
          </a:bodyPr>
          <a:lstStyle/>
          <a:p>
            <a:pPr algn="ctr"/>
            <a:r>
              <a:rPr lang="en-IN" sz="1400" i="1" dirty="0">
                <a:latin typeface="Arial" panose="020B0604020202020204" pitchFamily="34" charset="0"/>
                <a:cs typeface="Arial" panose="020B0604020202020204" pitchFamily="34" charset="0"/>
              </a:rPr>
              <a:t>Train Validation Distribution</a:t>
            </a:r>
          </a:p>
        </p:txBody>
      </p:sp>
      <p:sp>
        <p:nvSpPr>
          <p:cNvPr id="30" name="TextBox 29">
            <a:extLst>
              <a:ext uri="{FF2B5EF4-FFF2-40B4-BE49-F238E27FC236}">
                <a16:creationId xmlns:a16="http://schemas.microsoft.com/office/drawing/2014/main" id="{6DC118CE-1E5A-A682-30D7-C7019F03A6A5}"/>
              </a:ext>
            </a:extLst>
          </p:cNvPr>
          <p:cNvSpPr txBox="1"/>
          <p:nvPr/>
        </p:nvSpPr>
        <p:spPr>
          <a:xfrm>
            <a:off x="4623435" y="6446469"/>
            <a:ext cx="1896673" cy="307777"/>
          </a:xfrm>
          <a:prstGeom prst="rect">
            <a:avLst/>
          </a:prstGeom>
          <a:noFill/>
          <a:ln>
            <a:solidFill>
              <a:srgbClr val="002060"/>
            </a:solidFill>
          </a:ln>
        </p:spPr>
        <p:txBody>
          <a:bodyPr wrap="none" rtlCol="0">
            <a:spAutoFit/>
          </a:bodyPr>
          <a:lstStyle/>
          <a:p>
            <a:pPr algn="ctr"/>
            <a:r>
              <a:rPr lang="en-IN" sz="1400" i="1" dirty="0">
                <a:latin typeface="Arial" panose="020B0604020202020204" pitchFamily="34" charset="0"/>
                <a:cs typeface="Arial" panose="020B0604020202020204" pitchFamily="34" charset="0"/>
              </a:rPr>
              <a:t>Accuracy Loss Graph</a:t>
            </a:r>
          </a:p>
        </p:txBody>
      </p:sp>
      <p:sp>
        <p:nvSpPr>
          <p:cNvPr id="31" name="TextBox 30">
            <a:extLst>
              <a:ext uri="{FF2B5EF4-FFF2-40B4-BE49-F238E27FC236}">
                <a16:creationId xmlns:a16="http://schemas.microsoft.com/office/drawing/2014/main" id="{722B84B1-2F4D-F2FA-B0FE-F0E28A69557B}"/>
              </a:ext>
            </a:extLst>
          </p:cNvPr>
          <p:cNvSpPr txBox="1"/>
          <p:nvPr/>
        </p:nvSpPr>
        <p:spPr>
          <a:xfrm>
            <a:off x="9127620" y="6446469"/>
            <a:ext cx="1877437" cy="307777"/>
          </a:xfrm>
          <a:prstGeom prst="rect">
            <a:avLst/>
          </a:prstGeom>
          <a:noFill/>
          <a:ln>
            <a:solidFill>
              <a:srgbClr val="002060"/>
            </a:solidFill>
          </a:ln>
        </p:spPr>
        <p:txBody>
          <a:bodyPr wrap="none" rtlCol="0">
            <a:spAutoFit/>
          </a:bodyPr>
          <a:lstStyle/>
          <a:p>
            <a:pPr algn="ctr"/>
            <a:r>
              <a:rPr lang="en-IN" sz="1400" i="1" dirty="0">
                <a:latin typeface="Arial" panose="020B0604020202020204" pitchFamily="34" charset="0"/>
                <a:cs typeface="Arial" panose="020B0604020202020204" pitchFamily="34" charset="0"/>
              </a:rPr>
              <a:t>Classification Report</a:t>
            </a:r>
          </a:p>
        </p:txBody>
      </p:sp>
      <p:sp>
        <p:nvSpPr>
          <p:cNvPr id="32" name="TextBox 31">
            <a:extLst>
              <a:ext uri="{FF2B5EF4-FFF2-40B4-BE49-F238E27FC236}">
                <a16:creationId xmlns:a16="http://schemas.microsoft.com/office/drawing/2014/main" id="{7FF5161F-494A-703B-DDDC-A4D15F5C0C2C}"/>
              </a:ext>
            </a:extLst>
          </p:cNvPr>
          <p:cNvSpPr txBox="1"/>
          <p:nvPr/>
        </p:nvSpPr>
        <p:spPr>
          <a:xfrm>
            <a:off x="9302348" y="3583753"/>
            <a:ext cx="1527982" cy="307777"/>
          </a:xfrm>
          <a:prstGeom prst="rect">
            <a:avLst/>
          </a:prstGeom>
          <a:noFill/>
          <a:ln>
            <a:solidFill>
              <a:srgbClr val="002060"/>
            </a:solidFill>
          </a:ln>
        </p:spPr>
        <p:txBody>
          <a:bodyPr wrap="none" rtlCol="0">
            <a:spAutoFit/>
          </a:bodyPr>
          <a:lstStyle/>
          <a:p>
            <a:pPr algn="ctr"/>
            <a:r>
              <a:rPr lang="en-IN" sz="1400" i="1" dirty="0">
                <a:latin typeface="Arial" panose="020B0604020202020204" pitchFamily="34" charset="0"/>
                <a:cs typeface="Arial" panose="020B0604020202020204" pitchFamily="34" charset="0"/>
              </a:rPr>
              <a:t>Confusion Matrix</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3931" y="80518"/>
            <a:ext cx="9475595" cy="1140807"/>
          </a:xfrm>
        </p:spPr>
        <p:txBody>
          <a:bodyPr anchor="ctr">
            <a:normAutofit fontScale="90000"/>
          </a:bodyPr>
          <a:lstStyle/>
          <a:p>
            <a:pPr>
              <a:lnSpc>
                <a:spcPct val="100000"/>
              </a:lnSpc>
            </a:pPr>
            <a:r>
              <a:rPr lang="en-US" sz="3600" b="1" u="sng"/>
              <a:t>Real-Time Emotion Detection: Live Webcam Output</a:t>
            </a:r>
            <a:br>
              <a:rPr lang="en-IN" sz="3600" b="1" u="sng"/>
            </a:br>
            <a:endParaRPr lang="en-IN" sz="36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582805" y="1283041"/>
            <a:ext cx="11305456" cy="5160760"/>
          </a:xfrm>
        </p:spPr>
        <p:txBody>
          <a:bodyPr vert="horz" lIns="91440" tIns="45720" rIns="91440" bIns="45720" rtlCol="0" anchor="t">
            <a:normAutofit/>
          </a:bodyPr>
          <a:lstStyle/>
          <a:p>
            <a:pPr>
              <a:lnSpc>
                <a:spcPct val="100000"/>
              </a:lnSpc>
              <a:buFont typeface="Courier New" panose="02070309020205020404" pitchFamily="49" charset="0"/>
              <a:buChar char="o"/>
            </a:pPr>
            <a:r>
              <a:rPr lang="en-US" sz="2000">
                <a:solidFill>
                  <a:srgbClr val="0D0D0D"/>
                </a:solidFill>
                <a:latin typeface="ui-sans-serif"/>
              </a:rPr>
              <a:t>M</a:t>
            </a:r>
            <a:endParaRPr lang="en-US" sz="2000" dirty="0">
              <a:solidFill>
                <a:srgbClr val="0D0D0D"/>
              </a:solidFill>
              <a:latin typeface="ui-sans-serif"/>
            </a:endParaRPr>
          </a:p>
        </p:txBody>
      </p:sp>
      <p:pic>
        <p:nvPicPr>
          <p:cNvPr id="4" name="Picture 2" descr="Sister Nivedita University | Best Private College in India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8447" y="65380"/>
            <a:ext cx="1932605" cy="59439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5B2499C-E156-1BDA-1675-92949386693F}"/>
              </a:ext>
            </a:extLst>
          </p:cNvPr>
          <p:cNvSpPr/>
          <p:nvPr/>
        </p:nvSpPr>
        <p:spPr>
          <a:xfrm>
            <a:off x="233931" y="743578"/>
            <a:ext cx="11724138" cy="5897901"/>
          </a:xfrm>
          <a:prstGeom prst="rect">
            <a:avLst/>
          </a:prstGeom>
          <a:solidFill>
            <a:schemeClr val="bg1">
              <a:lumMod val="95000"/>
            </a:schemeClr>
          </a:solidFill>
          <a:ln>
            <a:solidFill>
              <a:schemeClr val="bg1">
                <a:lumMod val="65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rtlCol="0" anchor="ctr"/>
          <a:lstStyle/>
          <a:p>
            <a:pPr algn="just"/>
            <a:endParaRPr lang="en-US" dirty="0">
              <a:solidFill>
                <a:srgbClr val="0D0D0D"/>
              </a:solidFill>
            </a:endParaRPr>
          </a:p>
          <a:p>
            <a:pPr algn="ctr"/>
            <a:endParaRPr lang="en-IN" dirty="0"/>
          </a:p>
        </p:txBody>
      </p:sp>
      <p:pic>
        <p:nvPicPr>
          <p:cNvPr id="11" name="Picture 10">
            <a:extLst>
              <a:ext uri="{FF2B5EF4-FFF2-40B4-BE49-F238E27FC236}">
                <a16:creationId xmlns:a16="http://schemas.microsoft.com/office/drawing/2014/main" id="{4CBD8CA9-EB28-F96F-2B54-C0EE29F1F7D2}"/>
              </a:ext>
            </a:extLst>
          </p:cNvPr>
          <p:cNvPicPr>
            <a:picLocks noChangeAspect="1"/>
          </p:cNvPicPr>
          <p:nvPr/>
        </p:nvPicPr>
        <p:blipFill>
          <a:blip r:embed="rId3"/>
          <a:stretch>
            <a:fillRect/>
          </a:stretch>
        </p:blipFill>
        <p:spPr>
          <a:xfrm>
            <a:off x="3687745" y="2786274"/>
            <a:ext cx="4835652" cy="1721641"/>
          </a:xfrm>
          <a:prstGeom prst="rect">
            <a:avLst/>
          </a:prstGeom>
        </p:spPr>
      </p:pic>
      <p:pic>
        <p:nvPicPr>
          <p:cNvPr id="13" name="Picture 12">
            <a:extLst>
              <a:ext uri="{FF2B5EF4-FFF2-40B4-BE49-F238E27FC236}">
                <a16:creationId xmlns:a16="http://schemas.microsoft.com/office/drawing/2014/main" id="{08D414D6-E8C7-4641-D8D3-FA861E23BC6E}"/>
              </a:ext>
            </a:extLst>
          </p:cNvPr>
          <p:cNvPicPr>
            <a:picLocks noChangeAspect="1"/>
          </p:cNvPicPr>
          <p:nvPr/>
        </p:nvPicPr>
        <p:blipFill>
          <a:blip r:embed="rId4"/>
          <a:stretch>
            <a:fillRect/>
          </a:stretch>
        </p:blipFill>
        <p:spPr>
          <a:xfrm>
            <a:off x="504856" y="877321"/>
            <a:ext cx="3462863" cy="1700925"/>
          </a:xfrm>
          <a:prstGeom prst="rect">
            <a:avLst/>
          </a:prstGeom>
        </p:spPr>
      </p:pic>
      <p:pic>
        <p:nvPicPr>
          <p:cNvPr id="17" name="Picture 16">
            <a:extLst>
              <a:ext uri="{FF2B5EF4-FFF2-40B4-BE49-F238E27FC236}">
                <a16:creationId xmlns:a16="http://schemas.microsoft.com/office/drawing/2014/main" id="{9578DDA5-52CE-1538-F17F-2A28F97AEDB4}"/>
              </a:ext>
            </a:extLst>
          </p:cNvPr>
          <p:cNvPicPr>
            <a:picLocks noChangeAspect="1"/>
          </p:cNvPicPr>
          <p:nvPr/>
        </p:nvPicPr>
        <p:blipFill>
          <a:blip r:embed="rId5"/>
          <a:stretch>
            <a:fillRect/>
          </a:stretch>
        </p:blipFill>
        <p:spPr>
          <a:xfrm>
            <a:off x="4238644" y="868285"/>
            <a:ext cx="3719116" cy="1721642"/>
          </a:xfrm>
          <a:prstGeom prst="rect">
            <a:avLst/>
          </a:prstGeom>
        </p:spPr>
      </p:pic>
      <p:pic>
        <p:nvPicPr>
          <p:cNvPr id="19" name="Picture 18">
            <a:extLst>
              <a:ext uri="{FF2B5EF4-FFF2-40B4-BE49-F238E27FC236}">
                <a16:creationId xmlns:a16="http://schemas.microsoft.com/office/drawing/2014/main" id="{B7E4EBC3-EABF-07E6-A5A9-6E62E50E2580}"/>
              </a:ext>
            </a:extLst>
          </p:cNvPr>
          <p:cNvPicPr>
            <a:picLocks noChangeAspect="1"/>
          </p:cNvPicPr>
          <p:nvPr/>
        </p:nvPicPr>
        <p:blipFill>
          <a:blip r:embed="rId6"/>
          <a:stretch>
            <a:fillRect/>
          </a:stretch>
        </p:blipFill>
        <p:spPr>
          <a:xfrm>
            <a:off x="504856" y="4715943"/>
            <a:ext cx="3462863" cy="1768224"/>
          </a:xfrm>
          <a:prstGeom prst="rect">
            <a:avLst/>
          </a:prstGeom>
        </p:spPr>
      </p:pic>
      <p:pic>
        <p:nvPicPr>
          <p:cNvPr id="21" name="Picture 20">
            <a:extLst>
              <a:ext uri="{FF2B5EF4-FFF2-40B4-BE49-F238E27FC236}">
                <a16:creationId xmlns:a16="http://schemas.microsoft.com/office/drawing/2014/main" id="{1E7A6804-56B3-C3DE-13CF-D1C8F02CC718}"/>
              </a:ext>
            </a:extLst>
          </p:cNvPr>
          <p:cNvPicPr>
            <a:picLocks noChangeAspect="1"/>
          </p:cNvPicPr>
          <p:nvPr/>
        </p:nvPicPr>
        <p:blipFill>
          <a:blip r:embed="rId7"/>
          <a:stretch>
            <a:fillRect/>
          </a:stretch>
        </p:blipFill>
        <p:spPr>
          <a:xfrm>
            <a:off x="4350376" y="4715944"/>
            <a:ext cx="3607384" cy="1727858"/>
          </a:xfrm>
          <a:prstGeom prst="rect">
            <a:avLst/>
          </a:prstGeom>
        </p:spPr>
      </p:pic>
      <p:pic>
        <p:nvPicPr>
          <p:cNvPr id="23" name="Picture 22">
            <a:extLst>
              <a:ext uri="{FF2B5EF4-FFF2-40B4-BE49-F238E27FC236}">
                <a16:creationId xmlns:a16="http://schemas.microsoft.com/office/drawing/2014/main" id="{C639A7E1-7AAE-8CF0-EAE7-5F815D988D8C}"/>
              </a:ext>
            </a:extLst>
          </p:cNvPr>
          <p:cNvPicPr>
            <a:picLocks noChangeAspect="1"/>
          </p:cNvPicPr>
          <p:nvPr/>
        </p:nvPicPr>
        <p:blipFill>
          <a:blip r:embed="rId8"/>
          <a:stretch>
            <a:fillRect/>
          </a:stretch>
        </p:blipFill>
        <p:spPr>
          <a:xfrm>
            <a:off x="8231286" y="4715943"/>
            <a:ext cx="3514985" cy="1678685"/>
          </a:xfrm>
          <a:prstGeom prst="rect">
            <a:avLst/>
          </a:prstGeom>
        </p:spPr>
      </p:pic>
      <p:pic>
        <p:nvPicPr>
          <p:cNvPr id="28" name="Picture 27">
            <a:extLst>
              <a:ext uri="{FF2B5EF4-FFF2-40B4-BE49-F238E27FC236}">
                <a16:creationId xmlns:a16="http://schemas.microsoft.com/office/drawing/2014/main" id="{170401F5-73B3-D370-3FC5-0B61CA9E9159}"/>
              </a:ext>
            </a:extLst>
          </p:cNvPr>
          <p:cNvPicPr>
            <a:picLocks noChangeAspect="1"/>
          </p:cNvPicPr>
          <p:nvPr/>
        </p:nvPicPr>
        <p:blipFill>
          <a:blip r:embed="rId9"/>
          <a:stretch>
            <a:fillRect/>
          </a:stretch>
        </p:blipFill>
        <p:spPr>
          <a:xfrm>
            <a:off x="8228684" y="877089"/>
            <a:ext cx="3573103" cy="17011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9432" y="44261"/>
            <a:ext cx="3304846" cy="1104421"/>
          </a:xfrm>
        </p:spPr>
        <p:txBody>
          <a:bodyPr>
            <a:normAutofit/>
          </a:bodyPr>
          <a:lstStyle/>
          <a:p>
            <a:r>
              <a:rPr lang="en-IN" sz="3600">
                <a:latin typeface="Arial" panose="020B0604020202020204" pitchFamily="34" charset="0"/>
                <a:cs typeface="Arial" panose="020B0604020202020204" pitchFamily="34" charset="0"/>
              </a:rPr>
              <a:t>CONCLUSION</a:t>
            </a:r>
          </a:p>
        </p:txBody>
      </p:sp>
      <p:sp>
        <p:nvSpPr>
          <p:cNvPr id="3" name="Content Placeholder 2"/>
          <p:cNvSpPr>
            <a:spLocks noGrp="1"/>
          </p:cNvSpPr>
          <p:nvPr>
            <p:ph idx="1"/>
          </p:nvPr>
        </p:nvSpPr>
        <p:spPr>
          <a:xfrm>
            <a:off x="364236" y="948955"/>
            <a:ext cx="11038332" cy="5493186"/>
          </a:xfrm>
        </p:spPr>
        <p:txBody>
          <a:bodyPr>
            <a:normAutofit/>
          </a:bodyPr>
          <a:lstStyle/>
          <a:p>
            <a:pPr marL="0" indent="0" algn="l">
              <a:buNone/>
            </a:pPr>
            <a:r>
              <a:rPr lang="en-IN" i="1" dirty="0"/>
              <a:t> </a:t>
            </a:r>
          </a:p>
        </p:txBody>
      </p:sp>
      <p:pic>
        <p:nvPicPr>
          <p:cNvPr id="4" name="Picture 2" descr="Sister Nivedita University | Best Private College in Indi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12679" y="143731"/>
            <a:ext cx="1864273" cy="57337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48CC7C92-6EE9-AA7F-03C1-8C55789A5132}"/>
              </a:ext>
            </a:extLst>
          </p:cNvPr>
          <p:cNvGrpSpPr/>
          <p:nvPr/>
        </p:nvGrpSpPr>
        <p:grpSpPr>
          <a:xfrm>
            <a:off x="315047" y="948954"/>
            <a:ext cx="11512717" cy="5493186"/>
            <a:chOff x="867266" y="948955"/>
            <a:chExt cx="10058399" cy="5491165"/>
          </a:xfrm>
        </p:grpSpPr>
        <p:sp>
          <p:nvSpPr>
            <p:cNvPr id="82" name="Rectangle 81">
              <a:extLst>
                <a:ext uri="{FF2B5EF4-FFF2-40B4-BE49-F238E27FC236}">
                  <a16:creationId xmlns:a16="http://schemas.microsoft.com/office/drawing/2014/main" id="{3EC54519-7774-62B3-FE77-36C20E5A9C85}"/>
                </a:ext>
              </a:extLst>
            </p:cNvPr>
            <p:cNvSpPr/>
            <p:nvPr/>
          </p:nvSpPr>
          <p:spPr>
            <a:xfrm>
              <a:off x="867266" y="948955"/>
              <a:ext cx="10058399" cy="5491165"/>
            </a:xfrm>
            <a:prstGeom prst="rect">
              <a:avLst/>
            </a:prstGeom>
            <a:solidFill>
              <a:schemeClr val="bg1">
                <a:lumMod val="9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5" name="Flowchart: Delay 4">
              <a:extLst>
                <a:ext uri="{FF2B5EF4-FFF2-40B4-BE49-F238E27FC236}">
                  <a16:creationId xmlns:a16="http://schemas.microsoft.com/office/drawing/2014/main" id="{C8B57FAA-FE84-1334-FE89-1A9BA10F9F3B}"/>
                </a:ext>
              </a:extLst>
            </p:cNvPr>
            <p:cNvSpPr/>
            <p:nvPr/>
          </p:nvSpPr>
          <p:spPr>
            <a:xfrm>
              <a:off x="1394460" y="2532887"/>
              <a:ext cx="2491740" cy="2455671"/>
            </a:xfrm>
            <a:prstGeom prst="flowChartDelay">
              <a:avLst/>
            </a:prstGeom>
            <a:gradFill flip="none" rotWithShape="1">
              <a:gsLst>
                <a:gs pos="0">
                  <a:schemeClr val="accent6">
                    <a:lumMod val="40000"/>
                    <a:lumOff val="60000"/>
                    <a:shade val="30000"/>
                    <a:satMod val="115000"/>
                  </a:schemeClr>
                </a:gs>
                <a:gs pos="50000">
                  <a:schemeClr val="accent6">
                    <a:lumMod val="40000"/>
                    <a:lumOff val="60000"/>
                    <a:shade val="67500"/>
                    <a:satMod val="115000"/>
                  </a:schemeClr>
                </a:gs>
                <a:gs pos="100000">
                  <a:schemeClr val="accent6">
                    <a:lumMod val="40000"/>
                    <a:lumOff val="60000"/>
                    <a:shade val="100000"/>
                    <a:satMod val="115000"/>
                  </a:schemeClr>
                </a:gs>
              </a:gsLst>
              <a:lin ang="10800000" scaled="1"/>
              <a:tileRect/>
            </a:gra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800" b="1" dirty="0">
                  <a:solidFill>
                    <a:schemeClr val="bg1"/>
                  </a:solidFill>
                  <a:effectLst>
                    <a:outerShdw blurRad="38100" dist="38100" dir="2700000" algn="tl">
                      <a:srgbClr val="000000">
                        <a:alpha val="43137"/>
                      </a:srgbClr>
                    </a:outerShdw>
                  </a:effectLst>
                  <a:latin typeface="Calibri"/>
                  <a:ea typeface="Calibri"/>
                  <a:cs typeface="Segoe UI Semibold"/>
                </a:rPr>
                <a:t>SUMMARY</a:t>
              </a:r>
            </a:p>
            <a:p>
              <a:pPr algn="ctr"/>
              <a:r>
                <a:rPr lang="en-IN" sz="2800" b="1" dirty="0">
                  <a:solidFill>
                    <a:schemeClr val="bg1"/>
                  </a:solidFill>
                  <a:effectLst>
                    <a:outerShdw blurRad="38100" dist="38100" dir="2700000" algn="tl">
                      <a:srgbClr val="000000">
                        <a:alpha val="43137"/>
                      </a:srgbClr>
                    </a:outerShdw>
                  </a:effectLst>
                  <a:latin typeface="Calibri"/>
                  <a:ea typeface="Calibri"/>
                  <a:cs typeface="Segoe UI Semibold"/>
                </a:rPr>
                <a:t>OF KEY</a:t>
              </a:r>
            </a:p>
            <a:p>
              <a:pPr algn="ctr"/>
              <a:r>
                <a:rPr lang="en-IN" sz="2800" b="1" dirty="0">
                  <a:solidFill>
                    <a:schemeClr val="bg1"/>
                  </a:solidFill>
                  <a:effectLst>
                    <a:outerShdw blurRad="38100" dist="38100" dir="2700000" algn="tl">
                      <a:srgbClr val="000000">
                        <a:alpha val="43137"/>
                      </a:srgbClr>
                    </a:outerShdw>
                  </a:effectLst>
                  <a:latin typeface="Calibri"/>
                  <a:ea typeface="Calibri"/>
                  <a:cs typeface="Segoe UI Semibold"/>
                </a:rPr>
                <a:t>POINTS</a:t>
              </a:r>
            </a:p>
          </p:txBody>
        </p:sp>
        <p:cxnSp>
          <p:nvCxnSpPr>
            <p:cNvPr id="21" name="Connector: Elbow 20">
              <a:extLst>
                <a:ext uri="{FF2B5EF4-FFF2-40B4-BE49-F238E27FC236}">
                  <a16:creationId xmlns:a16="http://schemas.microsoft.com/office/drawing/2014/main" id="{DD518520-8789-DBA6-9FC6-868954AB43AD}"/>
                </a:ext>
              </a:extLst>
            </p:cNvPr>
            <p:cNvCxnSpPr>
              <a:cxnSpLocks/>
            </p:cNvCxnSpPr>
            <p:nvPr/>
          </p:nvCxnSpPr>
          <p:spPr>
            <a:xfrm flipV="1">
              <a:off x="1884984" y="1684693"/>
              <a:ext cx="4377131" cy="48262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8CA3A3C2-229E-1C8C-3EAC-7C6F597D8166}"/>
                </a:ext>
              </a:extLst>
            </p:cNvPr>
            <p:cNvCxnSpPr>
              <a:cxnSpLocks/>
              <a:endCxn id="51" idx="1"/>
            </p:cNvCxnSpPr>
            <p:nvPr/>
          </p:nvCxnSpPr>
          <p:spPr>
            <a:xfrm flipV="1">
              <a:off x="3886200" y="2697155"/>
              <a:ext cx="2423160" cy="440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061FEC4-30D8-46F6-9FA0-985B0A42827F}"/>
                </a:ext>
              </a:extLst>
            </p:cNvPr>
            <p:cNvCxnSpPr>
              <a:cxnSpLocks/>
            </p:cNvCxnSpPr>
            <p:nvPr/>
          </p:nvCxnSpPr>
          <p:spPr>
            <a:xfrm flipV="1">
              <a:off x="4186952" y="4297398"/>
              <a:ext cx="4650418" cy="2976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3AB3C10-CFA7-E907-1BF4-8DA5976DB0A6}"/>
                </a:ext>
              </a:extLst>
            </p:cNvPr>
            <p:cNvCxnSpPr>
              <a:cxnSpLocks/>
            </p:cNvCxnSpPr>
            <p:nvPr/>
          </p:nvCxnSpPr>
          <p:spPr>
            <a:xfrm>
              <a:off x="3946875" y="4727448"/>
              <a:ext cx="23533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C1CBB0DE-BA8A-C762-8EDC-A8FF2A7F750C}"/>
                </a:ext>
              </a:extLst>
            </p:cNvPr>
            <p:cNvCxnSpPr>
              <a:cxnSpLocks/>
            </p:cNvCxnSpPr>
            <p:nvPr/>
          </p:nvCxnSpPr>
          <p:spPr>
            <a:xfrm>
              <a:off x="1597688" y="5351658"/>
              <a:ext cx="4711670" cy="435010"/>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1A7F689-B2F8-9A69-C998-BF0152C9FD22}"/>
                </a:ext>
              </a:extLst>
            </p:cNvPr>
            <p:cNvSpPr/>
            <p:nvPr/>
          </p:nvSpPr>
          <p:spPr>
            <a:xfrm>
              <a:off x="6265765" y="1165103"/>
              <a:ext cx="4479318" cy="1064741"/>
            </a:xfrm>
            <a:prstGeom prst="ellipse">
              <a:avLst/>
            </a:prstGeom>
            <a:solidFill>
              <a:schemeClr val="accent4">
                <a:lumMod val="40000"/>
                <a:lumOff val="60000"/>
              </a:schemeClr>
            </a:soli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Successfully developed a real-time facial emotion recognition system using </a:t>
              </a:r>
              <a:r>
                <a:rPr lang="en-US" sz="1600" b="1">
                  <a:solidFill>
                    <a:schemeClr val="tx1"/>
                  </a:solidFill>
                </a:rPr>
                <a:t>CNN  </a:t>
              </a:r>
              <a:r>
                <a:rPr lang="en-US" sz="1600" b="1" dirty="0">
                  <a:solidFill>
                    <a:schemeClr val="tx1"/>
                  </a:solidFill>
                </a:rPr>
                <a:t>architecture</a:t>
              </a:r>
              <a:endParaRPr lang="en-IN" sz="1600" b="1" dirty="0">
                <a:solidFill>
                  <a:schemeClr val="tx1"/>
                </a:solidFill>
              </a:endParaRPr>
            </a:p>
          </p:txBody>
        </p:sp>
        <p:sp>
          <p:nvSpPr>
            <p:cNvPr id="51" name="Rectangle 50">
              <a:extLst>
                <a:ext uri="{FF2B5EF4-FFF2-40B4-BE49-F238E27FC236}">
                  <a16:creationId xmlns:a16="http://schemas.microsoft.com/office/drawing/2014/main" id="{98FFEFF4-2B22-41BC-15F8-FED631444452}"/>
                </a:ext>
              </a:extLst>
            </p:cNvPr>
            <p:cNvSpPr/>
            <p:nvPr/>
          </p:nvSpPr>
          <p:spPr>
            <a:xfrm>
              <a:off x="6309360" y="2308401"/>
              <a:ext cx="4392134" cy="777507"/>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5400000" scaled="1"/>
              <a:tileRect/>
            </a:gra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The model effectively detects and classifies 7 different emotions from facial expressions</a:t>
              </a:r>
              <a:endParaRPr lang="en-IN" sz="1600" b="1" dirty="0">
                <a:solidFill>
                  <a:schemeClr val="tx1"/>
                </a:solidFill>
              </a:endParaRPr>
            </a:p>
          </p:txBody>
        </p:sp>
        <p:sp>
          <p:nvSpPr>
            <p:cNvPr id="53" name="Oval 52">
              <a:extLst>
                <a:ext uri="{FF2B5EF4-FFF2-40B4-BE49-F238E27FC236}">
                  <a16:creationId xmlns:a16="http://schemas.microsoft.com/office/drawing/2014/main" id="{F50B1666-4DEB-285A-ED9B-DC15BB8A6F0F}"/>
                </a:ext>
              </a:extLst>
            </p:cNvPr>
            <p:cNvSpPr/>
            <p:nvPr/>
          </p:nvSpPr>
          <p:spPr>
            <a:xfrm>
              <a:off x="6349300" y="5272146"/>
              <a:ext cx="4392133" cy="1029044"/>
            </a:xfrm>
            <a:prstGeom prst="ellipse">
              <a:avLst/>
            </a:prstGeom>
            <a:solidFill>
              <a:schemeClr val="accent4">
                <a:lumMod val="40000"/>
                <a:lumOff val="60000"/>
              </a:schemeClr>
            </a:soli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Overall, the system provides an automated, efficient, and scalable solution for emotion analysis</a:t>
              </a:r>
              <a:endParaRPr lang="en-IN" sz="1600" b="1" dirty="0">
                <a:solidFill>
                  <a:schemeClr val="tx1"/>
                </a:solidFill>
              </a:endParaRPr>
            </a:p>
          </p:txBody>
        </p:sp>
        <p:sp>
          <p:nvSpPr>
            <p:cNvPr id="54" name="Rectangle 53">
              <a:extLst>
                <a:ext uri="{FF2B5EF4-FFF2-40B4-BE49-F238E27FC236}">
                  <a16:creationId xmlns:a16="http://schemas.microsoft.com/office/drawing/2014/main" id="{62CC3F1F-0157-6970-5FEE-6A7A879EEF22}"/>
                </a:ext>
              </a:extLst>
            </p:cNvPr>
            <p:cNvSpPr/>
            <p:nvPr/>
          </p:nvSpPr>
          <p:spPr>
            <a:xfrm>
              <a:off x="6309358" y="4355109"/>
              <a:ext cx="4392133" cy="838480"/>
            </a:xfrm>
            <a:prstGeom prst="rect">
              <a:avLst/>
            </a:prstGeom>
            <a:gradFill flip="none" rotWithShape="1">
              <a:gsLst>
                <a:gs pos="0">
                  <a:schemeClr val="accent1">
                    <a:lumMod val="60000"/>
                    <a:lumOff val="40000"/>
                    <a:tint val="66000"/>
                    <a:satMod val="160000"/>
                  </a:schemeClr>
                </a:gs>
                <a:gs pos="50000">
                  <a:schemeClr val="accent1">
                    <a:lumMod val="60000"/>
                    <a:lumOff val="40000"/>
                    <a:tint val="44500"/>
                    <a:satMod val="160000"/>
                  </a:schemeClr>
                </a:gs>
                <a:gs pos="100000">
                  <a:schemeClr val="accent1">
                    <a:lumMod val="60000"/>
                    <a:lumOff val="40000"/>
                    <a:tint val="23500"/>
                    <a:satMod val="160000"/>
                  </a:schemeClr>
                </a:gs>
              </a:gsLst>
              <a:lin ang="10800000" scaled="1"/>
              <a:tileRect/>
            </a:gra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Enabled continuous monitoring and storage of emotional data to analyze patterns over time</a:t>
              </a:r>
              <a:endParaRPr lang="en-IN" sz="1600" b="1" dirty="0">
                <a:solidFill>
                  <a:schemeClr val="tx1"/>
                </a:solidFill>
              </a:endParaRPr>
            </a:p>
          </p:txBody>
        </p:sp>
        <p:cxnSp>
          <p:nvCxnSpPr>
            <p:cNvPr id="67" name="Straight Arrow Connector 66">
              <a:extLst>
                <a:ext uri="{FF2B5EF4-FFF2-40B4-BE49-F238E27FC236}">
                  <a16:creationId xmlns:a16="http://schemas.microsoft.com/office/drawing/2014/main" id="{62E0DDE8-F129-A2E0-60A6-0D27A5A34D0E}"/>
                </a:ext>
              </a:extLst>
            </p:cNvPr>
            <p:cNvCxnSpPr>
              <a:cxnSpLocks/>
              <a:endCxn id="6" idx="2"/>
            </p:cNvCxnSpPr>
            <p:nvPr/>
          </p:nvCxnSpPr>
          <p:spPr>
            <a:xfrm flipV="1">
              <a:off x="4279106" y="3706533"/>
              <a:ext cx="2030254" cy="850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Rectangle: Diagonal Corners Snipped 5">
              <a:extLst>
                <a:ext uri="{FF2B5EF4-FFF2-40B4-BE49-F238E27FC236}">
                  <a16:creationId xmlns:a16="http://schemas.microsoft.com/office/drawing/2014/main" id="{92300BE1-52B1-A550-F6F4-85A5F4FB4EEB}"/>
                </a:ext>
              </a:extLst>
            </p:cNvPr>
            <p:cNvSpPr/>
            <p:nvPr/>
          </p:nvSpPr>
          <p:spPr>
            <a:xfrm>
              <a:off x="6309360" y="3186702"/>
              <a:ext cx="2167258" cy="1039662"/>
            </a:xfrm>
            <a:prstGeom prst="snip2Diag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10800000" scaled="1"/>
              <a:tileRect/>
            </a:gra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Applied preprocessing, data augmentation, and transfer learning to improve accuracy and performance</a:t>
              </a:r>
              <a:endParaRPr lang="en-IN" sz="1400" b="1" dirty="0">
                <a:solidFill>
                  <a:schemeClr val="tx1"/>
                </a:solidFill>
              </a:endParaRPr>
            </a:p>
          </p:txBody>
        </p:sp>
        <p:sp>
          <p:nvSpPr>
            <p:cNvPr id="7" name="Rectangle: Diagonal Corners Snipped 6">
              <a:extLst>
                <a:ext uri="{FF2B5EF4-FFF2-40B4-BE49-F238E27FC236}">
                  <a16:creationId xmlns:a16="http://schemas.microsoft.com/office/drawing/2014/main" id="{A1D01332-26F9-416F-BC34-27FF5089E905}"/>
                </a:ext>
              </a:extLst>
            </p:cNvPr>
            <p:cNvSpPr/>
            <p:nvPr/>
          </p:nvSpPr>
          <p:spPr>
            <a:xfrm>
              <a:off x="8660047" y="3208222"/>
              <a:ext cx="2090587" cy="1049898"/>
            </a:xfrm>
            <a:prstGeom prst="snip2Diag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noFill/>
            </a:ln>
            <a:effectLst>
              <a:outerShdw blurRad="63500" sx="102000" sy="102000" algn="c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Implemented evaluation techniques such as accuracy, loss graphs, and confusion matrix for validation</a:t>
              </a:r>
              <a:endParaRPr lang="en-IN" sz="1400" b="1" dirty="0">
                <a:solidFill>
                  <a:schemeClr val="tx1"/>
                </a:solidFill>
              </a:endParaRPr>
            </a:p>
          </p:txBody>
        </p:sp>
      </p:grpSp>
      <p:sp>
        <p:nvSpPr>
          <p:cNvPr id="17" name="Arc 16">
            <a:extLst>
              <a:ext uri="{FF2B5EF4-FFF2-40B4-BE49-F238E27FC236}">
                <a16:creationId xmlns:a16="http://schemas.microsoft.com/office/drawing/2014/main" id="{706DA134-7CD5-B2FD-2B2F-ED53BCE6CF04}"/>
              </a:ext>
            </a:extLst>
          </p:cNvPr>
          <p:cNvSpPr/>
          <p:nvPr/>
        </p:nvSpPr>
        <p:spPr>
          <a:xfrm>
            <a:off x="395059" y="2176268"/>
            <a:ext cx="3825137" cy="3172756"/>
          </a:xfrm>
          <a:prstGeom prst="arc">
            <a:avLst>
              <a:gd name="adj1" fmla="val 15801431"/>
              <a:gd name="adj2" fmla="val 5847496"/>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B5F180-0E3C-AD86-67E3-C21D35FEAF05}"/>
              </a:ext>
            </a:extLst>
          </p:cNvPr>
          <p:cNvSpPr>
            <a:spLocks noGrp="1"/>
          </p:cNvSpPr>
          <p:nvPr>
            <p:ph type="title"/>
          </p:nvPr>
        </p:nvSpPr>
        <p:spPr>
          <a:xfrm>
            <a:off x="332657" y="155448"/>
            <a:ext cx="3772999" cy="741179"/>
          </a:xfrm>
          <a:ln>
            <a:noFill/>
          </a:ln>
        </p:spPr>
        <p:txBody>
          <a:bodyPr>
            <a:normAutofit/>
          </a:bodyPr>
          <a:lstStyle/>
          <a:p>
            <a:r>
              <a:rPr lang="en-IN" sz="3600" dirty="0">
                <a:latin typeface="Arial" panose="020B0604020202020204" pitchFamily="34" charset="0"/>
                <a:cs typeface="Arial" panose="020B0604020202020204" pitchFamily="34" charset="0"/>
              </a:rPr>
              <a:t>🔒LIMITATIONS</a:t>
            </a:r>
          </a:p>
        </p:txBody>
      </p:sp>
      <p:pic>
        <p:nvPicPr>
          <p:cNvPr id="2" name="Picture 2" descr="Sister Nivedita University | Best Private College in India ...">
            <a:extLst>
              <a:ext uri="{FF2B5EF4-FFF2-40B4-BE49-F238E27FC236}">
                <a16:creationId xmlns:a16="http://schemas.microsoft.com/office/drawing/2014/main" id="{625C9FEC-ABA5-2C2A-7371-A6CBB32B0D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54815" y="108075"/>
            <a:ext cx="2132538" cy="65588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1">
            <a:extLst>
              <a:ext uri="{FF2B5EF4-FFF2-40B4-BE49-F238E27FC236}">
                <a16:creationId xmlns:a16="http://schemas.microsoft.com/office/drawing/2014/main" id="{B7403778-01E9-2AA8-61AA-D1D9E95EC835}"/>
              </a:ext>
            </a:extLst>
          </p:cNvPr>
          <p:cNvSpPr>
            <a:spLocks noGrp="1" noChangeArrowheads="1"/>
          </p:cNvSpPr>
          <p:nvPr>
            <p:ph idx="1"/>
          </p:nvPr>
        </p:nvSpPr>
        <p:spPr bwMode="auto">
          <a:xfrm>
            <a:off x="332657" y="884748"/>
            <a:ext cx="11454696" cy="2031325"/>
          </a:xfrm>
          <a:prstGeom prst="rect">
            <a:avLst/>
          </a:prstGeom>
          <a:solidFill>
            <a:schemeClr val="bg1"/>
          </a:solidFill>
          <a:ln w="9525">
            <a:solidFill>
              <a:schemeClr val="tx1"/>
            </a:solidFill>
            <a:miter lim="800000"/>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1800" i="1" dirty="0"/>
              <a:t>Despite achieving satisfactory performance, the proposed system has certain limitations :-</a:t>
            </a:r>
            <a:endParaRPr kumimoji="0" lang="en-US" altLang="en-US" sz="1800" b="0" i="1"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rPr>
              <a:t>  Model performance may be affected by variations in lighting conditions, facial orientation, and occlusion </a:t>
            </a:r>
          </a:p>
          <a:p>
            <a:pPr eaLnBrk="0" fontAlgn="base" hangingPunct="0">
              <a:lnSpc>
                <a:spcPct val="1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rPr>
              <a:t>  Dataset may not fully represent real-world diversity, affecting generalization </a:t>
            </a:r>
          </a:p>
          <a:p>
            <a:pPr eaLnBrk="0" fontAlgn="base" hangingPunct="0">
              <a:lnSpc>
                <a:spcPct val="1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rPr>
              <a:t>  System currently supports single-face detection and is limited in multi-person scenarios </a:t>
            </a:r>
          </a:p>
          <a:p>
            <a:pPr eaLnBrk="0" fontAlgn="base" hangingPunct="0">
              <a:lnSpc>
                <a:spcPct val="1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rPr>
              <a:t>  Real-time performance depends on system hardware and processing capability </a:t>
            </a:r>
          </a:p>
          <a:p>
            <a:pPr eaLnBrk="0" fontAlgn="base" hangingPunct="0">
              <a:lnSpc>
                <a:spcPct val="1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rPr>
              <a:t>  Similar emotions (e.g., fear and surprise) may be misclassified due to overlapping features </a:t>
            </a:r>
          </a:p>
          <a:p>
            <a:pPr eaLnBrk="0" fontAlgn="base" hangingPunct="0">
              <a:lnSpc>
                <a:spcPct val="100000"/>
              </a:lnSpc>
              <a:spcBef>
                <a:spcPct val="0"/>
              </a:spcBef>
              <a:spcAft>
                <a:spcPct val="0"/>
              </a:spcAft>
              <a:buFont typeface="Wingdings" panose="05000000000000000000" pitchFamily="2" charset="2"/>
              <a:buChar char="Ø"/>
            </a:pPr>
            <a:r>
              <a:rPr kumimoji="0" lang="en-US" altLang="en-US" sz="1800" b="0" i="0" u="none" strike="noStrike" cap="none" normalizeH="0" baseline="0" dirty="0">
                <a:ln>
                  <a:noFill/>
                </a:ln>
                <a:solidFill>
                  <a:schemeClr val="tx1"/>
                </a:solidFill>
                <a:effectLst/>
              </a:rPr>
              <a:t>  Continuous emotion tracking is basic and lacks advanced analytical insights </a:t>
            </a:r>
          </a:p>
        </p:txBody>
      </p:sp>
      <p:sp>
        <p:nvSpPr>
          <p:cNvPr id="9" name="Title 3">
            <a:extLst>
              <a:ext uri="{FF2B5EF4-FFF2-40B4-BE49-F238E27FC236}">
                <a16:creationId xmlns:a16="http://schemas.microsoft.com/office/drawing/2014/main" id="{2F8FCC5C-DE54-B4EB-30A8-070F96005DCE}"/>
              </a:ext>
            </a:extLst>
          </p:cNvPr>
          <p:cNvSpPr txBox="1">
            <a:spLocks/>
          </p:cNvSpPr>
          <p:nvPr/>
        </p:nvSpPr>
        <p:spPr>
          <a:xfrm>
            <a:off x="260667" y="2916642"/>
            <a:ext cx="5692077" cy="803444"/>
          </a:xfrm>
          <a:prstGeom prst="rect">
            <a:avLst/>
          </a:prstGeom>
          <a:ln>
            <a:noFill/>
          </a:ln>
          <a:effectLst>
            <a:innerShdw blurRad="114300">
              <a:prstClr val="black"/>
            </a:innerShdw>
          </a:effectLst>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latin typeface="Arial" panose="020B0604020202020204" pitchFamily="34" charset="0"/>
                <a:cs typeface="Arial" panose="020B0604020202020204" pitchFamily="34" charset="0"/>
              </a:rPr>
              <a:t>💡FUTURE WORKS</a:t>
            </a:r>
          </a:p>
        </p:txBody>
      </p:sp>
      <p:sp>
        <p:nvSpPr>
          <p:cNvPr id="13" name="Rectangle 4">
            <a:extLst>
              <a:ext uri="{FF2B5EF4-FFF2-40B4-BE49-F238E27FC236}">
                <a16:creationId xmlns:a16="http://schemas.microsoft.com/office/drawing/2014/main" id="{CFD0B2B5-3A1F-9B80-2767-AC7F259AC9F2}"/>
              </a:ext>
            </a:extLst>
          </p:cNvPr>
          <p:cNvSpPr>
            <a:spLocks noChangeArrowheads="1"/>
          </p:cNvSpPr>
          <p:nvPr/>
        </p:nvSpPr>
        <p:spPr bwMode="auto">
          <a:xfrm>
            <a:off x="332657" y="3650202"/>
            <a:ext cx="11454696" cy="2308324"/>
          </a:xfrm>
          <a:prstGeom prst="rect">
            <a:avLst/>
          </a:prstGeom>
          <a:solidFill>
            <a:schemeClr val="bg1"/>
          </a:solidFill>
          <a:ln w="9525">
            <a:solidFill>
              <a:schemeClr val="tx1"/>
            </a:solidFill>
            <a:miter lim="800000"/>
            <a:headEnd/>
            <a:tailEn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wrap="square" lIns="91440" tIns="45720" rIns="91440" bIns="45720" numCol="1" rtlCol="0" anchor="ctr" anchorCtr="0" compatLnSpc="1">
            <a:prstTxWarp prst="textNoShape">
              <a:avLst/>
            </a:prstTxWarp>
            <a:spAutoFit/>
          </a:bodyPr>
          <a:lstStyle/>
          <a:p>
            <a:pPr marL="285750" indent="-285750" eaLnBrk="0" fontAlgn="base" hangingPunct="0">
              <a:spcBef>
                <a:spcPct val="0"/>
              </a:spcBef>
              <a:spcAft>
                <a:spcPct val="0"/>
              </a:spcAft>
              <a:buFont typeface="Arial" panose="020B0604020202020204" pitchFamily="34" charset="0"/>
              <a:buChar char="•"/>
            </a:pPr>
            <a:r>
              <a:rPr lang="en-US" altLang="en-US" b="1" dirty="0"/>
              <a:t>Integration with Video Conferencing </a:t>
            </a:r>
            <a:br>
              <a:rPr lang="en-US" altLang="en-US" dirty="0"/>
            </a:br>
            <a:r>
              <a:rPr lang="en-US" altLang="en-US" dirty="0"/>
              <a:t>Can be integrated with platforms like Google Meet or Zoom for real-time emotion analysis </a:t>
            </a:r>
          </a:p>
          <a:p>
            <a:pPr marL="285750" indent="-285750" eaLnBrk="0" fontAlgn="base" hangingPunct="0">
              <a:spcBef>
                <a:spcPct val="0"/>
              </a:spcBef>
              <a:spcAft>
                <a:spcPct val="0"/>
              </a:spcAft>
              <a:buFont typeface="Arial" panose="020B0604020202020204" pitchFamily="34" charset="0"/>
              <a:buChar char="•"/>
            </a:pPr>
            <a:r>
              <a:rPr lang="en-US" altLang="en-US" b="1" dirty="0"/>
              <a:t>Participant Engagement Monitoring</a:t>
            </a:r>
            <a:br>
              <a:rPr lang="en-US" altLang="en-US" dirty="0"/>
            </a:br>
            <a:r>
              <a:rPr lang="en-US" altLang="en-US" dirty="0"/>
              <a:t>Helps track attention levels and provide feedback during meetings </a:t>
            </a:r>
          </a:p>
          <a:p>
            <a:pPr marL="285750" indent="-285750" eaLnBrk="0" fontAlgn="base" hangingPunct="0">
              <a:spcBef>
                <a:spcPct val="0"/>
              </a:spcBef>
              <a:spcAft>
                <a:spcPct val="0"/>
              </a:spcAft>
              <a:buFont typeface="Arial" panose="020B0604020202020204" pitchFamily="34" charset="0"/>
              <a:buChar char="•"/>
            </a:pPr>
            <a:r>
              <a:rPr lang="en-US" altLang="en-US" b="1" dirty="0"/>
              <a:t>Background Emotion Detection System</a:t>
            </a:r>
            <a:br>
              <a:rPr lang="en-US" altLang="en-US" dirty="0"/>
            </a:br>
            <a:r>
              <a:rPr lang="en-US" altLang="en-US" dirty="0"/>
              <a:t>Develop a desktop application for Windows/Linux that runs automatically </a:t>
            </a:r>
          </a:p>
          <a:p>
            <a:pPr marL="285750" indent="-285750" eaLnBrk="0" fontAlgn="base" hangingPunct="0">
              <a:spcBef>
                <a:spcPct val="0"/>
              </a:spcBef>
              <a:spcAft>
                <a:spcPct val="0"/>
              </a:spcAft>
              <a:buFont typeface="Arial" panose="020B0604020202020204" pitchFamily="34" charset="0"/>
              <a:buChar char="•"/>
            </a:pPr>
            <a:r>
              <a:rPr lang="en-US" altLang="en-US" b="1" dirty="0"/>
              <a:t>Real-Time Continuous Monitoring</a:t>
            </a:r>
            <a:br>
              <a:rPr lang="en-US" altLang="en-US" dirty="0"/>
            </a:br>
            <a:r>
              <a:rPr lang="en-US" altLang="en-US" dirty="0"/>
              <a:t>System runs in background, accesses webcam (with permission), and detects emotions in real time </a:t>
            </a:r>
          </a:p>
        </p:txBody>
      </p:sp>
      <p:sp>
        <p:nvSpPr>
          <p:cNvPr id="14" name="TextBox 13">
            <a:extLst>
              <a:ext uri="{FF2B5EF4-FFF2-40B4-BE49-F238E27FC236}">
                <a16:creationId xmlns:a16="http://schemas.microsoft.com/office/drawing/2014/main" id="{B86A2783-9AF5-6A12-18CB-511D7B15E9AF}"/>
              </a:ext>
            </a:extLst>
          </p:cNvPr>
          <p:cNvSpPr txBox="1"/>
          <p:nvPr/>
        </p:nvSpPr>
        <p:spPr>
          <a:xfrm>
            <a:off x="332657" y="6103594"/>
            <a:ext cx="11454695" cy="646331"/>
          </a:xfrm>
          <a:prstGeom prst="rect">
            <a:avLst/>
          </a:prstGeom>
          <a:noFill/>
        </p:spPr>
        <p:txBody>
          <a:bodyPr wrap="square" rtlCol="0">
            <a:spAutoFit/>
          </a:bodyPr>
          <a:lstStyle/>
          <a:p>
            <a:pPr algn="ctr"/>
            <a:r>
              <a:rPr lang="en-US" b="1" i="1" dirty="0"/>
              <a:t>This work highlights the potential of intelligent systems while opening paths for further advancements in accuracy, scalability, and real-time applications</a:t>
            </a:r>
            <a:endParaRPr lang="en-IN" b="1" i="1" dirty="0"/>
          </a:p>
        </p:txBody>
      </p:sp>
    </p:spTree>
    <p:extLst>
      <p:ext uri="{BB962C8B-B14F-4D97-AF65-F5344CB8AC3E}">
        <p14:creationId xmlns:p14="http://schemas.microsoft.com/office/powerpoint/2010/main" val="2162836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A78B9-BEE5-2219-4E24-26944A9030A1}"/>
              </a:ext>
            </a:extLst>
          </p:cNvPr>
          <p:cNvSpPr>
            <a:spLocks noGrp="1"/>
          </p:cNvSpPr>
          <p:nvPr>
            <p:ph type="title"/>
          </p:nvPr>
        </p:nvSpPr>
        <p:spPr>
          <a:xfrm>
            <a:off x="353568" y="0"/>
            <a:ext cx="10515600" cy="841883"/>
          </a:xfrm>
        </p:spPr>
        <p:txBody>
          <a:bodyPr>
            <a:normAutofit/>
          </a:bodyPr>
          <a:lstStyle/>
          <a:p>
            <a:r>
              <a:rPr lang="en-IN" sz="3600" dirty="0">
                <a:latin typeface="Arial" panose="020B0604020202020204" pitchFamily="34" charset="0"/>
                <a:cs typeface="Arial" panose="020B0604020202020204" pitchFamily="34" charset="0"/>
              </a:rPr>
              <a:t>🔗REFERENCES</a:t>
            </a:r>
          </a:p>
        </p:txBody>
      </p:sp>
      <p:sp>
        <p:nvSpPr>
          <p:cNvPr id="3" name="Content Placeholder 2">
            <a:extLst>
              <a:ext uri="{FF2B5EF4-FFF2-40B4-BE49-F238E27FC236}">
                <a16:creationId xmlns:a16="http://schemas.microsoft.com/office/drawing/2014/main" id="{9C1BEA72-C783-C01C-61DE-187E47F93676}"/>
              </a:ext>
            </a:extLst>
          </p:cNvPr>
          <p:cNvSpPr>
            <a:spLocks noGrp="1"/>
          </p:cNvSpPr>
          <p:nvPr>
            <p:ph idx="1"/>
          </p:nvPr>
        </p:nvSpPr>
        <p:spPr>
          <a:xfrm>
            <a:off x="379476" y="703386"/>
            <a:ext cx="11433048" cy="2582426"/>
          </a:xfrm>
          <a:ln>
            <a:solidFill>
              <a:schemeClr val="bg1"/>
            </a:solidFill>
          </a:ln>
        </p:spPr>
        <p:txBody>
          <a:bodyPr>
            <a:normAutofit lnSpcReduction="10000"/>
          </a:bodyPr>
          <a:lstStyle/>
          <a:p>
            <a:pPr>
              <a:buFont typeface="Wingdings" panose="05000000000000000000" pitchFamily="2" charset="2"/>
              <a:buChar char="§"/>
            </a:pPr>
            <a:r>
              <a:rPr lang="en-IN" sz="1600" dirty="0"/>
              <a:t>Gupta S, Kumar P, Tekchandani RK (2023) Facial emotion recognition based real-time learner engagement detection system in online learning context using deep learning models. Multimed Tools Appl 82:11365–11394. </a:t>
            </a:r>
            <a:r>
              <a:rPr lang="en-IN" sz="1600" dirty="0">
                <a:hlinkClick r:id="rId2"/>
              </a:rPr>
              <a:t>https://doi.org/10.1007/s11042-022-13558-9</a:t>
            </a:r>
            <a:endParaRPr lang="en-IN" sz="1600" dirty="0"/>
          </a:p>
          <a:p>
            <a:pPr>
              <a:buFont typeface="Wingdings" panose="05000000000000000000" pitchFamily="2" charset="2"/>
              <a:buChar char="§"/>
            </a:pPr>
            <a:r>
              <a:rPr lang="en-US" sz="1600" dirty="0"/>
              <a:t>Rawal N, Stock-Homburg RM (2022) Facial Emotion Expressions in Human-Robot Interaction: A Survey. Int J of Soc Robotics 14:1583–1604. </a:t>
            </a:r>
            <a:r>
              <a:rPr lang="en-US" sz="1600" dirty="0">
                <a:hlinkClick r:id="rId3"/>
              </a:rPr>
              <a:t>https://doi.org/10.1007/s12369-022-00867-0</a:t>
            </a:r>
            <a:endParaRPr lang="en-US" sz="1600" dirty="0"/>
          </a:p>
          <a:p>
            <a:pPr>
              <a:buFont typeface="Wingdings" panose="05000000000000000000" pitchFamily="2" charset="2"/>
              <a:buChar char="§"/>
            </a:pPr>
            <a:r>
              <a:rPr lang="en-US" sz="1600" dirty="0"/>
              <a:t>Debnath T, Reza MM, Rahman A et al. (2022) Four-layer ConvNet to facial emotion recognition with minimal epochs and the significance of data diversity. Scientific Reports 12:6991. </a:t>
            </a:r>
            <a:r>
              <a:rPr lang="en-US" sz="1600" dirty="0">
                <a:hlinkClick r:id="rId4"/>
              </a:rPr>
              <a:t>https://doi.org/10.1038/s41598-022-11173-0</a:t>
            </a:r>
            <a:endParaRPr lang="en-US" sz="1600" dirty="0"/>
          </a:p>
          <a:p>
            <a:pPr>
              <a:buFont typeface="Wingdings" panose="05000000000000000000" pitchFamily="2" charset="2"/>
              <a:buChar char="§"/>
            </a:pPr>
            <a:r>
              <a:rPr lang="en-US" sz="1600" dirty="0"/>
              <a:t>Huang ZY, Chiang CC, Chen JH et al. (2023) A study on computer vision for facial emotion recognition. Scientific Reports 13:8425. </a:t>
            </a:r>
            <a:r>
              <a:rPr lang="en-US" sz="1600" dirty="0">
                <a:hlinkClick r:id="rId5"/>
              </a:rPr>
              <a:t>https://doi.org/10.1038/s41598-023-35446-4</a:t>
            </a:r>
            <a:endParaRPr lang="en-US" sz="1600" dirty="0"/>
          </a:p>
          <a:p>
            <a:pPr>
              <a:buFont typeface="Wingdings" panose="05000000000000000000" pitchFamily="2" charset="2"/>
              <a:buChar char="§"/>
            </a:pPr>
            <a:r>
              <a:rPr lang="en-US" sz="1600" dirty="0"/>
              <a:t>Białek C, Matiolański A, Grega M (2023) An efficient approach to face emotion recognition with convolutional neural networks. Electronics 12(12):2707. </a:t>
            </a:r>
            <a:r>
              <a:rPr lang="en-US" sz="1600" dirty="0">
                <a:hlinkClick r:id="rId6"/>
              </a:rPr>
              <a:t>https://doi.org/10.3390/electronics12122707</a:t>
            </a:r>
            <a:endParaRPr lang="en-US" sz="1600" dirty="0"/>
          </a:p>
          <a:p>
            <a:pPr marL="0" indent="0">
              <a:buNone/>
            </a:pPr>
            <a:endParaRPr lang="en-IN" sz="1600" dirty="0"/>
          </a:p>
        </p:txBody>
      </p:sp>
      <p:sp>
        <p:nvSpPr>
          <p:cNvPr id="4" name="TextBox 3">
            <a:extLst>
              <a:ext uri="{FF2B5EF4-FFF2-40B4-BE49-F238E27FC236}">
                <a16:creationId xmlns:a16="http://schemas.microsoft.com/office/drawing/2014/main" id="{12339F4F-9C31-F4BA-3B83-BC650E59434F}"/>
              </a:ext>
            </a:extLst>
          </p:cNvPr>
          <p:cNvSpPr txBox="1"/>
          <p:nvPr/>
        </p:nvSpPr>
        <p:spPr>
          <a:xfrm>
            <a:off x="353568" y="3285812"/>
            <a:ext cx="5742432" cy="646331"/>
          </a:xfrm>
          <a:prstGeom prst="rect">
            <a:avLst/>
          </a:prstGeom>
          <a:noFill/>
        </p:spPr>
        <p:txBody>
          <a:bodyPr wrap="square" rtlCol="0">
            <a:spAutoFit/>
          </a:bodyPr>
          <a:lstStyle/>
          <a:p>
            <a:r>
              <a:rPr lang="en-IN" sz="3600" dirty="0">
                <a:latin typeface="Arial" panose="020B0604020202020204" pitchFamily="34" charset="0"/>
                <a:cs typeface="Arial" panose="020B0604020202020204" pitchFamily="34" charset="0"/>
              </a:rPr>
              <a:t>😊ACKNOWLDGEMENT</a:t>
            </a:r>
          </a:p>
        </p:txBody>
      </p:sp>
      <p:sp>
        <p:nvSpPr>
          <p:cNvPr id="5" name="Rectangle 4">
            <a:extLst>
              <a:ext uri="{FF2B5EF4-FFF2-40B4-BE49-F238E27FC236}">
                <a16:creationId xmlns:a16="http://schemas.microsoft.com/office/drawing/2014/main" id="{64A42636-08C4-7B54-D6A4-2E46173F2CBA}"/>
              </a:ext>
            </a:extLst>
          </p:cNvPr>
          <p:cNvSpPr/>
          <p:nvPr/>
        </p:nvSpPr>
        <p:spPr>
          <a:xfrm>
            <a:off x="405384" y="3932143"/>
            <a:ext cx="11351086" cy="2845470"/>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v"/>
            </a:pPr>
            <a:r>
              <a:rPr lang="en-US" sz="2000" dirty="0"/>
              <a:t>We would like to express our sincere gratitude to our project guide,</a:t>
            </a:r>
            <a:r>
              <a:rPr lang="en-US" sz="2000" b="1" dirty="0">
                <a:solidFill>
                  <a:srgbClr val="002060"/>
                </a:solidFill>
                <a:latin typeface="Arial"/>
                <a:cs typeface="Times New Roman"/>
              </a:rPr>
              <a:t> </a:t>
            </a:r>
            <a:r>
              <a:rPr lang="en-US" sz="2000" b="1" dirty="0">
                <a:solidFill>
                  <a:srgbClr val="0070C0"/>
                </a:solidFill>
                <a:latin typeface="Arial"/>
                <a:cs typeface="Times New Roman"/>
              </a:rPr>
              <a:t>Dr. BIDYUT SAHA </a:t>
            </a:r>
            <a:r>
              <a:rPr lang="en-US" sz="2000" dirty="0"/>
              <a:t>for his continuous support, valuable guidance, and encouragement throughout the development of this project. His insights and suggestions greatly contributed to the successful completion of our work.</a:t>
            </a:r>
          </a:p>
          <a:p>
            <a:pPr marL="342900" indent="-342900" algn="just">
              <a:buFont typeface="Wingdings" panose="05000000000000000000" pitchFamily="2" charset="2"/>
              <a:buChar char="v"/>
            </a:pPr>
            <a:r>
              <a:rPr lang="en-US" sz="2000" dirty="0"/>
              <a:t>We also thank the Department of </a:t>
            </a:r>
            <a:r>
              <a:rPr lang="en-US" b="1" dirty="0">
                <a:solidFill>
                  <a:srgbClr val="0070C0"/>
                </a:solidFill>
                <a:latin typeface="Arial"/>
                <a:cs typeface="Times New Roman"/>
              </a:rPr>
              <a:t>Computer Science and Engineering</a:t>
            </a:r>
            <a:r>
              <a:rPr lang="en-US" dirty="0"/>
              <a:t> </a:t>
            </a:r>
            <a:r>
              <a:rPr lang="en-US" sz="2000" dirty="0"/>
              <a:t>for providing the necessary resources and a supportive environment.</a:t>
            </a:r>
          </a:p>
          <a:p>
            <a:pPr marL="342900" indent="-342900" algn="just">
              <a:buFont typeface="Wingdings" panose="05000000000000000000" pitchFamily="2" charset="2"/>
              <a:buChar char="v"/>
            </a:pPr>
            <a:r>
              <a:rPr lang="en-US" sz="2000" dirty="0"/>
              <a:t>We are grateful to </a:t>
            </a:r>
            <a:r>
              <a:rPr lang="en-US" sz="2000"/>
              <a:t>our parents, </a:t>
            </a:r>
            <a:r>
              <a:rPr lang="en-US" sz="2000" dirty="0"/>
              <a:t>peers and classmates for their cooperation, feedback, and support during various stages of the project.</a:t>
            </a:r>
          </a:p>
          <a:p>
            <a:pPr marL="342900" indent="-342900" algn="just">
              <a:buFont typeface="Wingdings" panose="05000000000000000000" pitchFamily="2" charset="2"/>
              <a:buChar char="v"/>
            </a:pPr>
            <a:r>
              <a:rPr lang="en-US" sz="2000" dirty="0"/>
              <a:t>Lastly, we acknowledge the use of tools and technologies such as Python, TensorFlow, Keras, Google Colab and OpenCV, which played a crucial role in the implementation of this project.</a:t>
            </a:r>
          </a:p>
        </p:txBody>
      </p:sp>
      <p:pic>
        <p:nvPicPr>
          <p:cNvPr id="6" name="Picture 2" descr="Sister Nivedita University | Best Private College in India ...">
            <a:extLst>
              <a:ext uri="{FF2B5EF4-FFF2-40B4-BE49-F238E27FC236}">
                <a16:creationId xmlns:a16="http://schemas.microsoft.com/office/drawing/2014/main" id="{8F815EAC-24AC-4893-53FA-6FDBC83060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10031" y="144614"/>
            <a:ext cx="1970090" cy="552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8770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6858000"/>
          </a:xfrm>
          <a:solidFill>
            <a:schemeClr val="bg1">
              <a:lumMod val="95000"/>
            </a:schemeClr>
          </a:solidFill>
          <a:ln>
            <a:solidFill>
              <a:schemeClr val="tx1"/>
            </a:solid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a:lstStyle/>
          <a:p>
            <a:pPr algn="ctr">
              <a:lnSpc>
                <a:spcPct val="150000"/>
              </a:lnSpc>
            </a:pPr>
            <a:r>
              <a:rPr lang="en-IN" b="1"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1234</TotalTime>
  <Words>2382</Words>
  <Application>Microsoft Office PowerPoint</Application>
  <PresentationFormat>Widescreen</PresentationFormat>
  <Paragraphs>210</Paragraphs>
  <Slides>15</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Arial</vt:lpstr>
      <vt:lpstr>Calibri</vt:lpstr>
      <vt:lpstr>Calibri Light</vt:lpstr>
      <vt:lpstr>Courier New</vt:lpstr>
      <vt:lpstr>Times New Roman</vt:lpstr>
      <vt:lpstr>ui-sans-serif</vt:lpstr>
      <vt:lpstr>Wingdings</vt:lpstr>
      <vt:lpstr>Office Theme</vt:lpstr>
      <vt:lpstr>Real-Time Facial Emotion Recognition System Using Machine Learning</vt:lpstr>
      <vt:lpstr>INTRODUCTION</vt:lpstr>
      <vt:lpstr>PROBLEM  IDENTIFICATION </vt:lpstr>
      <vt:lpstr>OBJECTIVES</vt:lpstr>
      <vt:lpstr>LITERATURE REVIEW / EXISTING SYSTEM</vt:lpstr>
      <vt:lpstr>PROPOSED METHODOLOGY</vt:lpstr>
      <vt:lpstr>📌 STEP 2 : Data Preprocessing and Augmentation </vt:lpstr>
      <vt:lpstr>📌Techniques/Technologies Used</vt:lpstr>
      <vt:lpstr>IMPLEMENTATION </vt:lpstr>
      <vt:lpstr>OUTCOME </vt:lpstr>
      <vt:lpstr>Real-Time Emotion Detection: Live Webcam Output </vt:lpstr>
      <vt:lpstr>CONCLUSION</vt:lpstr>
      <vt:lpstr>🔒LIMITATIONS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Riddhi</dc:creator>
  <cp:lastModifiedBy>ranik sarkhel</cp:lastModifiedBy>
  <cp:revision>3</cp:revision>
  <cp:lastPrinted>2026-04-28T04:42:25Z</cp:lastPrinted>
  <dcterms:modified xsi:type="dcterms:W3CDTF">2026-05-04T05:14:57Z</dcterms:modified>
</cp:coreProperties>
</file>